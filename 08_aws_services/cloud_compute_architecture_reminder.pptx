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4610100" cy="34607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6EB637-90EB-443B-8CB6-4AB51BC1B3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9E4726-D58B-4E8B-8430-D9CBD6E597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7907A3-A375-4F0C-BFDB-C7C3FC4D61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44D2F3-6DB3-49FD-AADA-B6E7C4869F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B0A498-8EA8-4CCC-A954-451CFE36A1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319F1A-F286-4D4F-9F06-B4B16707B3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E85947-96C8-4771-AEBF-0781A7891C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A84D08-CA96-45AC-9474-D1A955E9AC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B3A322-C76E-46FE-AD31-D9C55B54F3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5F2B13-6473-4A5A-B67D-2498C23A69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07118F-5D39-4EB3-9D79-7E7D6A9B7D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C4D905-9872-400C-9445-1955279BC6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3B617C-FCA1-4EAC-BB46-0160771024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882C74-8FE5-48B4-B838-9DBB877DD8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79855A-B8FA-4F9F-AE12-0C0B13F3D6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E7C594-B594-4858-B71D-E266ACECB2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EDE610E-3F37-4E96-8E9F-50B42A2834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089509-8007-4ECB-A785-5CC6B15CDB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3096B9-9E52-4AE7-B8F9-34D131E978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6ACC96-514E-4310-A038-24127F6CB0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844D80-4D11-456D-BCFE-B461B2039D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415B78-2032-4DB5-AD63-F2E01A9FBD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CFA129-254C-4FF2-B919-CEC90C34DB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89DF7B-E928-44E7-8F11-8860001096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D4E28C2-C366-4DBC-9143-B22C079063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B6F73EC-5A40-4377-8B41-84C56AD40A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2F91D2-001B-4CDC-9137-B74553F501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60E5E6-FEFA-4FB6-9A8E-D783DD5325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8957A9-F87D-4ED7-BD1A-2527E46CE1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2FCE16-A15F-4E94-99C6-92749C90D6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9C6DED-56B8-4930-9BAA-B81A259F53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227A54-29A2-496E-818F-2F07D9D943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DD8B7D1-E711-4BCF-8E30-F7F95E8D3C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AED334-42BB-446D-AF33-FB7FE1D73E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D87E3DB-0BB3-49BB-8386-7D10F8BBB3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5BC5BD-8146-4D7E-A20A-6EA1CFF813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BDF1CC6-AABD-456D-BCD4-DF970A38E7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2925C69-D1B7-472E-9A63-8B5E8A3001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1C960D4-6B28-423A-81BE-83A9C6FF72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EF44014-5FC7-4FBA-B28E-EB26573733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8639D4-813D-4F97-8BBF-122F08DCA0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230400" y="137880"/>
            <a:ext cx="4148640" cy="267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344414-3AF2-4DC0-9295-F6AFAE32DE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D89E866-BE82-4E15-9817-E04A238BD2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FEB3B7F-F9C0-4CCE-B1C6-12FF12B851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3A042F5-C32F-45E9-AD6E-A64FEE0816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230400" y="1857960"/>
            <a:ext cx="414864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9C34A9-B5F7-44B9-859C-6446031F70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2356200" y="80964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2304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2356200" y="1857960"/>
            <a:ext cx="202428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6972D7-B626-4663-9BCB-40D99CFFF8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30400" y="114120"/>
            <a:ext cx="4148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23040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163332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3035880" y="80964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23040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163332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3035880" y="1857960"/>
            <a:ext cx="1335600" cy="95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7E1CBC8-35BF-42CE-9439-F8CBF2F6CA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2300400" cy="10404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1567440" y="3218400"/>
            <a:ext cx="1471320" cy="16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3319200" y="3218400"/>
            <a:ext cx="1056240" cy="16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88BEF8-88B6-42F9-A9D0-62372B59577E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230400" y="3218400"/>
            <a:ext cx="1056240" cy="16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1"/>
          <p:cNvSpPr>
            <a:spLocks noGrp="1"/>
          </p:cNvSpPr>
          <p:nvPr>
            <p:ph type="ftr" idx="4"/>
          </p:nvPr>
        </p:nvSpPr>
        <p:spPr>
          <a:xfrm>
            <a:off x="1567440" y="3218400"/>
            <a:ext cx="147384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5"/>
          </p:nvPr>
        </p:nvSpPr>
        <p:spPr>
          <a:xfrm>
            <a:off x="33192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1269E2-E068-4666-8584-CACF06120C75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6"/>
          </p:nvPr>
        </p:nvSpPr>
        <p:spPr>
          <a:xfrm>
            <a:off x="2304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g object 16"/>
          <p:cNvSpPr/>
          <p:nvPr/>
        </p:nvSpPr>
        <p:spPr>
          <a:xfrm>
            <a:off x="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PlaceHolder 1"/>
          <p:cNvSpPr>
            <a:spLocks noGrp="1"/>
          </p:cNvSpPr>
          <p:nvPr>
            <p:ph type="ftr" idx="7"/>
          </p:nvPr>
        </p:nvSpPr>
        <p:spPr>
          <a:xfrm>
            <a:off x="1567440" y="3218400"/>
            <a:ext cx="147384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8"/>
          </p:nvPr>
        </p:nvSpPr>
        <p:spPr>
          <a:xfrm>
            <a:off x="33192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265EB1-18FB-4A3D-B27C-9944708DF491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9"/>
          </p:nvPr>
        </p:nvSpPr>
        <p:spPr>
          <a:xfrm>
            <a:off x="2304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g object 16"/>
          <p:cNvSpPr/>
          <p:nvPr/>
        </p:nvSpPr>
        <p:spPr>
          <a:xfrm>
            <a:off x="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1"/>
          <p:cNvSpPr>
            <a:spLocks noGrp="1"/>
          </p:cNvSpPr>
          <p:nvPr>
            <p:ph type="ftr" idx="10"/>
          </p:nvPr>
        </p:nvSpPr>
        <p:spPr>
          <a:xfrm>
            <a:off x="1567440" y="3218400"/>
            <a:ext cx="147384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11"/>
          </p:nvPr>
        </p:nvSpPr>
        <p:spPr>
          <a:xfrm>
            <a:off x="33192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BE289-9152-43E8-830A-FE60A773ACD5}" type="slidenum">
              <a:rPr b="0" lang="en-US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2"/>
          </p:nvPr>
        </p:nvSpPr>
        <p:spPr>
          <a:xfrm>
            <a:off x="230400" y="3218400"/>
            <a:ext cx="1058760" cy="1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object 2"/>
          <p:cNvSpPr/>
          <p:nvPr/>
        </p:nvSpPr>
        <p:spPr>
          <a:xfrm>
            <a:off x="1412280" y="626760"/>
            <a:ext cx="17798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algn="ctr">
              <a:lnSpc>
                <a:spcPct val="100000"/>
              </a:lnSpc>
              <a:spcBef>
                <a:spcPts val="1111"/>
              </a:spcBef>
              <a:buNone/>
            </a:pPr>
            <a:r>
              <a:rPr b="1" lang="en-US" sz="1400" spc="-1" strike="noStrike">
                <a:solidFill>
                  <a:srgbClr val="3333b2"/>
                </a:solidFill>
                <a:latin typeface="Arial"/>
                <a:ea typeface="DejaVu Sans"/>
              </a:rPr>
              <a:t>Distributed</a:t>
            </a:r>
            <a:r>
              <a:rPr b="1" lang="en-US" sz="1400" spc="89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1" lang="en-US" sz="1400" spc="-12" strike="noStrike">
                <a:solidFill>
                  <a:srgbClr val="3333b2"/>
                </a:solidFill>
                <a:latin typeface="Arial"/>
                <a:ea typeface="DejaVu Sans"/>
              </a:rPr>
              <a:t>Systems</a:t>
            </a:r>
            <a:endParaRPr b="0" lang="en-US" sz="1400" spc="-1" strike="noStrike">
              <a:latin typeface="Arial"/>
            </a:endParaRPr>
          </a:p>
          <a:p>
            <a:pPr marL="3960" algn="ctr">
              <a:lnSpc>
                <a:spcPct val="100000"/>
              </a:lnSpc>
              <a:spcBef>
                <a:spcPts val="609"/>
              </a:spcBef>
              <a:buNone/>
            </a:pP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(4th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edition,</a:t>
            </a:r>
            <a:r>
              <a:rPr b="0" lang="en-US" sz="900" spc="-41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1" strike="noStrike">
                <a:solidFill>
                  <a:srgbClr val="3333b2"/>
                </a:solidFill>
                <a:latin typeface="Arial"/>
                <a:ea typeface="DejaVu Sans"/>
              </a:rPr>
              <a:t>version</a:t>
            </a:r>
            <a:r>
              <a:rPr b="0" lang="en-US" sz="900" spc="-35" strike="noStrike">
                <a:solidFill>
                  <a:srgbClr val="3333b2"/>
                </a:solidFill>
                <a:latin typeface="Arial"/>
                <a:ea typeface="DejaVu Sans"/>
              </a:rPr>
              <a:t> </a:t>
            </a:r>
            <a:r>
              <a:rPr b="0" lang="en-US" sz="900" spc="-26" strike="noStrike">
                <a:solidFill>
                  <a:srgbClr val="3333b2"/>
                </a:solidFill>
                <a:latin typeface="Arial"/>
                <a:ea typeface="DejaVu Sans"/>
              </a:rPr>
              <a:t>01)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9" name="object 3"/>
          <p:cNvSpPr/>
          <p:nvPr/>
        </p:nvSpPr>
        <p:spPr>
          <a:xfrm>
            <a:off x="1307880" y="2409480"/>
            <a:ext cx="198864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Chapter</a:t>
            </a:r>
            <a:r>
              <a:rPr b="0" lang="en-US" sz="1400" spc="3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02:</a:t>
            </a:r>
            <a:r>
              <a:rPr b="0" lang="en-US" sz="1400" spc="145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400" spc="-12" strike="noStrike">
                <a:solidFill>
                  <a:srgbClr val="000000"/>
                </a:solidFill>
                <a:latin typeface="Arial"/>
                <a:ea typeface="DejaVu Sans"/>
              </a:rPr>
              <a:t>Architecture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222920" y="1287720"/>
            <a:ext cx="234540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https://www.distributed-systems.net/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686600" y="2926800"/>
            <a:ext cx="1244160" cy="24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2" strike="noStrike">
                <a:solidFill>
                  <a:srgbClr val="000000"/>
                </a:solidFill>
                <a:latin typeface="Arial"/>
                <a:ea typeface="DejaVu Sans"/>
              </a:rPr>
              <a:t>October 28, 2026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object 84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3" name="object 85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object 86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75" name="object 87"/>
          <p:cNvSpPr/>
          <p:nvPr/>
        </p:nvSpPr>
        <p:spPr>
          <a:xfrm>
            <a:off x="95400" y="197640"/>
            <a:ext cx="4019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Quick Reminder of Cloud</a:t>
            </a:r>
            <a:r>
              <a:rPr b="0" lang="en-US" sz="1200" spc="-41" strike="noStrike">
                <a:solidFill>
                  <a:srgbClr val="3333b2"/>
                </a:solidFill>
                <a:latin typeface="Arial"/>
                <a:ea typeface="DejaVu Sans"/>
              </a:rPr>
              <a:t> C</a:t>
            </a:r>
            <a:r>
              <a:rPr b="0" lang="en-US" sz="1200" spc="-12" strike="noStrike">
                <a:solidFill>
                  <a:srgbClr val="3333b2"/>
                </a:solidFill>
                <a:latin typeface="Arial"/>
                <a:ea typeface="DejaVu Sans"/>
              </a:rPr>
              <a:t>omputing Stack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76" name="object 88" descr=""/>
          <p:cNvPicPr/>
          <p:nvPr/>
        </p:nvPicPr>
        <p:blipFill>
          <a:blip r:embed="rId1"/>
          <a:stretch/>
        </p:blipFill>
        <p:spPr>
          <a:xfrm>
            <a:off x="510480" y="1026000"/>
            <a:ext cx="3583440" cy="1561320"/>
          </a:xfrm>
          <a:prstGeom prst="rect">
            <a:avLst/>
          </a:prstGeom>
          <a:ln w="0">
            <a:noFill/>
          </a:ln>
        </p:spPr>
      </p:pic>
      <p:grpSp>
        <p:nvGrpSpPr>
          <p:cNvPr id="177" name="object 89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178" name="object 90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object 91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0" name="object 92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object 9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82" name="object 10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object 11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84" name="object 12"/>
          <p:cNvSpPr/>
          <p:nvPr/>
        </p:nvSpPr>
        <p:spPr>
          <a:xfrm>
            <a:off x="95400" y="1421640"/>
            <a:ext cx="33332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 u="sng">
                <a:solidFill>
                  <a:srgbClr val="3333b2"/>
                </a:solidFill>
                <a:uFillTx/>
                <a:latin typeface="Arial"/>
                <a:ea typeface="DejaVu Sans"/>
              </a:rPr>
              <a:t>A bit about Amazon EC2 and S3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85" name="object 13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186" name="object 14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object 15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88" name="object 16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object 48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0" name="object 49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object 50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2" name="object 51"/>
          <p:cNvSpPr/>
          <p:nvPr/>
        </p:nvSpPr>
        <p:spPr>
          <a:xfrm>
            <a:off x="95400" y="197640"/>
            <a:ext cx="173268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EC2 (Compute)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193" name="object 52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194" name="object 53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object 54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6" name="object 55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3280" y="719280"/>
            <a:ext cx="449172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Secure and resizable compute capacity for virtually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any workload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object 24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199" name="object 25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object 26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1" name="object 27"/>
          <p:cNvSpPr/>
          <p:nvPr/>
        </p:nvSpPr>
        <p:spPr>
          <a:xfrm>
            <a:off x="95400" y="197640"/>
            <a:ext cx="2876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EC2 (Compute) - Pricing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02" name="object 28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03" name="object 29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object 30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5" name="object 31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113040" y="644400"/>
            <a:ext cx="4230000" cy="17132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object 56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08" name="object 57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object 58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0" name="object 59"/>
          <p:cNvSpPr/>
          <p:nvPr/>
        </p:nvSpPr>
        <p:spPr>
          <a:xfrm>
            <a:off x="95400" y="197640"/>
            <a:ext cx="2876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EC2 (Compute) - Pricing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11" name="object 60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12" name="object 61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object 62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4" name="object 63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15" name="" descr=""/>
          <p:cNvPicPr/>
          <p:nvPr/>
        </p:nvPicPr>
        <p:blipFill>
          <a:blip r:embed="rId1"/>
          <a:stretch/>
        </p:blipFill>
        <p:spPr>
          <a:xfrm>
            <a:off x="113040" y="644400"/>
            <a:ext cx="4230000" cy="1713240"/>
          </a:xfrm>
          <a:prstGeom prst="rect">
            <a:avLst/>
          </a:prstGeom>
          <a:ln w="0">
            <a:noFill/>
          </a:ln>
        </p:spPr>
      </p:pic>
      <p:sp>
        <p:nvSpPr>
          <p:cNvPr id="216" name=""/>
          <p:cNvSpPr txBox="1"/>
          <p:nvPr/>
        </p:nvSpPr>
        <p:spPr>
          <a:xfrm>
            <a:off x="471960" y="2536560"/>
            <a:ext cx="3871440" cy="7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 u="sng">
                <a:uFillTx/>
                <a:latin typeface="Arial"/>
              </a:rPr>
              <a:t>On-Demand vs Spot:</a:t>
            </a:r>
            <a:endParaRPr b="0" lang="en-US" sz="12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&gt; On-Demand is more expensive but dependable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&gt; Spot: huge discount, but AWS can take machine away</a:t>
            </a:r>
            <a:endParaRPr b="0" lang="en-US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object 8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18" name="object 17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object 18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0" name="object 19"/>
          <p:cNvSpPr/>
          <p:nvPr/>
        </p:nvSpPr>
        <p:spPr>
          <a:xfrm>
            <a:off x="95400" y="197640"/>
            <a:ext cx="173268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21" name="object 20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22" name="object 21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object 22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4" name="object 23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5280" y="899280"/>
            <a:ext cx="43077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&gt; Object storage built to store and retrieve virtually any </a:t>
            </a:r>
            <a:br>
              <a:rPr sz="1200"/>
            </a:br>
            <a:r>
              <a:rPr b="0" lang="en-US" sz="1200" spc="-1" strike="noStrike">
                <a:latin typeface="Arial"/>
              </a:rPr>
              <a:t>   amount of data from anywhere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&gt; Object storage is not a filesystem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&gt; Data is stored as objects inside buckets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&gt; Each object consists of data + metadata + a unique key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&gt; Objects are immutable, accessed through API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3886200" y="211680"/>
            <a:ext cx="565200" cy="60768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object 40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28" name="object 41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object 42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0" name="object 43"/>
          <p:cNvSpPr/>
          <p:nvPr/>
        </p:nvSpPr>
        <p:spPr>
          <a:xfrm>
            <a:off x="95400" y="197640"/>
            <a:ext cx="1732680" cy="1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31" name="object 44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32" name="object 45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object 46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4" name="object 47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35280" y="899280"/>
            <a:ext cx="430776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Object storage built to store and retrieve any amount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of data from anywhere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120240" y="1608840"/>
            <a:ext cx="4222800" cy="132372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object 32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38" name="object 33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object 34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0" name="object 35"/>
          <p:cNvSpPr/>
          <p:nvPr/>
        </p:nvSpPr>
        <p:spPr>
          <a:xfrm>
            <a:off x="95400" y="197640"/>
            <a:ext cx="287604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- Pricing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41" name="object 36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42" name="object 37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object 38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4" name="object 39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46800" y="745200"/>
            <a:ext cx="4296240" cy="1710720"/>
          </a:xfrm>
          <a:prstGeom prst="rect">
            <a:avLst/>
          </a:prstGeom>
          <a:ln w="0">
            <a:noFill/>
          </a:ln>
        </p:spPr>
      </p:pic>
      <p:sp>
        <p:nvSpPr>
          <p:cNvPr id="246" name=""/>
          <p:cNvSpPr/>
          <p:nvPr/>
        </p:nvSpPr>
        <p:spPr>
          <a:xfrm>
            <a:off x="65880" y="2991240"/>
            <a:ext cx="3746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latin typeface="Arial"/>
              </a:rPr>
              <a:t>https://aws.amazon.com/s3/pricing/</a:t>
            </a:r>
            <a:endParaRPr b="0" lang="en-US" sz="100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bject 72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48" name="object 73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object 74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0" name="object 75"/>
          <p:cNvSpPr/>
          <p:nvPr/>
        </p:nvSpPr>
        <p:spPr>
          <a:xfrm>
            <a:off x="95400" y="197640"/>
            <a:ext cx="4248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– Intelligent Tiering Example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51" name="object 76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52" name="object 77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object 78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4" name="object 79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48600" y="581400"/>
            <a:ext cx="4025880" cy="164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latin typeface="Arial"/>
              </a:rPr>
              <a:t>Suppose you have 1 PB of data: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- 100 TB is accessed frequently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- 300 TB is accessed occasionally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- 600 TB hasn't been touched in years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Amazon S3 offers different tiers with different costs and retrieval times.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How should we save this data?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object 64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7" name="object 65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object 66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59" name="object 67"/>
          <p:cNvSpPr/>
          <p:nvPr/>
        </p:nvSpPr>
        <p:spPr>
          <a:xfrm>
            <a:off x="95400" y="197640"/>
            <a:ext cx="40194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– Intelligent Tiering Options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60" name="object 68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61" name="object 69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object 70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3" name="object 71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4200" y="618120"/>
            <a:ext cx="4476960" cy="52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latin typeface="Arial"/>
              </a:rPr>
              <a:t>&gt; S3 monitors data access patterns</a:t>
            </a:r>
            <a:br>
              <a:rPr sz="1000"/>
            </a:br>
            <a:r>
              <a:rPr b="0" lang="en-US" sz="1000" spc="-1" strike="noStrike">
                <a:latin typeface="Arial"/>
              </a:rPr>
              <a:t>&gt; Automatically moves objects into cheaper tiers as they become colder.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255600" y="1222200"/>
            <a:ext cx="4111200" cy="148572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object 80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7" name="object 81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object 82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69" name="object 83"/>
          <p:cNvSpPr/>
          <p:nvPr/>
        </p:nvSpPr>
        <p:spPr>
          <a:xfrm>
            <a:off x="95400" y="197640"/>
            <a:ext cx="4248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– Intelligent Tiering Options,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70" name="object 93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71" name="object 94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object 95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3" name="object 96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1"/>
          <a:stretch/>
        </p:blipFill>
        <p:spPr>
          <a:xfrm>
            <a:off x="352800" y="1600200"/>
            <a:ext cx="3762000" cy="1359720"/>
          </a:xfrm>
          <a:prstGeom prst="rect">
            <a:avLst/>
          </a:prstGeom>
          <a:ln w="0">
            <a:noFill/>
          </a:ln>
        </p:spPr>
      </p:pic>
      <p:sp>
        <p:nvSpPr>
          <p:cNvPr id="275" name=""/>
          <p:cNvSpPr txBox="1"/>
          <p:nvPr/>
        </p:nvSpPr>
        <p:spPr>
          <a:xfrm>
            <a:off x="72000" y="613800"/>
            <a:ext cx="2544480" cy="86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latin typeface="Arial"/>
              </a:rPr>
              <a:t>Suppose you have 1 PB of data: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- 100 TB is accessed frequently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- 300 TB is accessed occasionally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- 600 TB hasn't been touched in years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object 97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7" name="object 98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object 99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79" name="object 100"/>
          <p:cNvSpPr/>
          <p:nvPr/>
        </p:nvSpPr>
        <p:spPr>
          <a:xfrm>
            <a:off x="95400" y="197640"/>
            <a:ext cx="4248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– Intelligent Tiering Economics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80" name="object 101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81" name="object 102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object 103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3" name="object 104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2000" y="505800"/>
            <a:ext cx="4271400" cy="86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latin typeface="Arial"/>
              </a:rPr>
              <a:t>How is AWS able to offer discounts for colder storage?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2600" y="905400"/>
            <a:ext cx="4469400" cy="197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50" spc="-1" strike="noStrike">
                <a:latin typeface="Arial"/>
              </a:rPr>
              <a:t>AWS operates enormous amounts of storage infrastructure. </a:t>
            </a:r>
            <a:endParaRPr b="0" lang="en-US" sz="1050" spc="-1" strike="noStrike">
              <a:latin typeface="Arial"/>
            </a:endParaRPr>
          </a:p>
          <a:p>
            <a:endParaRPr b="0" lang="en-US" sz="105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For data that is rarely accessed, it can use storage architectures optimized for capacity rather than immediate/high-frequency access.</a:t>
            </a:r>
            <a:endParaRPr b="0" lang="en-US" sz="105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Archival storage can:</a:t>
            </a:r>
            <a:br>
              <a:rPr sz="1050"/>
            </a:br>
            <a:endParaRPr b="0" lang="en-US" sz="105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- Pack data much more efficiently</a:t>
            </a:r>
            <a:endParaRPr b="0" lang="en-US" sz="105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- Use cheaper underlying storage</a:t>
            </a:r>
            <a:endParaRPr b="0" lang="en-US" sz="105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- Reduce amount of expensive infrastructure dedicated to rapid access</a:t>
            </a:r>
            <a:endParaRPr b="0" lang="en-US" sz="1050" spc="-1" strike="noStrike">
              <a:latin typeface="Arial"/>
            </a:endParaRPr>
          </a:p>
          <a:p>
            <a:r>
              <a:rPr b="0" lang="en-US" sz="1050" spc="-1" strike="noStrike">
                <a:latin typeface="Arial"/>
              </a:rPr>
              <a:t>- Accept longer retrieval times for the deepest archive tiers</a:t>
            </a:r>
            <a:endParaRPr b="0" lang="en-US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object 105"/>
          <p:cNvSpPr/>
          <p:nvPr/>
        </p:nvSpPr>
        <p:spPr>
          <a:xfrm>
            <a:off x="53640" y="-1440"/>
            <a:ext cx="3934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7" name="object 106"/>
          <p:cNvSpPr/>
          <p:nvPr/>
        </p:nvSpPr>
        <p:spPr>
          <a:xfrm>
            <a:off x="2304000" y="0"/>
            <a:ext cx="2302920" cy="106560"/>
          </a:xfrm>
          <a:custGeom>
            <a:avLst/>
            <a:gdLst/>
            <a:ah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object 107"/>
          <p:cNvSpPr/>
          <p:nvPr/>
        </p:nvSpPr>
        <p:spPr>
          <a:xfrm>
            <a:off x="3747960" y="-1440"/>
            <a:ext cx="80568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Hybrid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system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architectures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89" name="object 108"/>
          <p:cNvSpPr/>
          <p:nvPr/>
        </p:nvSpPr>
        <p:spPr>
          <a:xfrm>
            <a:off x="95400" y="197640"/>
            <a:ext cx="4248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1200" spc="-1" strike="noStrike">
                <a:solidFill>
                  <a:srgbClr val="3333b2"/>
                </a:solidFill>
                <a:latin typeface="Arial"/>
                <a:ea typeface="DejaVu Sans"/>
              </a:rPr>
              <a:t>Amazon S3 (Storage) – Intelligent Tiering Economics, contd.</a:t>
            </a:r>
            <a:endParaRPr b="0" lang="en-US" sz="1200" spc="-1" strike="noStrike">
              <a:latin typeface="Arial"/>
            </a:endParaRPr>
          </a:p>
        </p:txBody>
      </p:sp>
      <p:grpSp>
        <p:nvGrpSpPr>
          <p:cNvPr id="290" name="object 109"/>
          <p:cNvGrpSpPr/>
          <p:nvPr/>
        </p:nvGrpSpPr>
        <p:grpSpPr>
          <a:xfrm>
            <a:off x="0" y="3348360"/>
            <a:ext cx="4606920" cy="106560"/>
            <a:chOff x="0" y="3348360"/>
            <a:chExt cx="4606920" cy="106560"/>
          </a:xfrm>
        </p:grpSpPr>
        <p:sp>
          <p:nvSpPr>
            <p:cNvPr id="291" name="object 110"/>
            <p:cNvSpPr/>
            <p:nvPr/>
          </p:nvSpPr>
          <p:spPr>
            <a:xfrm>
              <a:off x="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object 111"/>
            <p:cNvSpPr/>
            <p:nvPr/>
          </p:nvSpPr>
          <p:spPr>
            <a:xfrm>
              <a:off x="2304000" y="3348360"/>
              <a:ext cx="2302920" cy="106560"/>
            </a:xfrm>
            <a:custGeom>
              <a:avLst/>
              <a:gdLst/>
              <a:ah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3" name="object 112"/>
          <p:cNvSpPr/>
          <p:nvPr/>
        </p:nvSpPr>
        <p:spPr>
          <a:xfrm>
            <a:off x="53640" y="3349800"/>
            <a:ext cx="498960" cy="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360" bIns="0" anchor="t">
            <a:spAutoFit/>
          </a:bodyPr>
          <a:p>
            <a:pPr marL="12600">
              <a:lnSpc>
                <a:spcPct val="100000"/>
              </a:lnSpc>
              <a:spcBef>
                <a:spcPts val="74"/>
              </a:spcBef>
              <a:buNone/>
            </a:pPr>
            <a:r>
              <a:rPr b="0" lang="en-US" sz="500" spc="-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Cloud</a:t>
            </a:r>
            <a:r>
              <a:rPr b="0" lang="en-US" sz="500" spc="-21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 </a:t>
            </a:r>
            <a:r>
              <a:rPr b="0" lang="en-US" sz="500" spc="-12" strike="noStrike" u="sng">
                <a:solidFill>
                  <a:srgbClr val="0000ff"/>
                </a:solidFill>
                <a:uFillTx/>
                <a:latin typeface="Arial"/>
                <a:ea typeface="DejaVu Sans"/>
              </a:rPr>
              <a:t>computing</a:t>
            </a:r>
            <a:endParaRPr b="0" lang="en-US" sz="500" spc="-1" strike="noStrike"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2000" y="505800"/>
            <a:ext cx="427140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latin typeface="Arial"/>
                <a:ea typeface="Microsoft YaHei"/>
              </a:rPr>
              <a:t>How is AWS able to offer discounts for colder storage?</a:t>
            </a:r>
            <a:br>
              <a:rPr sz="1100"/>
            </a:br>
            <a:r>
              <a:rPr b="0" lang="en-US" sz="1050" spc="-1" strike="noStrike">
                <a:latin typeface="Arial"/>
              </a:rPr>
              <a:t>AWS storage details are proprietary, but we can look at some storage options: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295" name="" descr=""/>
          <p:cNvPicPr/>
          <p:nvPr/>
        </p:nvPicPr>
        <p:blipFill>
          <a:blip r:embed="rId1"/>
          <a:stretch/>
        </p:blipFill>
        <p:spPr>
          <a:xfrm>
            <a:off x="774720" y="1179000"/>
            <a:ext cx="3232080" cy="21546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</TotalTime>
  <Application>LibreOffice/7.3.4.2$Windows_X86_64 LibreOffice_project/728fec16bd5f605073805c3c9e7c4212a0120dc5</Application>
  <AppVersion>15.0000</AppVersion>
  <Words>5292</Words>
  <Paragraphs>819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2023-04-27T05:42:13Z</dcterms:created>
  <dc:creator/>
  <dc:description/>
  <dc:language>en-US</dc:language>
  <cp:lastModifiedBy/>
  <dcterms:modified xsi:type="dcterms:W3CDTF">2026-10-28T09:08:47Z</dcterms:modified>
  <cp:revision>80</cp:revision>
  <dc:subject/>
  <dc:title>Distributed Systems   (4th edition, version 01)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esentationFormat">
    <vt:lpwstr>Custom</vt:lpwstr>
  </property>
  <property fmtid="{D5CDD505-2E9C-101B-9397-08002B2CF9AE}" pid="7" name="Producer">
    <vt:lpwstr>pdfTeX-1.40.24</vt:lpwstr>
  </property>
  <property fmtid="{D5CDD505-2E9C-101B-9397-08002B2CF9AE}" pid="8" name="Slides">
    <vt:i4>87</vt:i4>
  </property>
</Properties>
</file>