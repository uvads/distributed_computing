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_rels/slideLayout3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0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7.xml" ContentType="application/vnd.openxmlformats-officedocument.presentationml.slide+xml"/>
  <Override PartName="/ppt/slides/slide24.xml" ContentType="application/vnd.openxmlformats-officedocument.presentationml.slide+xml"/>
  <Override PartName="/ppt/slides/slide8.xml" ContentType="application/vnd.openxmlformats-officedocument.presentationml.slide+xml"/>
  <Override PartName="/ppt/slides/slide25.xml" ContentType="application/vnd.openxmlformats-officedocument.presentationml.slide+xml"/>
  <Override PartName="/ppt/slides/slide9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_rels/slide35.xml.rels" ContentType="application/vnd.openxmlformats-package.relationships+xml"/>
  <Override PartName="/ppt/slides/_rels/slide1.xml.rels" ContentType="application/vnd.openxmlformats-package.relationships+xml"/>
  <Override PartName="/ppt/slides/_rels/slide22.xml.rels" ContentType="application/vnd.openxmlformats-package.relationships+xml"/>
  <Override PartName="/ppt/slides/_rels/slide36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37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25.xml.rels" ContentType="application/vnd.openxmlformats-package.relationships+xml"/>
  <Override PartName="/ppt/slides/_rels/slide8.xml.rels" ContentType="application/vnd.openxmlformats-package.relationships+xml"/>
  <Override PartName="/ppt/slides/_rels/slide26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slides/_rels/slide27.xml.rels" ContentType="application/vnd.openxmlformats-package.relationships+xml"/>
  <Override PartName="/ppt/slides/_rels/slide28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31.xml.rels" ContentType="application/vnd.openxmlformats-package.relationships+xml"/>
  <Override PartName="/ppt/slides/_rels/slide32.xml.rels" ContentType="application/vnd.openxmlformats-package.relationships+xml"/>
  <Override PartName="/ppt/slides/_rels/slide33.xml.rels" ContentType="application/vnd.openxmlformats-package.relationships+xml"/>
  <Override PartName="/ppt/slides/_rels/slide34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8.jpeg" ContentType="image/jpeg"/>
  <Override PartName="/ppt/media/image7.png" ContentType="image/png"/>
  <Override PartName="/ppt/media/image9.jpeg" ContentType="image/jpeg"/>
  <Override PartName="/ppt/media/image10.png" ContentType="image/png"/>
  <Override PartName="/ppt/media/image11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</p:sldIdLst>
  <p:sldSz cx="4610100" cy="346075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41EFFE9-DAC8-4FF5-8EC7-2CF75C8F8E6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230400" y="114120"/>
            <a:ext cx="4148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230400" y="809640"/>
            <a:ext cx="4148640" cy="200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A40A025-C47C-4756-9E9E-CA05AC1AFB9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230400" y="114120"/>
            <a:ext cx="4148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230400" y="809640"/>
            <a:ext cx="4148640" cy="200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BA72D8D-9CF6-4DAD-BBAB-9EC7AA07438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230400" y="114120"/>
            <a:ext cx="4148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230400" y="809640"/>
            <a:ext cx="2024280" cy="200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/>
          </p:nvPr>
        </p:nvSpPr>
        <p:spPr>
          <a:xfrm>
            <a:off x="2356200" y="809640"/>
            <a:ext cx="2024280" cy="200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5BE17F0-CB2D-4ADD-95BD-37B5BE95054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230400" y="114120"/>
            <a:ext cx="4148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A748E04-E066-40A3-A681-22610DB26DA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subTitle"/>
          </p:nvPr>
        </p:nvSpPr>
        <p:spPr>
          <a:xfrm>
            <a:off x="230400" y="137880"/>
            <a:ext cx="4148640" cy="267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B7BDE7B-C166-47E1-99EC-40C1F664394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230400" y="114120"/>
            <a:ext cx="4148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230400" y="809640"/>
            <a:ext cx="202428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2356200" y="809640"/>
            <a:ext cx="2024280" cy="200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230400" y="1857960"/>
            <a:ext cx="202428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1AEAEBA-1B3C-4AFD-8B84-95711FC674C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230400" y="114120"/>
            <a:ext cx="4148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230400" y="809640"/>
            <a:ext cx="2024280" cy="200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2356200" y="809640"/>
            <a:ext cx="202428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2356200" y="1857960"/>
            <a:ext cx="202428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37A511B-DD62-40E4-9395-F1DDE8720AD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230400" y="114120"/>
            <a:ext cx="4148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230400" y="809640"/>
            <a:ext cx="202428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2356200" y="809640"/>
            <a:ext cx="202428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230400" y="1857960"/>
            <a:ext cx="414864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70B89DD-F78D-4219-882B-C3C0FF05B2A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230400" y="114120"/>
            <a:ext cx="4148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230400" y="809640"/>
            <a:ext cx="414864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230400" y="1857960"/>
            <a:ext cx="414864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96EAC22-9AD4-4467-B3A8-8F0988DA0E3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230400" y="114120"/>
            <a:ext cx="4148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230400" y="809640"/>
            <a:ext cx="202428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/>
          </p:nvPr>
        </p:nvSpPr>
        <p:spPr>
          <a:xfrm>
            <a:off x="2356200" y="809640"/>
            <a:ext cx="202428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/>
          </p:nvPr>
        </p:nvSpPr>
        <p:spPr>
          <a:xfrm>
            <a:off x="230400" y="1857960"/>
            <a:ext cx="202428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/>
          </p:nvPr>
        </p:nvSpPr>
        <p:spPr>
          <a:xfrm>
            <a:off x="2356200" y="1857960"/>
            <a:ext cx="202428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E2A0F0C-B2A9-4E72-B126-A278B7D87C8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230400" y="114120"/>
            <a:ext cx="4148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230400" y="809640"/>
            <a:ext cx="133560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0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1633320" y="809640"/>
            <a:ext cx="133560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0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/>
          </p:nvPr>
        </p:nvSpPr>
        <p:spPr>
          <a:xfrm>
            <a:off x="3035880" y="809640"/>
            <a:ext cx="133560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0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/>
          </p:nvPr>
        </p:nvSpPr>
        <p:spPr>
          <a:xfrm>
            <a:off x="230400" y="1857960"/>
            <a:ext cx="133560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0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6"/>
          <p:cNvSpPr>
            <a:spLocks noGrp="1"/>
          </p:cNvSpPr>
          <p:nvPr>
            <p:ph/>
          </p:nvPr>
        </p:nvSpPr>
        <p:spPr>
          <a:xfrm>
            <a:off x="1633320" y="1857960"/>
            <a:ext cx="133560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0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1" name="PlaceHolder 7"/>
          <p:cNvSpPr>
            <a:spLocks noGrp="1"/>
          </p:cNvSpPr>
          <p:nvPr>
            <p:ph/>
          </p:nvPr>
        </p:nvSpPr>
        <p:spPr>
          <a:xfrm>
            <a:off x="3035880" y="1857960"/>
            <a:ext cx="133560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0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2C604BD-2234-41C8-B0EE-B8A555EAD2B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085ADC3-49F3-4285-B4A0-0DFE5E2D944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230400" y="114120"/>
            <a:ext cx="4148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subTitle"/>
          </p:nvPr>
        </p:nvSpPr>
        <p:spPr>
          <a:xfrm>
            <a:off x="230400" y="809640"/>
            <a:ext cx="4148640" cy="200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15666BF-8406-4EFE-8C32-796502D3175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230400" y="114120"/>
            <a:ext cx="4148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230400" y="809640"/>
            <a:ext cx="4148640" cy="200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2124588-7429-4E68-AB30-4BE7725F714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230400" y="114120"/>
            <a:ext cx="4148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230400" y="809640"/>
            <a:ext cx="2024280" cy="200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/>
          </p:nvPr>
        </p:nvSpPr>
        <p:spPr>
          <a:xfrm>
            <a:off x="2356200" y="809640"/>
            <a:ext cx="2024280" cy="200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4249136-72C8-49D3-89B3-B1CB86C61F5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230400" y="114120"/>
            <a:ext cx="4148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37EA1FA-589E-4B7A-984A-C4064616AEE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subTitle"/>
          </p:nvPr>
        </p:nvSpPr>
        <p:spPr>
          <a:xfrm>
            <a:off x="230400" y="137880"/>
            <a:ext cx="4148640" cy="267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3CFCDB3-84C8-4AC7-8DB3-ED97D6E613D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230400" y="114120"/>
            <a:ext cx="4148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230400" y="809640"/>
            <a:ext cx="202428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2356200" y="809640"/>
            <a:ext cx="2024280" cy="200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230400" y="1857960"/>
            <a:ext cx="202428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8256E88-856A-4079-A288-F826471E617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230400" y="114120"/>
            <a:ext cx="4148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230400" y="809640"/>
            <a:ext cx="2024280" cy="200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2356200" y="809640"/>
            <a:ext cx="202428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2356200" y="1857960"/>
            <a:ext cx="202428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A9009E5-4479-443A-BBA5-3DF7C70E1D7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230400" y="114120"/>
            <a:ext cx="4148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230400" y="809640"/>
            <a:ext cx="202428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2356200" y="809640"/>
            <a:ext cx="202428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230400" y="1857960"/>
            <a:ext cx="414864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633F8FF-C0F7-405D-A68D-52EC1C05424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230400" y="114120"/>
            <a:ext cx="4148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230400" y="809640"/>
            <a:ext cx="414864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230400" y="1857960"/>
            <a:ext cx="414864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0598F5C-BC8F-4AF3-8B44-2CCE5776177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230400" y="114120"/>
            <a:ext cx="4148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230400" y="809640"/>
            <a:ext cx="202428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/>
          </p:nvPr>
        </p:nvSpPr>
        <p:spPr>
          <a:xfrm>
            <a:off x="2356200" y="809640"/>
            <a:ext cx="202428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/>
          </p:nvPr>
        </p:nvSpPr>
        <p:spPr>
          <a:xfrm>
            <a:off x="230400" y="1857960"/>
            <a:ext cx="202428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8" name="PlaceHolder 5"/>
          <p:cNvSpPr>
            <a:spLocks noGrp="1"/>
          </p:cNvSpPr>
          <p:nvPr>
            <p:ph/>
          </p:nvPr>
        </p:nvSpPr>
        <p:spPr>
          <a:xfrm>
            <a:off x="2356200" y="1857960"/>
            <a:ext cx="202428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FACC1EB-9DA4-48E3-8670-023DF494879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230400" y="114120"/>
            <a:ext cx="4148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230400" y="809640"/>
            <a:ext cx="133560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0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1633320" y="809640"/>
            <a:ext cx="133560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0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/>
          </p:nvPr>
        </p:nvSpPr>
        <p:spPr>
          <a:xfrm>
            <a:off x="3035880" y="809640"/>
            <a:ext cx="133560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0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3" name="PlaceHolder 5"/>
          <p:cNvSpPr>
            <a:spLocks noGrp="1"/>
          </p:cNvSpPr>
          <p:nvPr>
            <p:ph/>
          </p:nvPr>
        </p:nvSpPr>
        <p:spPr>
          <a:xfrm>
            <a:off x="230400" y="1857960"/>
            <a:ext cx="133560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0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4" name="PlaceHolder 6"/>
          <p:cNvSpPr>
            <a:spLocks noGrp="1"/>
          </p:cNvSpPr>
          <p:nvPr>
            <p:ph/>
          </p:nvPr>
        </p:nvSpPr>
        <p:spPr>
          <a:xfrm>
            <a:off x="1633320" y="1857960"/>
            <a:ext cx="133560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0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5" name="PlaceHolder 7"/>
          <p:cNvSpPr>
            <a:spLocks noGrp="1"/>
          </p:cNvSpPr>
          <p:nvPr>
            <p:ph/>
          </p:nvPr>
        </p:nvSpPr>
        <p:spPr>
          <a:xfrm>
            <a:off x="3035880" y="1857960"/>
            <a:ext cx="133560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0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A8B235D-780B-47AC-A168-BEF8356B5B6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B4DE4170-FCE3-4833-90CC-035DEF0390F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230400" y="114120"/>
            <a:ext cx="4148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subTitle"/>
          </p:nvPr>
        </p:nvSpPr>
        <p:spPr>
          <a:xfrm>
            <a:off x="230400" y="809640"/>
            <a:ext cx="4148640" cy="200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1C7638A3-1F3D-43CD-B2A9-F0D4841C746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230400" y="114120"/>
            <a:ext cx="4148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230400" y="809640"/>
            <a:ext cx="4148640" cy="200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52DCB810-72B4-46E4-95AC-7F5C636C1E5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230400" y="114120"/>
            <a:ext cx="4148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230400" y="809640"/>
            <a:ext cx="2024280" cy="200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/>
          </p:nvPr>
        </p:nvSpPr>
        <p:spPr>
          <a:xfrm>
            <a:off x="2356200" y="809640"/>
            <a:ext cx="2024280" cy="200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0C4FD82D-B843-41E5-BEBA-3A4120CFF4A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230400" y="114120"/>
            <a:ext cx="4148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00240079-5959-49F4-ACC4-0B4D6C70421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subTitle"/>
          </p:nvPr>
        </p:nvSpPr>
        <p:spPr>
          <a:xfrm>
            <a:off x="230400" y="137880"/>
            <a:ext cx="4148640" cy="267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6E68FE71-8BB8-4265-B83E-205E4830B25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230400" y="114120"/>
            <a:ext cx="4148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230400" y="809640"/>
            <a:ext cx="202428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/>
          </p:nvPr>
        </p:nvSpPr>
        <p:spPr>
          <a:xfrm>
            <a:off x="2356200" y="809640"/>
            <a:ext cx="2024280" cy="200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4" name="PlaceHolder 4"/>
          <p:cNvSpPr>
            <a:spLocks noGrp="1"/>
          </p:cNvSpPr>
          <p:nvPr>
            <p:ph/>
          </p:nvPr>
        </p:nvSpPr>
        <p:spPr>
          <a:xfrm>
            <a:off x="230400" y="1857960"/>
            <a:ext cx="202428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4BB08561-4367-4C33-9E6D-EF4A7209628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230400" y="114120"/>
            <a:ext cx="4148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230400" y="809640"/>
            <a:ext cx="2024280" cy="200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/>
          </p:nvPr>
        </p:nvSpPr>
        <p:spPr>
          <a:xfrm>
            <a:off x="2356200" y="809640"/>
            <a:ext cx="202428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8" name="PlaceHolder 4"/>
          <p:cNvSpPr>
            <a:spLocks noGrp="1"/>
          </p:cNvSpPr>
          <p:nvPr>
            <p:ph/>
          </p:nvPr>
        </p:nvSpPr>
        <p:spPr>
          <a:xfrm>
            <a:off x="2356200" y="1857960"/>
            <a:ext cx="202428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49A84DCF-5FCF-4CE3-9E79-F97B1C1A946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230400" y="114120"/>
            <a:ext cx="4148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/>
          </p:nvPr>
        </p:nvSpPr>
        <p:spPr>
          <a:xfrm>
            <a:off x="230400" y="809640"/>
            <a:ext cx="202428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/>
          </p:nvPr>
        </p:nvSpPr>
        <p:spPr>
          <a:xfrm>
            <a:off x="2356200" y="809640"/>
            <a:ext cx="202428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2" name="PlaceHolder 4"/>
          <p:cNvSpPr>
            <a:spLocks noGrp="1"/>
          </p:cNvSpPr>
          <p:nvPr>
            <p:ph/>
          </p:nvPr>
        </p:nvSpPr>
        <p:spPr>
          <a:xfrm>
            <a:off x="230400" y="1857960"/>
            <a:ext cx="414864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2C03F901-F52E-4BD4-82D1-F8D9603BBCF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230400" y="114120"/>
            <a:ext cx="4148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/>
          </p:nvPr>
        </p:nvSpPr>
        <p:spPr>
          <a:xfrm>
            <a:off x="230400" y="809640"/>
            <a:ext cx="414864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/>
          </p:nvPr>
        </p:nvSpPr>
        <p:spPr>
          <a:xfrm>
            <a:off x="230400" y="1857960"/>
            <a:ext cx="414864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9ACEA727-6E74-4504-B789-B555E363374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230400" y="114120"/>
            <a:ext cx="4148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230400" y="809640"/>
            <a:ext cx="202428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/>
          </p:nvPr>
        </p:nvSpPr>
        <p:spPr>
          <a:xfrm>
            <a:off x="2356200" y="809640"/>
            <a:ext cx="202428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/>
          </p:nvPr>
        </p:nvSpPr>
        <p:spPr>
          <a:xfrm>
            <a:off x="230400" y="1857960"/>
            <a:ext cx="202428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/>
          </p:nvPr>
        </p:nvSpPr>
        <p:spPr>
          <a:xfrm>
            <a:off x="2356200" y="1857960"/>
            <a:ext cx="202428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605BD4B2-6114-4C7E-A99F-DB442A3FB6B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230400" y="114120"/>
            <a:ext cx="4148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/>
          </p:nvPr>
        </p:nvSpPr>
        <p:spPr>
          <a:xfrm>
            <a:off x="230400" y="809640"/>
            <a:ext cx="133560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0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3" name="PlaceHolder 3"/>
          <p:cNvSpPr>
            <a:spLocks noGrp="1"/>
          </p:cNvSpPr>
          <p:nvPr>
            <p:ph/>
          </p:nvPr>
        </p:nvSpPr>
        <p:spPr>
          <a:xfrm>
            <a:off x="1633320" y="809640"/>
            <a:ext cx="133560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0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4" name="PlaceHolder 4"/>
          <p:cNvSpPr>
            <a:spLocks noGrp="1"/>
          </p:cNvSpPr>
          <p:nvPr>
            <p:ph/>
          </p:nvPr>
        </p:nvSpPr>
        <p:spPr>
          <a:xfrm>
            <a:off x="3035880" y="809640"/>
            <a:ext cx="133560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0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5" name="PlaceHolder 5"/>
          <p:cNvSpPr>
            <a:spLocks noGrp="1"/>
          </p:cNvSpPr>
          <p:nvPr>
            <p:ph/>
          </p:nvPr>
        </p:nvSpPr>
        <p:spPr>
          <a:xfrm>
            <a:off x="230400" y="1857960"/>
            <a:ext cx="133560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0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6" name="PlaceHolder 6"/>
          <p:cNvSpPr>
            <a:spLocks noGrp="1"/>
          </p:cNvSpPr>
          <p:nvPr>
            <p:ph/>
          </p:nvPr>
        </p:nvSpPr>
        <p:spPr>
          <a:xfrm>
            <a:off x="1633320" y="1857960"/>
            <a:ext cx="133560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0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7" name="PlaceHolder 7"/>
          <p:cNvSpPr>
            <a:spLocks noGrp="1"/>
          </p:cNvSpPr>
          <p:nvPr>
            <p:ph/>
          </p:nvPr>
        </p:nvSpPr>
        <p:spPr>
          <a:xfrm>
            <a:off x="3035880" y="1857960"/>
            <a:ext cx="133560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0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1D4B223C-ED6D-4B71-A858-FAFBD9DBEAC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bg object 16"/>
          <p:cNvSpPr/>
          <p:nvPr/>
        </p:nvSpPr>
        <p:spPr>
          <a:xfrm>
            <a:off x="0" y="0"/>
            <a:ext cx="2301480" cy="105120"/>
          </a:xfrm>
          <a:custGeom>
            <a:avLst/>
            <a:gdLst/>
            <a:ah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adad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ftr" idx="1"/>
          </p:nvPr>
        </p:nvSpPr>
        <p:spPr>
          <a:xfrm>
            <a:off x="1567440" y="3218400"/>
            <a:ext cx="1472400" cy="17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lnSpc>
                <a:spcPct val="100000"/>
              </a:lnSpc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sldNum" idx="2"/>
          </p:nvPr>
        </p:nvSpPr>
        <p:spPr>
          <a:xfrm>
            <a:off x="3319200" y="3218400"/>
            <a:ext cx="1057320" cy="17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lnSpc>
                <a:spcPct val="100000"/>
              </a:lnSpc>
              <a:buNone/>
              <a:defRPr b="0" lang="en-US" sz="1400" spc="-1" strike="noStrike">
                <a:solidFill>
                  <a:srgbClr val="b2b2b2"/>
                </a:solidFill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967181F-0D4B-4910-9E04-6975468D6409}" type="slidenum">
              <a:rPr b="0" lang="en-US" sz="1400" spc="-1" strike="noStrike">
                <a:solidFill>
                  <a:srgbClr val="b2b2b2"/>
                </a:solidFill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3"/>
          </p:nvPr>
        </p:nvSpPr>
        <p:spPr>
          <a:xfrm>
            <a:off x="230400" y="3218400"/>
            <a:ext cx="1057320" cy="17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title"/>
          </p:nvPr>
        </p:nvSpPr>
        <p:spPr>
          <a:xfrm>
            <a:off x="230400" y="137880"/>
            <a:ext cx="4148640" cy="57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body"/>
          </p:nvPr>
        </p:nvSpPr>
        <p:spPr>
          <a:xfrm>
            <a:off x="230400" y="809640"/>
            <a:ext cx="4148640" cy="200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3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bg object 16" hidden="1"/>
          <p:cNvSpPr/>
          <p:nvPr/>
        </p:nvSpPr>
        <p:spPr>
          <a:xfrm>
            <a:off x="0" y="0"/>
            <a:ext cx="2301480" cy="105120"/>
          </a:xfrm>
          <a:custGeom>
            <a:avLst/>
            <a:gdLst/>
            <a:ah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adad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3" name="bg object 16"/>
          <p:cNvSpPr/>
          <p:nvPr/>
        </p:nvSpPr>
        <p:spPr>
          <a:xfrm>
            <a:off x="0" y="0"/>
            <a:ext cx="2301480" cy="105120"/>
          </a:xfrm>
          <a:custGeom>
            <a:avLst/>
            <a:gdLst/>
            <a:ah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adad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4" name="bg object 17"/>
          <p:cNvSpPr/>
          <p:nvPr/>
        </p:nvSpPr>
        <p:spPr>
          <a:xfrm>
            <a:off x="2304000" y="0"/>
            <a:ext cx="2301480" cy="105120"/>
          </a:xfrm>
          <a:custGeom>
            <a:avLst/>
            <a:gdLst/>
            <a:ah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PlaceHolder 1"/>
          <p:cNvSpPr>
            <a:spLocks noGrp="1"/>
          </p:cNvSpPr>
          <p:nvPr>
            <p:ph type="ftr" idx="4"/>
          </p:nvPr>
        </p:nvSpPr>
        <p:spPr>
          <a:xfrm>
            <a:off x="1567440" y="3218400"/>
            <a:ext cx="1472400" cy="17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lnSpc>
                <a:spcPct val="100000"/>
              </a:lnSpc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sldNum" idx="5"/>
          </p:nvPr>
        </p:nvSpPr>
        <p:spPr>
          <a:xfrm>
            <a:off x="3319200" y="3218400"/>
            <a:ext cx="1057320" cy="17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lnSpc>
                <a:spcPct val="100000"/>
              </a:lnSpc>
              <a:buNone/>
              <a:defRPr b="0" lang="en-US" sz="1400" spc="-1" strike="noStrike">
                <a:solidFill>
                  <a:srgbClr val="b2b2b2"/>
                </a:solidFill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5CBE032-E453-4CAA-87A0-0078F5888847}" type="slidenum">
              <a:rPr b="0" lang="en-US" sz="1400" spc="-1" strike="noStrike">
                <a:solidFill>
                  <a:srgbClr val="b2b2b2"/>
                </a:solidFill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dt" idx="6"/>
          </p:nvPr>
        </p:nvSpPr>
        <p:spPr>
          <a:xfrm>
            <a:off x="230400" y="3218400"/>
            <a:ext cx="1057320" cy="17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title"/>
          </p:nvPr>
        </p:nvSpPr>
        <p:spPr>
          <a:xfrm>
            <a:off x="230400" y="137880"/>
            <a:ext cx="4148640" cy="57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body"/>
          </p:nvPr>
        </p:nvSpPr>
        <p:spPr>
          <a:xfrm>
            <a:off x="230400" y="809640"/>
            <a:ext cx="4148640" cy="200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3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bg object 16"/>
          <p:cNvSpPr/>
          <p:nvPr/>
        </p:nvSpPr>
        <p:spPr>
          <a:xfrm>
            <a:off x="0" y="0"/>
            <a:ext cx="2301840" cy="105480"/>
          </a:xfrm>
          <a:custGeom>
            <a:avLst/>
            <a:gdLst/>
            <a:ah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adad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7" name="PlaceHolder 1"/>
          <p:cNvSpPr>
            <a:spLocks noGrp="1"/>
          </p:cNvSpPr>
          <p:nvPr>
            <p:ph type="ftr" idx="7"/>
          </p:nvPr>
        </p:nvSpPr>
        <p:spPr>
          <a:xfrm>
            <a:off x="1567440" y="3218400"/>
            <a:ext cx="1472760" cy="170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lnSpc>
                <a:spcPct val="100000"/>
              </a:lnSpc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ldNum" idx="8"/>
          </p:nvPr>
        </p:nvSpPr>
        <p:spPr>
          <a:xfrm>
            <a:off x="3319200" y="3218400"/>
            <a:ext cx="1057680" cy="170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lnSpc>
                <a:spcPct val="100000"/>
              </a:lnSpc>
              <a:buNone/>
              <a:defRPr b="0" lang="en-US" sz="1400" spc="-1" strike="noStrike">
                <a:solidFill>
                  <a:srgbClr val="b2b2b2"/>
                </a:solidFill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A67809D-C4C4-4E6E-925D-FC06950505BA}" type="slidenum">
              <a:rPr b="0" lang="en-US" sz="1400" spc="-1" strike="noStrike">
                <a:solidFill>
                  <a:srgbClr val="b2b2b2"/>
                </a:solidFill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dt" idx="9"/>
          </p:nvPr>
        </p:nvSpPr>
        <p:spPr>
          <a:xfrm>
            <a:off x="230400" y="3218400"/>
            <a:ext cx="1057680" cy="170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 type="title"/>
          </p:nvPr>
        </p:nvSpPr>
        <p:spPr>
          <a:xfrm>
            <a:off x="230400" y="137880"/>
            <a:ext cx="4148640" cy="57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 type="body"/>
          </p:nvPr>
        </p:nvSpPr>
        <p:spPr>
          <a:xfrm>
            <a:off x="230400" y="809640"/>
            <a:ext cx="4148640" cy="200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3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" Target="slide12.xml"/><Relationship Id="rId2" Type="http://schemas.openxmlformats.org/officeDocument/2006/relationships/slide" Target="slide12.xml"/><Relationship Id="rId3" Type="http://schemas.openxmlformats.org/officeDocument/2006/relationships/slide" Target="slide12.xml"/><Relationship Id="rId4" Type="http://schemas.openxmlformats.org/officeDocument/2006/relationships/slide" Target="slide12.xml"/><Relationship Id="rId5" Type="http://schemas.openxmlformats.org/officeDocument/2006/relationships/slide" Target="slide12.xml"/><Relationship Id="rId6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" Target="slide13.xml"/><Relationship Id="rId2" Type="http://schemas.openxmlformats.org/officeDocument/2006/relationships/slide" Target="slide13.xml"/><Relationship Id="rId3" Type="http://schemas.openxmlformats.org/officeDocument/2006/relationships/slide" Target="slide13.xml"/><Relationship Id="rId4" Type="http://schemas.openxmlformats.org/officeDocument/2006/relationships/slideLayout" Target="../slideLayouts/slideLayout25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" Target="slide13.xml"/><Relationship Id="rId2" Type="http://schemas.openxmlformats.org/officeDocument/2006/relationships/slide" Target="slide13.xml"/><Relationship Id="rId3" Type="http://schemas.openxmlformats.org/officeDocument/2006/relationships/slide" Target="slide13.xml"/><Relationship Id="rId4" Type="http://schemas.openxmlformats.org/officeDocument/2006/relationships/slideLayout" Target="../slideLayouts/slideLayout25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" Target="slide13.xml"/><Relationship Id="rId2" Type="http://schemas.openxmlformats.org/officeDocument/2006/relationships/slide" Target="slide13.xml"/><Relationship Id="rId3" Type="http://schemas.openxmlformats.org/officeDocument/2006/relationships/slide" Target="slide13.xml"/><Relationship Id="rId4" Type="http://schemas.openxmlformats.org/officeDocument/2006/relationships/slideLayout" Target="../slideLayouts/slideLayout1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" Target="slide13.xml"/><Relationship Id="rId2" Type="http://schemas.openxmlformats.org/officeDocument/2006/relationships/slide" Target="slide13.xml"/><Relationship Id="rId3" Type="http://schemas.openxmlformats.org/officeDocument/2006/relationships/slide" Target="slide13.xml"/><Relationship Id="rId4" Type="http://schemas.openxmlformats.org/officeDocument/2006/relationships/slideLayout" Target="../slideLayouts/slideLayout25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" Target="slide13.xml"/><Relationship Id="rId2" Type="http://schemas.openxmlformats.org/officeDocument/2006/relationships/slide" Target="slide13.xml"/><Relationship Id="rId3" Type="http://schemas.openxmlformats.org/officeDocument/2006/relationships/slide" Target="slide13.xml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slideLayout" Target="../slideLayouts/slideLayout25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" Target="slide13.xml"/><Relationship Id="rId2" Type="http://schemas.openxmlformats.org/officeDocument/2006/relationships/slide" Target="slide13.xml"/><Relationship Id="rId3" Type="http://schemas.openxmlformats.org/officeDocument/2006/relationships/slide" Target="slide13.xml"/><Relationship Id="rId4" Type="http://schemas.openxmlformats.org/officeDocument/2006/relationships/slideLayout" Target="../slideLayouts/slideLayout25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" Target="slide13.xml"/><Relationship Id="rId2" Type="http://schemas.openxmlformats.org/officeDocument/2006/relationships/slide" Target="slide13.xml"/><Relationship Id="rId3" Type="http://schemas.openxmlformats.org/officeDocument/2006/relationships/slide" Target="slide13.xml"/><Relationship Id="rId4" Type="http://schemas.openxmlformats.org/officeDocument/2006/relationships/slideLayout" Target="../slideLayouts/slideLayout25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" Target="slide13.xml"/><Relationship Id="rId2" Type="http://schemas.openxmlformats.org/officeDocument/2006/relationships/slide" Target="slide13.xml"/><Relationship Id="rId3" Type="http://schemas.openxmlformats.org/officeDocument/2006/relationships/slide" Target="slide13.xml"/><Relationship Id="rId4" Type="http://schemas.openxmlformats.org/officeDocument/2006/relationships/slideLayout" Target="../slideLayouts/slideLayout25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" Target="slide13.xml"/><Relationship Id="rId2" Type="http://schemas.openxmlformats.org/officeDocument/2006/relationships/slide" Target="slide13.xml"/><Relationship Id="rId3" Type="http://schemas.openxmlformats.org/officeDocument/2006/relationships/slide" Target="slide13.xml"/><Relationship Id="rId4" Type="http://schemas.openxmlformats.org/officeDocument/2006/relationships/slideLayout" Target="../slideLayouts/slideLayout25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" Target="slide13.xml"/><Relationship Id="rId2" Type="http://schemas.openxmlformats.org/officeDocument/2006/relationships/slide" Target="slide13.xml"/><Relationship Id="rId3" Type="http://schemas.openxmlformats.org/officeDocument/2006/relationships/slide" Target="slide13.xml"/><Relationship Id="rId4" Type="http://schemas.openxmlformats.org/officeDocument/2006/relationships/slideLayout" Target="../slideLayouts/slideLayout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" Target="slide13.xml"/><Relationship Id="rId2" Type="http://schemas.openxmlformats.org/officeDocument/2006/relationships/slide" Target="slide13.xml"/><Relationship Id="rId3" Type="http://schemas.openxmlformats.org/officeDocument/2006/relationships/slide" Target="slide13.xml"/><Relationship Id="rId4" Type="http://schemas.openxmlformats.org/officeDocument/2006/relationships/slideLayout" Target="../slideLayouts/slideLayout25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" Target="slide13.xml"/><Relationship Id="rId2" Type="http://schemas.openxmlformats.org/officeDocument/2006/relationships/slide" Target="slide13.xml"/><Relationship Id="rId3" Type="http://schemas.openxmlformats.org/officeDocument/2006/relationships/slide" Target="slide13.xml"/><Relationship Id="rId4" Type="http://schemas.openxmlformats.org/officeDocument/2006/relationships/slideLayout" Target="../slideLayouts/slideLayout25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object 2"/>
          <p:cNvSpPr/>
          <p:nvPr/>
        </p:nvSpPr>
        <p:spPr>
          <a:xfrm>
            <a:off x="1412280" y="626760"/>
            <a:ext cx="1780920" cy="56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41120" bIns="0" anchor="t">
            <a:spAutoFit/>
          </a:bodyPr>
          <a:p>
            <a:pPr algn="ctr">
              <a:lnSpc>
                <a:spcPct val="100000"/>
              </a:lnSpc>
              <a:spcBef>
                <a:spcPts val="1111"/>
              </a:spcBef>
              <a:buNone/>
            </a:pPr>
            <a:r>
              <a:rPr b="1" lang="en-US" sz="1400" spc="-1" strike="noStrike">
                <a:solidFill>
                  <a:srgbClr val="3333b2"/>
                </a:solidFill>
                <a:latin typeface="Arial"/>
                <a:ea typeface="DejaVu Sans"/>
              </a:rPr>
              <a:t>Distributed</a:t>
            </a:r>
            <a:r>
              <a:rPr b="1" lang="en-US" sz="1400" spc="97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1" lang="en-US" sz="1400" spc="-12" strike="noStrike">
                <a:solidFill>
                  <a:srgbClr val="3333b2"/>
                </a:solidFill>
                <a:latin typeface="Arial"/>
                <a:ea typeface="DejaVu Sans"/>
              </a:rPr>
              <a:t>Systems</a:t>
            </a:r>
            <a:endParaRPr b="0" lang="en-US" sz="1400" spc="-1" strike="noStrike">
              <a:latin typeface="Arial"/>
            </a:endParaRPr>
          </a:p>
          <a:p>
            <a:pPr marL="3960" algn="ctr">
              <a:lnSpc>
                <a:spcPct val="100000"/>
              </a:lnSpc>
              <a:spcBef>
                <a:spcPts val="609"/>
              </a:spcBef>
              <a:buNone/>
            </a:pPr>
            <a:r>
              <a:rPr b="0" lang="en-US" sz="900" spc="-1" strike="noStrike">
                <a:solidFill>
                  <a:srgbClr val="3333b2"/>
                </a:solidFill>
                <a:latin typeface="Arial"/>
                <a:ea typeface="DejaVu Sans"/>
              </a:rPr>
              <a:t>(4th</a:t>
            </a:r>
            <a:r>
              <a:rPr b="0" lang="en-US" sz="900" spc="-41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3333b2"/>
                </a:solidFill>
                <a:latin typeface="Arial"/>
                <a:ea typeface="DejaVu Sans"/>
              </a:rPr>
              <a:t>edition,</a:t>
            </a:r>
            <a:r>
              <a:rPr b="0" lang="en-US" sz="900" spc="-41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3333b2"/>
                </a:solidFill>
                <a:latin typeface="Arial"/>
                <a:ea typeface="DejaVu Sans"/>
              </a:rPr>
              <a:t>version</a:t>
            </a:r>
            <a:r>
              <a:rPr b="0" lang="en-US" sz="900" spc="-35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900" spc="-26" strike="noStrike">
                <a:solidFill>
                  <a:srgbClr val="3333b2"/>
                </a:solidFill>
                <a:latin typeface="Arial"/>
                <a:ea typeface="DejaVu Sans"/>
              </a:rPr>
              <a:t>01)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29" name="object 3"/>
          <p:cNvSpPr/>
          <p:nvPr/>
        </p:nvSpPr>
        <p:spPr>
          <a:xfrm>
            <a:off x="1307880" y="2409480"/>
            <a:ext cx="1989720" cy="23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7280" bIns="0" anchor="t">
            <a:spAutoFit/>
          </a:bodyPr>
          <a:p>
            <a:pPr marL="12600">
              <a:lnSpc>
                <a:spcPct val="100000"/>
              </a:lnSpc>
              <a:spcBef>
                <a:spcPts val="136"/>
              </a:spcBef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Chapter</a:t>
            </a:r>
            <a:r>
              <a:rPr b="0" lang="en-US" sz="1400" spc="43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01:</a:t>
            </a:r>
            <a:r>
              <a:rPr b="0" lang="en-US" sz="1400" spc="154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400" spc="-12" strike="noStrike">
                <a:solidFill>
                  <a:srgbClr val="000000"/>
                </a:solidFill>
                <a:latin typeface="Arial"/>
                <a:ea typeface="DejaVu Sans"/>
              </a:rPr>
              <a:t>Introduction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30" name=""/>
          <p:cNvSpPr/>
          <p:nvPr/>
        </p:nvSpPr>
        <p:spPr>
          <a:xfrm>
            <a:off x="1222920" y="1287720"/>
            <a:ext cx="234648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https://www.distributed-systems.net/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object 2"/>
          <p:cNvSpPr/>
          <p:nvPr/>
        </p:nvSpPr>
        <p:spPr>
          <a:xfrm>
            <a:off x="53640" y="-1440"/>
            <a:ext cx="4498560" cy="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  <a:tabLst>
                <a:tab algn="l" pos="3156120"/>
              </a:tabLst>
            </a:pP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Introduction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r>
              <a:rPr b="0" lang="en-US" sz="500" spc="-12" strike="noStrike">
                <a:solidFill>
                  <a:srgbClr val="000000"/>
                </a:solidFill>
                <a:latin typeface="Arial"/>
                <a:ea typeface="DejaVu Sans"/>
              </a:rPr>
              <a:t>From</a:t>
            </a:r>
            <a:r>
              <a:rPr b="0" lang="en-US" sz="500" spc="-7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500" spc="-12" strike="noStrike">
                <a:solidFill>
                  <a:srgbClr val="000000"/>
                </a:solidFill>
                <a:latin typeface="Arial"/>
                <a:ea typeface="DejaVu Sans"/>
              </a:rPr>
              <a:t>networked</a:t>
            </a:r>
            <a:r>
              <a:rPr b="0" lang="en-US" sz="500" spc="-7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  <a:ea typeface="DejaVu Sans"/>
              </a:rPr>
              <a:t>systems to</a:t>
            </a:r>
            <a:r>
              <a:rPr b="0" lang="en-US" sz="500" spc="-7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  <a:ea typeface="DejaVu Sans"/>
              </a:rPr>
              <a:t>distributed</a:t>
            </a:r>
            <a:r>
              <a:rPr b="0" lang="en-US" sz="500" spc="-7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systems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95400" y="197640"/>
            <a:ext cx="2448360" cy="58752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1200" spc="-1" strike="noStrike">
                <a:solidFill>
                  <a:srgbClr val="3333b2"/>
                </a:solidFill>
                <a:latin typeface="Arial"/>
              </a:rPr>
              <a:t>Brief Computing History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33" name="object 4"/>
          <p:cNvSpPr/>
          <p:nvPr/>
        </p:nvSpPr>
        <p:spPr>
          <a:xfrm>
            <a:off x="305280" y="946800"/>
            <a:ext cx="3989520" cy="11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5076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1000" spc="-46" strike="noStrike">
                <a:solidFill>
                  <a:srgbClr val="3333b2"/>
                </a:solidFill>
                <a:latin typeface="Arial"/>
                <a:ea typeface="DejaVu Sans"/>
              </a:rPr>
              <a:t>1945: modern computer era begins</a:t>
            </a:r>
            <a:endParaRPr b="0" lang="en-US" sz="1000" spc="-1" strike="noStrike">
              <a:latin typeface="Arial"/>
            </a:endParaRPr>
          </a:p>
          <a:p>
            <a:pPr marL="50760">
              <a:lnSpc>
                <a:spcPct val="100000"/>
              </a:lnSpc>
              <a:spcBef>
                <a:spcPts val="96"/>
              </a:spcBef>
              <a:buNone/>
            </a:pPr>
            <a:endParaRPr b="0" lang="en-US" sz="1000" spc="-1" strike="noStrike">
              <a:latin typeface="Arial"/>
            </a:endParaRPr>
          </a:p>
          <a:p>
            <a:pPr marL="5076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1000" spc="-46" strike="noStrike">
                <a:solidFill>
                  <a:srgbClr val="3333b2"/>
                </a:solidFill>
                <a:latin typeface="Arial"/>
                <a:ea typeface="DejaVu Sans"/>
              </a:rPr>
              <a:t>1945-1985: computers large and expensive</a:t>
            </a:r>
            <a:endParaRPr b="0" lang="en-US" sz="1000" spc="-1" strike="noStrike">
              <a:latin typeface="Arial"/>
            </a:endParaRPr>
          </a:p>
          <a:p>
            <a:pPr marL="50760">
              <a:lnSpc>
                <a:spcPct val="100000"/>
              </a:lnSpc>
              <a:spcBef>
                <a:spcPts val="96"/>
              </a:spcBef>
              <a:buNone/>
            </a:pPr>
            <a:endParaRPr b="0" lang="en-US" sz="1000" spc="-1" strike="noStrike">
              <a:latin typeface="Arial"/>
            </a:endParaRPr>
          </a:p>
          <a:p>
            <a:pPr marL="5076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1000" spc="-46" strike="noStrike">
                <a:solidFill>
                  <a:srgbClr val="3333b2"/>
                </a:solidFill>
                <a:latin typeface="Arial"/>
                <a:ea typeface="DejaVu Sans"/>
              </a:rPr>
              <a:t>mid-1980s:</a:t>
            </a:r>
            <a:endParaRPr b="0" lang="en-US" sz="1000" spc="-1" strike="noStrike">
              <a:latin typeface="Arial"/>
            </a:endParaRPr>
          </a:p>
          <a:p>
            <a:pPr marL="5076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1000" spc="-46" strike="noStrike">
                <a:solidFill>
                  <a:srgbClr val="3333b2"/>
                </a:solidFill>
                <a:latin typeface="Arial"/>
                <a:ea typeface="DejaVu Sans"/>
              </a:rPr>
              <a:t>- powerful microprocessors</a:t>
            </a:r>
            <a:endParaRPr b="0" lang="en-US" sz="1000" spc="-1" strike="noStrike">
              <a:latin typeface="Arial"/>
            </a:endParaRPr>
          </a:p>
          <a:p>
            <a:pPr marL="5076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1000" spc="-46" strike="noStrike">
                <a:solidFill>
                  <a:srgbClr val="3333b2"/>
                </a:solidFill>
                <a:latin typeface="Arial"/>
                <a:ea typeface="DejaVu Sans"/>
              </a:rPr>
              <a:t>- invention of high-speed computer networks</a:t>
            </a:r>
            <a:endParaRPr b="0" lang="en-US" sz="1000" spc="-1" strike="noStrike">
              <a:latin typeface="Arial"/>
            </a:endParaRPr>
          </a:p>
        </p:txBody>
      </p:sp>
      <p:grpSp>
        <p:nvGrpSpPr>
          <p:cNvPr id="134" name="object 5"/>
          <p:cNvGrpSpPr/>
          <p:nvPr/>
        </p:nvGrpSpPr>
        <p:grpSpPr>
          <a:xfrm>
            <a:off x="0" y="3348360"/>
            <a:ext cx="4605480" cy="105120"/>
            <a:chOff x="0" y="3348360"/>
            <a:chExt cx="4605480" cy="105120"/>
          </a:xfrm>
        </p:grpSpPr>
        <p:sp>
          <p:nvSpPr>
            <p:cNvPr id="135" name="object 6"/>
            <p:cNvSpPr/>
            <p:nvPr/>
          </p:nvSpPr>
          <p:spPr>
            <a:xfrm>
              <a:off x="0" y="3348360"/>
              <a:ext cx="2301480" cy="10512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6" name="object 7"/>
            <p:cNvSpPr/>
            <p:nvPr/>
          </p:nvSpPr>
          <p:spPr>
            <a:xfrm>
              <a:off x="2304000" y="3348360"/>
              <a:ext cx="2301480" cy="10512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37" name="object 8"/>
          <p:cNvSpPr/>
          <p:nvPr/>
        </p:nvSpPr>
        <p:spPr>
          <a:xfrm>
            <a:off x="53640" y="3349800"/>
            <a:ext cx="1168560" cy="8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360" bIns="0" anchor="t">
            <a:spAutoFit/>
          </a:bodyPr>
          <a:p>
            <a:pPr marL="12600">
              <a:lnSpc>
                <a:spcPct val="100000"/>
              </a:lnSpc>
              <a:spcBef>
                <a:spcPts val="74"/>
              </a:spcBef>
              <a:buNone/>
            </a:pPr>
            <a:r>
              <a:rPr b="0" lang="en-US" sz="500" spc="-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Distributed versus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decentralized</a:t>
            </a:r>
            <a:r>
              <a:rPr b="0" lang="en-US" sz="500" spc="-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systems</a:t>
            </a:r>
            <a:endParaRPr b="0" lang="en-US" sz="500" spc="-1" strike="noStrike">
              <a:latin typeface="Arial"/>
            </a:endParaRPr>
          </a:p>
        </p:txBody>
      </p:sp>
    </p:spTree>
  </p:cSld>
  <p:transition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object 35"/>
          <p:cNvSpPr/>
          <p:nvPr/>
        </p:nvSpPr>
        <p:spPr>
          <a:xfrm>
            <a:off x="53640" y="-1440"/>
            <a:ext cx="4498560" cy="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  <a:tabLst>
                <a:tab algn="l" pos="3156120"/>
              </a:tabLst>
            </a:pP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Introduction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r>
              <a:rPr b="0" lang="en-US" sz="500" spc="-12" strike="noStrike">
                <a:solidFill>
                  <a:srgbClr val="000000"/>
                </a:solidFill>
                <a:latin typeface="Arial"/>
                <a:ea typeface="DejaVu Sans"/>
              </a:rPr>
              <a:t>From</a:t>
            </a:r>
            <a:r>
              <a:rPr b="0" lang="en-US" sz="500" spc="-7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500" spc="-12" strike="noStrike">
                <a:solidFill>
                  <a:srgbClr val="000000"/>
                </a:solidFill>
                <a:latin typeface="Arial"/>
                <a:ea typeface="DejaVu Sans"/>
              </a:rPr>
              <a:t>networked</a:t>
            </a:r>
            <a:r>
              <a:rPr b="0" lang="en-US" sz="500" spc="-7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  <a:ea typeface="DejaVu Sans"/>
              </a:rPr>
              <a:t>systems to</a:t>
            </a:r>
            <a:r>
              <a:rPr b="0" lang="en-US" sz="500" spc="-7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  <a:ea typeface="DejaVu Sans"/>
              </a:rPr>
              <a:t>distributed</a:t>
            </a:r>
            <a:r>
              <a:rPr b="0" lang="en-US" sz="500" spc="-7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systems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95400" y="197640"/>
            <a:ext cx="2448360" cy="58752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1200" spc="-1" strike="noStrike">
                <a:solidFill>
                  <a:srgbClr val="3333b2"/>
                </a:solidFill>
                <a:latin typeface="Arial"/>
              </a:rPr>
              <a:t>Brief Computing History - Networks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40" name="object 36"/>
          <p:cNvSpPr/>
          <p:nvPr/>
        </p:nvSpPr>
        <p:spPr>
          <a:xfrm>
            <a:off x="53280" y="586800"/>
            <a:ext cx="3989520" cy="145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50760">
              <a:lnSpc>
                <a:spcPct val="100000"/>
              </a:lnSpc>
              <a:spcBef>
                <a:spcPts val="96"/>
              </a:spcBef>
              <a:buNone/>
            </a:pPr>
            <a:r>
              <a:rPr b="1" lang="en-US" sz="1000" spc="-46" strike="noStrike">
                <a:solidFill>
                  <a:srgbClr val="3333b2"/>
                </a:solidFill>
                <a:latin typeface="Arial"/>
                <a:ea typeface="DejaVu Sans"/>
              </a:rPr>
              <a:t>Local-area networks (LANs) </a:t>
            </a:r>
            <a:br>
              <a:rPr sz="1000"/>
            </a:br>
            <a:r>
              <a:rPr b="0" lang="en-US" sz="1000" spc="-46" strike="noStrike">
                <a:solidFill>
                  <a:srgbClr val="3333b2"/>
                </a:solidFill>
                <a:latin typeface="Arial"/>
                <a:ea typeface="DejaVu Sans"/>
              </a:rPr>
              <a:t>Allow thousands of machines within building to be connected </a:t>
            </a:r>
            <a:endParaRPr b="0" lang="en-US" sz="1000" spc="-1" strike="noStrike">
              <a:latin typeface="Arial"/>
            </a:endParaRPr>
          </a:p>
          <a:p>
            <a:pPr marL="50760">
              <a:lnSpc>
                <a:spcPct val="100000"/>
              </a:lnSpc>
              <a:spcBef>
                <a:spcPts val="96"/>
              </a:spcBef>
              <a:buNone/>
            </a:pPr>
            <a:endParaRPr b="0" lang="en-US" sz="1000" spc="-1" strike="noStrike">
              <a:latin typeface="Arial"/>
            </a:endParaRPr>
          </a:p>
          <a:p>
            <a:pPr marL="50760">
              <a:lnSpc>
                <a:spcPct val="100000"/>
              </a:lnSpc>
              <a:spcBef>
                <a:spcPts val="96"/>
              </a:spcBef>
              <a:buNone/>
            </a:pPr>
            <a:r>
              <a:rPr b="1" lang="en-US" sz="1000" spc="-46" strike="noStrike">
                <a:solidFill>
                  <a:srgbClr val="3333b2"/>
                </a:solidFill>
                <a:latin typeface="Arial"/>
                <a:ea typeface="DejaVu Sans"/>
              </a:rPr>
              <a:t>Wide-area network (WANs)</a:t>
            </a:r>
            <a:r>
              <a:rPr b="0" lang="en-US" sz="1000" spc="-46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br>
              <a:rPr sz="1000"/>
            </a:br>
            <a:r>
              <a:rPr b="0" lang="en-US" sz="1000" spc="-46" strike="noStrike">
                <a:solidFill>
                  <a:srgbClr val="3333b2"/>
                </a:solidFill>
                <a:latin typeface="Arial"/>
                <a:ea typeface="DejaVu Sans"/>
              </a:rPr>
              <a:t>Allow hundreds of millions of machines all over the earth</a:t>
            </a:r>
            <a:endParaRPr b="0" lang="en-US" sz="1000" spc="-1" strike="noStrike">
              <a:latin typeface="Arial"/>
            </a:endParaRPr>
          </a:p>
          <a:p>
            <a:pPr marL="5076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1000" spc="-46" strike="noStrike">
                <a:solidFill>
                  <a:srgbClr val="3333b2"/>
                </a:solidFill>
                <a:latin typeface="Arial"/>
                <a:ea typeface="DejaVu Sans"/>
              </a:rPr>
              <a:t>to be connected </a:t>
            </a:r>
            <a:endParaRPr b="0" lang="en-US" sz="1000" spc="-1" strike="noStrike">
              <a:latin typeface="Arial"/>
            </a:endParaRPr>
          </a:p>
          <a:p>
            <a:pPr marL="50760">
              <a:lnSpc>
                <a:spcPct val="100000"/>
              </a:lnSpc>
              <a:spcBef>
                <a:spcPts val="96"/>
              </a:spcBef>
              <a:buNone/>
            </a:pPr>
            <a:endParaRPr b="0" lang="en-US" sz="1000" spc="-1" strike="noStrike">
              <a:latin typeface="Arial"/>
            </a:endParaRPr>
          </a:p>
          <a:p>
            <a:pPr marL="5076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1000" spc="-46" strike="noStrike">
                <a:solidFill>
                  <a:srgbClr val="3333b2"/>
                </a:solidFill>
                <a:latin typeface="Arial"/>
                <a:ea typeface="DejaVu Sans"/>
              </a:rPr>
              <a:t>Speeds varying from tens of thousands to hundreds of millions bps and more.</a:t>
            </a:r>
            <a:endParaRPr b="0" lang="en-US" sz="1000" spc="-1" strike="noStrike">
              <a:latin typeface="Arial"/>
            </a:endParaRPr>
          </a:p>
          <a:p>
            <a:pPr marL="50760">
              <a:lnSpc>
                <a:spcPct val="100000"/>
              </a:lnSpc>
              <a:spcBef>
                <a:spcPts val="96"/>
              </a:spcBef>
              <a:buNone/>
            </a:pPr>
            <a:endParaRPr b="0" lang="en-US" sz="1000" spc="-1" strike="noStrike">
              <a:latin typeface="Arial"/>
            </a:endParaRPr>
          </a:p>
        </p:txBody>
      </p:sp>
      <p:grpSp>
        <p:nvGrpSpPr>
          <p:cNvPr id="141" name="object 37"/>
          <p:cNvGrpSpPr/>
          <p:nvPr/>
        </p:nvGrpSpPr>
        <p:grpSpPr>
          <a:xfrm>
            <a:off x="0" y="3348360"/>
            <a:ext cx="4605480" cy="105120"/>
            <a:chOff x="0" y="3348360"/>
            <a:chExt cx="4605480" cy="105120"/>
          </a:xfrm>
        </p:grpSpPr>
        <p:sp>
          <p:nvSpPr>
            <p:cNvPr id="142" name="object 38"/>
            <p:cNvSpPr/>
            <p:nvPr/>
          </p:nvSpPr>
          <p:spPr>
            <a:xfrm>
              <a:off x="0" y="3348360"/>
              <a:ext cx="2301480" cy="10512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3" name="object 39"/>
            <p:cNvSpPr/>
            <p:nvPr/>
          </p:nvSpPr>
          <p:spPr>
            <a:xfrm>
              <a:off x="2304000" y="3348360"/>
              <a:ext cx="2301480" cy="10512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44" name="object 40"/>
          <p:cNvSpPr/>
          <p:nvPr/>
        </p:nvSpPr>
        <p:spPr>
          <a:xfrm>
            <a:off x="53640" y="3349800"/>
            <a:ext cx="1168560" cy="8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360" bIns="0" anchor="t">
            <a:spAutoFit/>
          </a:bodyPr>
          <a:p>
            <a:pPr marL="12600">
              <a:lnSpc>
                <a:spcPct val="100000"/>
              </a:lnSpc>
              <a:spcBef>
                <a:spcPts val="74"/>
              </a:spcBef>
              <a:buNone/>
            </a:pPr>
            <a:r>
              <a:rPr b="0" lang="en-US" sz="500" spc="-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Distributed versus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decentralized</a:t>
            </a:r>
            <a:r>
              <a:rPr b="0" lang="en-US" sz="500" spc="-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systems</a:t>
            </a:r>
            <a:endParaRPr b="0" lang="en-US" sz="500" spc="-1" strike="noStrike">
              <a:latin typeface="Arial"/>
            </a:endParaRPr>
          </a:p>
        </p:txBody>
      </p:sp>
    </p:spTree>
  </p:cSld>
  <p:transition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object 225"/>
          <p:cNvSpPr/>
          <p:nvPr/>
        </p:nvSpPr>
        <p:spPr>
          <a:xfrm>
            <a:off x="53640" y="-1440"/>
            <a:ext cx="4498560" cy="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  <a:tabLst>
                <a:tab algn="l" pos="3156120"/>
              </a:tabLst>
            </a:pP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Introduction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r>
              <a:rPr b="0" lang="en-US" sz="500" spc="-12" strike="noStrike">
                <a:solidFill>
                  <a:srgbClr val="000000"/>
                </a:solidFill>
                <a:latin typeface="Arial"/>
                <a:ea typeface="DejaVu Sans"/>
              </a:rPr>
              <a:t>From</a:t>
            </a:r>
            <a:r>
              <a:rPr b="0" lang="en-US" sz="500" spc="-7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500" spc="-12" strike="noStrike">
                <a:solidFill>
                  <a:srgbClr val="000000"/>
                </a:solidFill>
                <a:latin typeface="Arial"/>
                <a:ea typeface="DejaVu Sans"/>
              </a:rPr>
              <a:t>networked</a:t>
            </a:r>
            <a:r>
              <a:rPr b="0" lang="en-US" sz="500" spc="-7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  <a:ea typeface="DejaVu Sans"/>
              </a:rPr>
              <a:t>systems to</a:t>
            </a:r>
            <a:r>
              <a:rPr b="0" lang="en-US" sz="500" spc="-7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  <a:ea typeface="DejaVu Sans"/>
              </a:rPr>
              <a:t>distributed</a:t>
            </a:r>
            <a:r>
              <a:rPr b="0" lang="en-US" sz="500" spc="-7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systems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95400" y="197640"/>
            <a:ext cx="2448360" cy="58752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1200" spc="-1" strike="noStrike">
                <a:solidFill>
                  <a:srgbClr val="3333b2"/>
                </a:solidFill>
                <a:latin typeface="Arial"/>
              </a:rPr>
              <a:t>Brief Computing History - Networks</a:t>
            </a:r>
            <a:endParaRPr b="0" lang="en-US" sz="1200" spc="-1" strike="noStrike">
              <a:latin typeface="Arial"/>
            </a:endParaRPr>
          </a:p>
        </p:txBody>
      </p:sp>
      <p:grpSp>
        <p:nvGrpSpPr>
          <p:cNvPr id="147" name="object 227"/>
          <p:cNvGrpSpPr/>
          <p:nvPr/>
        </p:nvGrpSpPr>
        <p:grpSpPr>
          <a:xfrm>
            <a:off x="0" y="3348360"/>
            <a:ext cx="4605480" cy="105120"/>
            <a:chOff x="0" y="3348360"/>
            <a:chExt cx="4605480" cy="105120"/>
          </a:xfrm>
        </p:grpSpPr>
        <p:sp>
          <p:nvSpPr>
            <p:cNvPr id="148" name="object 228"/>
            <p:cNvSpPr/>
            <p:nvPr/>
          </p:nvSpPr>
          <p:spPr>
            <a:xfrm>
              <a:off x="0" y="3348360"/>
              <a:ext cx="2301480" cy="10512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9" name="object 229"/>
            <p:cNvSpPr/>
            <p:nvPr/>
          </p:nvSpPr>
          <p:spPr>
            <a:xfrm>
              <a:off x="2304000" y="3348360"/>
              <a:ext cx="2301480" cy="10512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50" name="object 230"/>
          <p:cNvSpPr/>
          <p:nvPr/>
        </p:nvSpPr>
        <p:spPr>
          <a:xfrm>
            <a:off x="53640" y="3349800"/>
            <a:ext cx="1168560" cy="8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360" bIns="0" anchor="t">
            <a:spAutoFit/>
          </a:bodyPr>
          <a:p>
            <a:pPr marL="12600">
              <a:lnSpc>
                <a:spcPct val="100000"/>
              </a:lnSpc>
              <a:spcBef>
                <a:spcPts val="74"/>
              </a:spcBef>
              <a:buNone/>
            </a:pPr>
            <a:r>
              <a:rPr b="0" lang="en-US" sz="500" spc="-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Distributed versus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decentralized</a:t>
            </a:r>
            <a:r>
              <a:rPr b="0" lang="en-US" sz="500" spc="-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systems</a:t>
            </a:r>
            <a:endParaRPr b="0" lang="en-US" sz="500" spc="-1" strike="noStrike">
              <a:latin typeface="Arial"/>
            </a:endParaRPr>
          </a:p>
        </p:txBody>
      </p:sp>
      <p:pic>
        <p:nvPicPr>
          <p:cNvPr id="151" name="" descr=""/>
          <p:cNvPicPr/>
          <p:nvPr/>
        </p:nvPicPr>
        <p:blipFill>
          <a:blip r:embed="rId1"/>
          <a:stretch/>
        </p:blipFill>
        <p:spPr>
          <a:xfrm>
            <a:off x="0" y="687600"/>
            <a:ext cx="4505760" cy="1947600"/>
          </a:xfrm>
          <a:prstGeom prst="rect">
            <a:avLst/>
          </a:prstGeom>
          <a:ln w="0">
            <a:noFill/>
          </a:ln>
        </p:spPr>
      </p:pic>
    </p:spTree>
  </p:cSld>
  <p:transition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object 41"/>
          <p:cNvSpPr/>
          <p:nvPr/>
        </p:nvSpPr>
        <p:spPr>
          <a:xfrm>
            <a:off x="53640" y="-1440"/>
            <a:ext cx="4498560" cy="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  <a:tabLst>
                <a:tab algn="l" pos="3156120"/>
              </a:tabLst>
            </a:pP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Introduction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r>
              <a:rPr b="0" lang="en-US" sz="500" spc="-12" strike="noStrike">
                <a:solidFill>
                  <a:srgbClr val="000000"/>
                </a:solidFill>
                <a:latin typeface="Arial"/>
                <a:ea typeface="DejaVu Sans"/>
              </a:rPr>
              <a:t>From</a:t>
            </a:r>
            <a:r>
              <a:rPr b="0" lang="en-US" sz="500" spc="-7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500" spc="-12" strike="noStrike">
                <a:solidFill>
                  <a:srgbClr val="000000"/>
                </a:solidFill>
                <a:latin typeface="Arial"/>
                <a:ea typeface="DejaVu Sans"/>
              </a:rPr>
              <a:t>networked</a:t>
            </a:r>
            <a:r>
              <a:rPr b="0" lang="en-US" sz="500" spc="-7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  <a:ea typeface="DejaVu Sans"/>
              </a:rPr>
              <a:t>systems to</a:t>
            </a:r>
            <a:r>
              <a:rPr b="0" lang="en-US" sz="500" spc="-7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  <a:ea typeface="DejaVu Sans"/>
              </a:rPr>
              <a:t>distributed</a:t>
            </a:r>
            <a:r>
              <a:rPr b="0" lang="en-US" sz="500" spc="-7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systems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95400" y="197640"/>
            <a:ext cx="2448360" cy="58752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1200" spc="-1" strike="noStrike">
                <a:solidFill>
                  <a:srgbClr val="3333b2"/>
                </a:solidFill>
                <a:latin typeface="Arial"/>
              </a:rPr>
              <a:t>Brief Computing History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54" name="object 42"/>
          <p:cNvSpPr/>
          <p:nvPr/>
        </p:nvSpPr>
        <p:spPr>
          <a:xfrm>
            <a:off x="305280" y="946800"/>
            <a:ext cx="3989520" cy="130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5076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1000" spc="-46" strike="noStrike">
                <a:solidFill>
                  <a:srgbClr val="3333b2"/>
                </a:solidFill>
                <a:latin typeface="Arial"/>
                <a:ea typeface="DejaVu Sans"/>
              </a:rPr>
              <a:t>Now: miniaturization of computer systems, with perhaps the smartphone as the most impressive outcome.</a:t>
            </a:r>
            <a:endParaRPr b="0" lang="en-US" sz="1000" spc="-1" strike="noStrike">
              <a:latin typeface="Arial"/>
            </a:endParaRPr>
          </a:p>
          <a:p>
            <a:pPr marL="50760">
              <a:lnSpc>
                <a:spcPct val="100000"/>
              </a:lnSpc>
              <a:spcBef>
                <a:spcPts val="96"/>
              </a:spcBef>
              <a:buNone/>
            </a:pPr>
            <a:endParaRPr b="0" lang="en-US" sz="1000" spc="-1" strike="noStrike">
              <a:latin typeface="Arial"/>
            </a:endParaRPr>
          </a:p>
          <a:p>
            <a:pPr marL="5076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1000" spc="-46" strike="noStrike">
                <a:solidFill>
                  <a:srgbClr val="3333b2"/>
                </a:solidFill>
                <a:latin typeface="Arial"/>
                <a:ea typeface="DejaVu Sans"/>
              </a:rPr>
              <a:t>The size of a networked computer system may vary from a handful of</a:t>
            </a:r>
            <a:endParaRPr b="0" lang="en-US" sz="1000" spc="-1" strike="noStrike">
              <a:latin typeface="Arial"/>
            </a:endParaRPr>
          </a:p>
          <a:p>
            <a:pPr marL="5076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1000" spc="-46" strike="noStrike">
                <a:solidFill>
                  <a:srgbClr val="3333b2"/>
                </a:solidFill>
                <a:latin typeface="Arial"/>
                <a:ea typeface="DejaVu Sans"/>
              </a:rPr>
              <a:t>devices, to millions of computers.</a:t>
            </a:r>
            <a:endParaRPr b="0" lang="en-US" sz="1000" spc="-1" strike="noStrike">
              <a:latin typeface="Arial"/>
            </a:endParaRPr>
          </a:p>
          <a:p>
            <a:pPr marL="50760">
              <a:lnSpc>
                <a:spcPct val="100000"/>
              </a:lnSpc>
              <a:spcBef>
                <a:spcPts val="96"/>
              </a:spcBef>
              <a:buNone/>
            </a:pPr>
            <a:endParaRPr b="0" lang="en-US" sz="1000" spc="-1" strike="noStrike">
              <a:latin typeface="Arial"/>
            </a:endParaRPr>
          </a:p>
          <a:p>
            <a:pPr marL="5076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1000" spc="-46" strike="noStrike">
                <a:solidFill>
                  <a:srgbClr val="3333b2"/>
                </a:solidFill>
                <a:latin typeface="Arial"/>
                <a:ea typeface="DejaVu Sans"/>
              </a:rPr>
              <a:t>Most networked computer systems can be accessed from</a:t>
            </a:r>
            <a:endParaRPr b="0" lang="en-US" sz="1000" spc="-1" strike="noStrike">
              <a:latin typeface="Arial"/>
            </a:endParaRPr>
          </a:p>
          <a:p>
            <a:pPr marL="5076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1000" spc="-46" strike="noStrike">
                <a:solidFill>
                  <a:srgbClr val="3333b2"/>
                </a:solidFill>
                <a:latin typeface="Arial"/>
                <a:ea typeface="DejaVu Sans"/>
              </a:rPr>
              <a:t>anywhere in the world because they are connected to Internet.</a:t>
            </a:r>
            <a:endParaRPr b="0" lang="en-US" sz="1000" spc="-1" strike="noStrike">
              <a:latin typeface="Arial"/>
            </a:endParaRPr>
          </a:p>
        </p:txBody>
      </p:sp>
      <p:grpSp>
        <p:nvGrpSpPr>
          <p:cNvPr id="155" name="object 43"/>
          <p:cNvGrpSpPr/>
          <p:nvPr/>
        </p:nvGrpSpPr>
        <p:grpSpPr>
          <a:xfrm>
            <a:off x="0" y="3348360"/>
            <a:ext cx="4605480" cy="105120"/>
            <a:chOff x="0" y="3348360"/>
            <a:chExt cx="4605480" cy="105120"/>
          </a:xfrm>
        </p:grpSpPr>
        <p:sp>
          <p:nvSpPr>
            <p:cNvPr id="156" name="object 44"/>
            <p:cNvSpPr/>
            <p:nvPr/>
          </p:nvSpPr>
          <p:spPr>
            <a:xfrm>
              <a:off x="0" y="3348360"/>
              <a:ext cx="2301480" cy="10512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7" name="object 45"/>
            <p:cNvSpPr/>
            <p:nvPr/>
          </p:nvSpPr>
          <p:spPr>
            <a:xfrm>
              <a:off x="2304000" y="3348360"/>
              <a:ext cx="2301480" cy="10512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58" name="object 46"/>
          <p:cNvSpPr/>
          <p:nvPr/>
        </p:nvSpPr>
        <p:spPr>
          <a:xfrm>
            <a:off x="53640" y="3349800"/>
            <a:ext cx="1168560" cy="8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360" bIns="0" anchor="t">
            <a:spAutoFit/>
          </a:bodyPr>
          <a:p>
            <a:pPr marL="12600">
              <a:lnSpc>
                <a:spcPct val="100000"/>
              </a:lnSpc>
              <a:spcBef>
                <a:spcPts val="74"/>
              </a:spcBef>
              <a:buNone/>
            </a:pPr>
            <a:r>
              <a:rPr b="0" lang="en-US" sz="500" spc="-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Distributed versus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decentralized</a:t>
            </a:r>
            <a:r>
              <a:rPr b="0" lang="en-US" sz="500" spc="-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systems</a:t>
            </a:r>
            <a:endParaRPr b="0" lang="en-US" sz="500" spc="-1" strike="noStrike">
              <a:latin typeface="Arial"/>
            </a:endParaRPr>
          </a:p>
        </p:txBody>
      </p:sp>
    </p:spTree>
  </p:cSld>
  <p:transition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object 25"/>
          <p:cNvSpPr/>
          <p:nvPr/>
        </p:nvSpPr>
        <p:spPr>
          <a:xfrm>
            <a:off x="53640" y="-1440"/>
            <a:ext cx="4498560" cy="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  <a:tabLst>
                <a:tab algn="l" pos="3156120"/>
              </a:tabLst>
            </a:pP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Introduction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r>
              <a:rPr b="0" lang="en-US" sz="500" spc="-12" strike="noStrike">
                <a:solidFill>
                  <a:srgbClr val="000000"/>
                </a:solidFill>
                <a:latin typeface="Arial"/>
                <a:ea typeface="DejaVu Sans"/>
              </a:rPr>
              <a:t>From</a:t>
            </a:r>
            <a:r>
              <a:rPr b="0" lang="en-US" sz="500" spc="-7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500" spc="-12" strike="noStrike">
                <a:solidFill>
                  <a:srgbClr val="000000"/>
                </a:solidFill>
                <a:latin typeface="Arial"/>
                <a:ea typeface="DejaVu Sans"/>
              </a:rPr>
              <a:t>networked</a:t>
            </a:r>
            <a:r>
              <a:rPr b="0" lang="en-US" sz="500" spc="-7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  <a:ea typeface="DejaVu Sans"/>
              </a:rPr>
              <a:t>systems to</a:t>
            </a:r>
            <a:r>
              <a:rPr b="0" lang="en-US" sz="500" spc="-7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  <a:ea typeface="DejaVu Sans"/>
              </a:rPr>
              <a:t>distributed</a:t>
            </a:r>
            <a:r>
              <a:rPr b="0" lang="en-US" sz="500" spc="-7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systems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95400" y="197640"/>
            <a:ext cx="2448360" cy="58752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1200" spc="-1" strike="noStrike">
                <a:solidFill>
                  <a:srgbClr val="3333b2"/>
                </a:solidFill>
                <a:latin typeface="Arial"/>
              </a:rPr>
              <a:t>Alternative</a:t>
            </a:r>
            <a:r>
              <a:rPr b="0" lang="en-US" sz="1200" spc="-72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200" spc="-12" strike="noStrike">
                <a:solidFill>
                  <a:srgbClr val="3333b2"/>
                </a:solidFill>
                <a:latin typeface="Arial"/>
              </a:rPr>
              <a:t>approach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61" name="object 26"/>
          <p:cNvSpPr/>
          <p:nvPr/>
        </p:nvSpPr>
        <p:spPr>
          <a:xfrm>
            <a:off x="305280" y="946800"/>
            <a:ext cx="3989520" cy="10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5076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1000" spc="-46" strike="noStrike">
                <a:solidFill>
                  <a:srgbClr val="3333b2"/>
                </a:solidFill>
                <a:latin typeface="Arial"/>
                <a:ea typeface="DejaVu Sans"/>
              </a:rPr>
              <a:t>Two</a:t>
            </a:r>
            <a:r>
              <a:rPr b="0" lang="en-US" sz="1000" spc="-21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000" spc="-12" strike="noStrike">
                <a:solidFill>
                  <a:srgbClr val="3333b2"/>
                </a:solidFill>
                <a:latin typeface="Arial"/>
                <a:ea typeface="DejaVu Sans"/>
              </a:rPr>
              <a:t>definitions</a:t>
            </a:r>
            <a:endParaRPr b="0" lang="en-US" sz="1000" spc="-1" strike="noStrike">
              <a:latin typeface="Arial"/>
            </a:endParaRPr>
          </a:p>
          <a:p>
            <a:pPr marL="307440" indent="-120600">
              <a:lnSpc>
                <a:spcPct val="111000"/>
              </a:lnSpc>
              <a:spcBef>
                <a:spcPts val="374"/>
              </a:spcBef>
              <a:buClr>
                <a:srgbClr val="3333b2"/>
              </a:buClr>
              <a:buFont typeface="Menlo"/>
              <a:buChar char="•"/>
              <a:tabLst>
                <a:tab algn="l" pos="3042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A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3333b2"/>
                </a:solidFill>
                <a:latin typeface="Arial"/>
                <a:ea typeface="DejaVu Sans"/>
              </a:rPr>
              <a:t>decentralized </a:t>
            </a:r>
            <a:r>
              <a:rPr b="0" lang="en-US" sz="900" spc="-1" strike="noStrike">
                <a:solidFill>
                  <a:srgbClr val="3333b2"/>
                </a:solidFill>
                <a:latin typeface="Arial"/>
                <a:ea typeface="DejaVu Sans"/>
              </a:rPr>
              <a:t>system</a:t>
            </a:r>
            <a:r>
              <a:rPr b="0" lang="en-US" sz="900" spc="-12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is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a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 networked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computer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system</a:t>
            </a:r>
            <a:r>
              <a:rPr b="0" lang="en-US" sz="900" spc="-7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in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 which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processes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and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resources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are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c80000"/>
                </a:solidFill>
                <a:latin typeface="Arial"/>
                <a:ea typeface="DejaVu Sans"/>
              </a:rPr>
              <a:t>necessarily</a:t>
            </a:r>
            <a:r>
              <a:rPr b="0" lang="en-US" sz="900" spc="-35" strike="noStrike">
                <a:solidFill>
                  <a:srgbClr val="c8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spread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across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multiple computers.</a:t>
            </a:r>
            <a:endParaRPr b="0" lang="en-US" sz="900" spc="-1" strike="noStrike">
              <a:latin typeface="Arial"/>
            </a:endParaRPr>
          </a:p>
          <a:p>
            <a:pPr marL="307440" indent="-120600">
              <a:lnSpc>
                <a:spcPct val="111000"/>
              </a:lnSpc>
              <a:spcBef>
                <a:spcPts val="400"/>
              </a:spcBef>
              <a:buClr>
                <a:srgbClr val="3333b2"/>
              </a:buClr>
              <a:buFont typeface="Menlo"/>
              <a:buChar char="•"/>
              <a:tabLst>
                <a:tab algn="l" pos="3042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A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3333b2"/>
                </a:solidFill>
                <a:latin typeface="Arial"/>
                <a:ea typeface="DejaVu Sans"/>
              </a:rPr>
              <a:t>distributed</a:t>
            </a:r>
            <a:r>
              <a:rPr b="0" lang="en-US" sz="900" spc="-26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3333b2"/>
                </a:solidFill>
                <a:latin typeface="Arial"/>
                <a:ea typeface="DejaVu Sans"/>
              </a:rPr>
              <a:t>system</a:t>
            </a:r>
            <a:r>
              <a:rPr b="0" lang="en-US" sz="900" spc="-26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is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a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networked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computer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system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in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which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processes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and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resources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are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c80000"/>
                </a:solidFill>
                <a:latin typeface="Arial"/>
                <a:ea typeface="DejaVu Sans"/>
              </a:rPr>
              <a:t>sufficiently</a:t>
            </a:r>
            <a:r>
              <a:rPr b="0" lang="en-US" sz="900" spc="-35" strike="noStrike">
                <a:solidFill>
                  <a:srgbClr val="c8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spread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across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multiple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computers.</a:t>
            </a:r>
            <a:endParaRPr b="0" lang="en-US" sz="900" spc="-1" strike="noStrike">
              <a:latin typeface="Arial"/>
            </a:endParaRPr>
          </a:p>
        </p:txBody>
      </p:sp>
      <p:grpSp>
        <p:nvGrpSpPr>
          <p:cNvPr id="162" name="object 27"/>
          <p:cNvGrpSpPr/>
          <p:nvPr/>
        </p:nvGrpSpPr>
        <p:grpSpPr>
          <a:xfrm>
            <a:off x="0" y="3348360"/>
            <a:ext cx="4605480" cy="105120"/>
            <a:chOff x="0" y="3348360"/>
            <a:chExt cx="4605480" cy="105120"/>
          </a:xfrm>
        </p:grpSpPr>
        <p:sp>
          <p:nvSpPr>
            <p:cNvPr id="163" name="object 32"/>
            <p:cNvSpPr/>
            <p:nvPr/>
          </p:nvSpPr>
          <p:spPr>
            <a:xfrm>
              <a:off x="0" y="3348360"/>
              <a:ext cx="2301480" cy="10512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4" name="object 33"/>
            <p:cNvSpPr/>
            <p:nvPr/>
          </p:nvSpPr>
          <p:spPr>
            <a:xfrm>
              <a:off x="2304000" y="3348360"/>
              <a:ext cx="2301480" cy="10512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65" name="object 34"/>
          <p:cNvSpPr/>
          <p:nvPr/>
        </p:nvSpPr>
        <p:spPr>
          <a:xfrm>
            <a:off x="53640" y="3349800"/>
            <a:ext cx="1168560" cy="8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360" bIns="0" anchor="t">
            <a:spAutoFit/>
          </a:bodyPr>
          <a:p>
            <a:pPr marL="12600">
              <a:lnSpc>
                <a:spcPct val="100000"/>
              </a:lnSpc>
              <a:spcBef>
                <a:spcPts val="74"/>
              </a:spcBef>
              <a:buNone/>
            </a:pPr>
            <a:r>
              <a:rPr b="0" lang="en-US" sz="500" spc="-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Distributed versus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decentralized</a:t>
            </a:r>
            <a:r>
              <a:rPr b="0" lang="en-US" sz="500" spc="-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systems</a:t>
            </a:r>
            <a:endParaRPr b="0" lang="en-US" sz="500" spc="-1" strike="noStrike">
              <a:latin typeface="Arial"/>
            </a:endParaRPr>
          </a:p>
        </p:txBody>
      </p:sp>
    </p:spTree>
  </p:cSld>
  <p:transition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object 213"/>
          <p:cNvSpPr/>
          <p:nvPr/>
        </p:nvSpPr>
        <p:spPr>
          <a:xfrm>
            <a:off x="53640" y="-1440"/>
            <a:ext cx="4498560" cy="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  <a:tabLst>
                <a:tab algn="l" pos="3156120"/>
              </a:tabLst>
            </a:pP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Introduction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r>
              <a:rPr b="0" lang="en-US" sz="500" spc="-12" strike="noStrike">
                <a:solidFill>
                  <a:srgbClr val="000000"/>
                </a:solidFill>
                <a:latin typeface="Arial"/>
                <a:ea typeface="DejaVu Sans"/>
              </a:rPr>
              <a:t>From</a:t>
            </a:r>
            <a:r>
              <a:rPr b="0" lang="en-US" sz="500" spc="-7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500" spc="-12" strike="noStrike">
                <a:solidFill>
                  <a:srgbClr val="000000"/>
                </a:solidFill>
                <a:latin typeface="Arial"/>
                <a:ea typeface="DejaVu Sans"/>
              </a:rPr>
              <a:t>networked</a:t>
            </a:r>
            <a:r>
              <a:rPr b="0" lang="en-US" sz="500" spc="-7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  <a:ea typeface="DejaVu Sans"/>
              </a:rPr>
              <a:t>systems to</a:t>
            </a:r>
            <a:r>
              <a:rPr b="0" lang="en-US" sz="500" spc="-7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  <a:ea typeface="DejaVu Sans"/>
              </a:rPr>
              <a:t>distributed</a:t>
            </a:r>
            <a:r>
              <a:rPr b="0" lang="en-US" sz="500" spc="-7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systems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95400" y="197640"/>
            <a:ext cx="2448360" cy="58752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1200" spc="-1" strike="noStrike">
                <a:solidFill>
                  <a:srgbClr val="3333b2"/>
                </a:solidFill>
                <a:latin typeface="Arial"/>
              </a:rPr>
              <a:t>Distributed vs Centralized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68" name="object 214"/>
          <p:cNvSpPr/>
          <p:nvPr/>
        </p:nvSpPr>
        <p:spPr>
          <a:xfrm>
            <a:off x="89280" y="694800"/>
            <a:ext cx="4266000" cy="212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50760">
              <a:lnSpc>
                <a:spcPct val="100000"/>
              </a:lnSpc>
              <a:spcBef>
                <a:spcPts val="96"/>
              </a:spcBef>
              <a:buNone/>
            </a:pPr>
            <a:r>
              <a:rPr b="1" lang="en-US" sz="1000" spc="-1" strike="noStrike">
                <a:solidFill>
                  <a:srgbClr val="3333b2"/>
                </a:solidFill>
                <a:latin typeface="Arial"/>
                <a:ea typeface="DejaVu Sans"/>
              </a:rPr>
              <a:t>Distributed system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  <a:ea typeface="DejaVu Sans"/>
              </a:rPr>
              <a:t> uses multiple computers in a network</a:t>
            </a:r>
            <a:endParaRPr b="0" lang="en-US" sz="1000" spc="-1" strike="noStrike">
              <a:latin typeface="Arial"/>
            </a:endParaRPr>
          </a:p>
          <a:p>
            <a:pPr marL="5076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1000" spc="-1" strike="noStrike">
                <a:solidFill>
                  <a:srgbClr val="3333b2"/>
                </a:solidFill>
                <a:latin typeface="Arial"/>
                <a:ea typeface="DejaVu Sans"/>
              </a:rPr>
              <a:t>Each node has its own memory</a:t>
            </a:r>
            <a:endParaRPr b="0" lang="en-US" sz="1000" spc="-1" strike="noStrike">
              <a:latin typeface="Arial"/>
            </a:endParaRPr>
          </a:p>
          <a:p>
            <a:pPr marL="50760">
              <a:lnSpc>
                <a:spcPct val="100000"/>
              </a:lnSpc>
              <a:spcBef>
                <a:spcPts val="96"/>
              </a:spcBef>
              <a:buNone/>
            </a:pPr>
            <a:endParaRPr b="0" lang="en-US" sz="1000" spc="-1" strike="noStrike">
              <a:latin typeface="Arial"/>
            </a:endParaRPr>
          </a:p>
          <a:p>
            <a:pPr marL="50760">
              <a:lnSpc>
                <a:spcPct val="100000"/>
              </a:lnSpc>
              <a:spcBef>
                <a:spcPts val="96"/>
              </a:spcBef>
              <a:buNone/>
            </a:pPr>
            <a:endParaRPr b="0" lang="en-US" sz="1000" spc="-1" strike="noStrike">
              <a:latin typeface="Arial"/>
            </a:endParaRPr>
          </a:p>
          <a:p>
            <a:pPr marL="50760">
              <a:lnSpc>
                <a:spcPct val="100000"/>
              </a:lnSpc>
              <a:spcBef>
                <a:spcPts val="96"/>
              </a:spcBef>
              <a:buNone/>
            </a:pPr>
            <a:endParaRPr b="0" lang="en-US" sz="1000" spc="-1" strike="noStrike">
              <a:latin typeface="Arial"/>
            </a:endParaRPr>
          </a:p>
          <a:p>
            <a:pPr marL="50760">
              <a:lnSpc>
                <a:spcPct val="100000"/>
              </a:lnSpc>
              <a:spcBef>
                <a:spcPts val="96"/>
              </a:spcBef>
              <a:buNone/>
            </a:pPr>
            <a:r>
              <a:rPr b="1" lang="en-US" sz="1000" spc="-1" strike="noStrike">
                <a:solidFill>
                  <a:srgbClr val="3333b2"/>
                </a:solidFill>
                <a:latin typeface="Arial"/>
                <a:ea typeface="DejaVu Sans"/>
              </a:rPr>
              <a:t>Centralized system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  <a:ea typeface="DejaVu Sans"/>
              </a:rPr>
              <a:t> follows client-server architecture built around single, powerful server. </a:t>
            </a:r>
            <a:endParaRPr b="0" lang="en-US" sz="1000" spc="-1" strike="noStrike">
              <a:latin typeface="Arial"/>
            </a:endParaRPr>
          </a:p>
          <a:p>
            <a:pPr marL="50760">
              <a:lnSpc>
                <a:spcPct val="100000"/>
              </a:lnSpc>
              <a:spcBef>
                <a:spcPts val="96"/>
              </a:spcBef>
              <a:buNone/>
            </a:pPr>
            <a:endParaRPr b="0" lang="en-US" sz="1000" spc="-1" strike="noStrike">
              <a:latin typeface="Arial"/>
            </a:endParaRPr>
          </a:p>
          <a:p>
            <a:pPr marL="5076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1000" spc="-1" strike="noStrike">
                <a:solidFill>
                  <a:srgbClr val="3333b2"/>
                </a:solidFill>
                <a:latin typeface="Arial"/>
                <a:ea typeface="DejaVu Sans"/>
              </a:rPr>
              <a:t>Less powerful nodes submit requests to central server</a:t>
            </a:r>
            <a:endParaRPr b="0" lang="en-US" sz="1000" spc="-1" strike="noStrike">
              <a:latin typeface="Arial"/>
            </a:endParaRPr>
          </a:p>
          <a:p>
            <a:pPr marL="50760">
              <a:lnSpc>
                <a:spcPct val="100000"/>
              </a:lnSpc>
              <a:spcBef>
                <a:spcPts val="96"/>
              </a:spcBef>
              <a:buNone/>
            </a:pPr>
            <a:endParaRPr b="0" lang="en-US" sz="1000" spc="-1" strike="noStrike">
              <a:latin typeface="Arial"/>
            </a:endParaRPr>
          </a:p>
          <a:p>
            <a:pPr marL="5076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1000" spc="-1" strike="noStrike">
                <a:solidFill>
                  <a:srgbClr val="3333b2"/>
                </a:solidFill>
                <a:latin typeface="Arial"/>
                <a:ea typeface="DejaVu Sans"/>
              </a:rPr>
              <a:t>Easier to manage</a:t>
            </a:r>
            <a:endParaRPr b="0" lang="en-US" sz="1000" spc="-1" strike="noStrike">
              <a:latin typeface="Arial"/>
            </a:endParaRPr>
          </a:p>
          <a:p>
            <a:pPr marL="50760">
              <a:lnSpc>
                <a:spcPct val="100000"/>
              </a:lnSpc>
              <a:spcBef>
                <a:spcPts val="96"/>
              </a:spcBef>
              <a:buNone/>
            </a:pPr>
            <a:endParaRPr b="0" lang="en-US" sz="1000" spc="-1" strike="noStrike">
              <a:latin typeface="Arial"/>
            </a:endParaRPr>
          </a:p>
          <a:p>
            <a:pPr marL="5076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1000" spc="-1" strike="noStrike">
                <a:solidFill>
                  <a:srgbClr val="3333b2"/>
                </a:solidFill>
                <a:latin typeface="Arial"/>
                <a:ea typeface="DejaVu Sans"/>
              </a:rPr>
              <a:t>But...entire system depends on central server </a:t>
            </a:r>
            <a:endParaRPr b="0" lang="en-US" sz="1000" spc="-1" strike="noStrike">
              <a:latin typeface="Arial"/>
            </a:endParaRPr>
          </a:p>
        </p:txBody>
      </p:sp>
      <p:grpSp>
        <p:nvGrpSpPr>
          <p:cNvPr id="169" name="object 215"/>
          <p:cNvGrpSpPr/>
          <p:nvPr/>
        </p:nvGrpSpPr>
        <p:grpSpPr>
          <a:xfrm>
            <a:off x="0" y="3348360"/>
            <a:ext cx="4605480" cy="105120"/>
            <a:chOff x="0" y="3348360"/>
            <a:chExt cx="4605480" cy="105120"/>
          </a:xfrm>
        </p:grpSpPr>
        <p:sp>
          <p:nvSpPr>
            <p:cNvPr id="170" name="object 216"/>
            <p:cNvSpPr/>
            <p:nvPr/>
          </p:nvSpPr>
          <p:spPr>
            <a:xfrm>
              <a:off x="0" y="3348360"/>
              <a:ext cx="2301480" cy="10512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1" name="object 217"/>
            <p:cNvSpPr/>
            <p:nvPr/>
          </p:nvSpPr>
          <p:spPr>
            <a:xfrm>
              <a:off x="2304000" y="3348360"/>
              <a:ext cx="2301480" cy="10512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72" name="object 218"/>
          <p:cNvSpPr/>
          <p:nvPr/>
        </p:nvSpPr>
        <p:spPr>
          <a:xfrm>
            <a:off x="53640" y="3349800"/>
            <a:ext cx="1168560" cy="8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360" bIns="0" anchor="t">
            <a:spAutoFit/>
          </a:bodyPr>
          <a:p>
            <a:pPr marL="12600">
              <a:lnSpc>
                <a:spcPct val="100000"/>
              </a:lnSpc>
              <a:spcBef>
                <a:spcPts val="74"/>
              </a:spcBef>
              <a:buNone/>
            </a:pPr>
            <a:r>
              <a:rPr b="0" lang="en-US" sz="500" spc="-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Distributed versus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decentralized</a:t>
            </a:r>
            <a:r>
              <a:rPr b="0" lang="en-US" sz="500" spc="-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systems</a:t>
            </a:r>
            <a:endParaRPr b="0" lang="en-US" sz="500" spc="-1" strike="noStrike">
              <a:latin typeface="Arial"/>
            </a:endParaRPr>
          </a:p>
        </p:txBody>
      </p:sp>
      <p:pic>
        <p:nvPicPr>
          <p:cNvPr id="173" name="" descr=""/>
          <p:cNvPicPr/>
          <p:nvPr/>
        </p:nvPicPr>
        <p:blipFill>
          <a:blip r:embed="rId1"/>
          <a:stretch/>
        </p:blipFill>
        <p:spPr>
          <a:xfrm>
            <a:off x="3444120" y="1986480"/>
            <a:ext cx="898560" cy="815400"/>
          </a:xfrm>
          <a:prstGeom prst="rect">
            <a:avLst/>
          </a:prstGeom>
          <a:ln w="0">
            <a:noFill/>
          </a:ln>
        </p:spPr>
      </p:pic>
      <p:pic>
        <p:nvPicPr>
          <p:cNvPr id="174" name="" descr=""/>
          <p:cNvPicPr/>
          <p:nvPr/>
        </p:nvPicPr>
        <p:blipFill>
          <a:blip r:embed="rId2"/>
          <a:stretch/>
        </p:blipFill>
        <p:spPr>
          <a:xfrm>
            <a:off x="3677040" y="550800"/>
            <a:ext cx="691200" cy="725040"/>
          </a:xfrm>
          <a:prstGeom prst="rect">
            <a:avLst/>
          </a:prstGeom>
          <a:ln w="0">
            <a:noFill/>
          </a:ln>
        </p:spPr>
      </p:pic>
    </p:spTree>
  </p:cSld>
  <p:transition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object 219"/>
          <p:cNvSpPr/>
          <p:nvPr/>
        </p:nvSpPr>
        <p:spPr>
          <a:xfrm>
            <a:off x="53640" y="-1440"/>
            <a:ext cx="4498560" cy="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  <a:tabLst>
                <a:tab algn="l" pos="3156120"/>
              </a:tabLst>
            </a:pP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Introduction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r>
              <a:rPr b="0" lang="en-US" sz="500" spc="-12" strike="noStrike">
                <a:solidFill>
                  <a:srgbClr val="000000"/>
                </a:solidFill>
                <a:latin typeface="Arial"/>
                <a:ea typeface="DejaVu Sans"/>
              </a:rPr>
              <a:t>From</a:t>
            </a:r>
            <a:r>
              <a:rPr b="0" lang="en-US" sz="500" spc="-7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500" spc="-12" strike="noStrike">
                <a:solidFill>
                  <a:srgbClr val="000000"/>
                </a:solidFill>
                <a:latin typeface="Arial"/>
                <a:ea typeface="DejaVu Sans"/>
              </a:rPr>
              <a:t>networked</a:t>
            </a:r>
            <a:r>
              <a:rPr b="0" lang="en-US" sz="500" spc="-7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  <a:ea typeface="DejaVu Sans"/>
              </a:rPr>
              <a:t>systems to</a:t>
            </a:r>
            <a:r>
              <a:rPr b="0" lang="en-US" sz="500" spc="-7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  <a:ea typeface="DejaVu Sans"/>
              </a:rPr>
              <a:t>distributed</a:t>
            </a:r>
            <a:r>
              <a:rPr b="0" lang="en-US" sz="500" spc="-7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systems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95400" y="197640"/>
            <a:ext cx="2448360" cy="58752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1200" spc="-1" strike="noStrike">
                <a:solidFill>
                  <a:srgbClr val="3333b2"/>
                </a:solidFill>
                <a:latin typeface="Arial"/>
              </a:rPr>
              <a:t>Distributed vs Parallel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77" name="object 220"/>
          <p:cNvSpPr/>
          <p:nvPr/>
        </p:nvSpPr>
        <p:spPr>
          <a:xfrm>
            <a:off x="89280" y="694800"/>
            <a:ext cx="42660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5076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1000" spc="-1" strike="noStrike">
                <a:solidFill>
                  <a:srgbClr val="3333b2"/>
                </a:solidFill>
                <a:latin typeface="Arial"/>
                <a:ea typeface="DejaVu Sans"/>
              </a:rPr>
              <a:t>Distributed computing uses multiple computers in a network</a:t>
            </a:r>
            <a:endParaRPr b="0" lang="en-US" sz="1000" spc="-1" strike="noStrike">
              <a:latin typeface="Arial"/>
            </a:endParaRPr>
          </a:p>
          <a:p>
            <a:pPr marL="5076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1000" spc="-1" strike="noStrike">
                <a:solidFill>
                  <a:srgbClr val="3333b2"/>
                </a:solidFill>
                <a:latin typeface="Arial"/>
                <a:ea typeface="DejaVu Sans"/>
              </a:rPr>
              <a:t>Each node has its own memory</a:t>
            </a:r>
            <a:endParaRPr b="0" lang="en-US" sz="1000" spc="-1" strike="noStrike">
              <a:latin typeface="Arial"/>
            </a:endParaRPr>
          </a:p>
          <a:p>
            <a:pPr marL="50760">
              <a:lnSpc>
                <a:spcPct val="100000"/>
              </a:lnSpc>
              <a:spcBef>
                <a:spcPts val="96"/>
              </a:spcBef>
              <a:buNone/>
            </a:pPr>
            <a:endParaRPr b="0" lang="en-US" sz="1000" spc="-1" strike="noStrike">
              <a:latin typeface="Arial"/>
            </a:endParaRPr>
          </a:p>
          <a:p>
            <a:pPr marL="5076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1000" spc="-1" strike="noStrike">
                <a:solidFill>
                  <a:srgbClr val="3333b2"/>
                </a:solidFill>
                <a:latin typeface="Arial"/>
                <a:ea typeface="DejaVu Sans"/>
              </a:rPr>
              <a:t>Parallel computing usually uses one computer with multiple processors</a:t>
            </a:r>
            <a:endParaRPr b="0" lang="en-US" sz="1000" spc="-1" strike="noStrike">
              <a:latin typeface="Arial"/>
            </a:endParaRPr>
          </a:p>
          <a:p>
            <a:pPr marL="5076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1000" spc="-1" strike="noStrike">
                <a:solidFill>
                  <a:srgbClr val="3333b2"/>
                </a:solidFill>
                <a:latin typeface="Arial"/>
                <a:ea typeface="DejaVu Sans"/>
              </a:rPr>
              <a:t>There is a single memory unit</a:t>
            </a:r>
            <a:endParaRPr b="0" lang="en-US" sz="1000" spc="-1" strike="noStrike">
              <a:latin typeface="Arial"/>
            </a:endParaRPr>
          </a:p>
        </p:txBody>
      </p:sp>
      <p:grpSp>
        <p:nvGrpSpPr>
          <p:cNvPr id="178" name="object 221"/>
          <p:cNvGrpSpPr/>
          <p:nvPr/>
        </p:nvGrpSpPr>
        <p:grpSpPr>
          <a:xfrm>
            <a:off x="0" y="3348360"/>
            <a:ext cx="4605480" cy="105120"/>
            <a:chOff x="0" y="3348360"/>
            <a:chExt cx="4605480" cy="105120"/>
          </a:xfrm>
        </p:grpSpPr>
        <p:sp>
          <p:nvSpPr>
            <p:cNvPr id="179" name="object 222"/>
            <p:cNvSpPr/>
            <p:nvPr/>
          </p:nvSpPr>
          <p:spPr>
            <a:xfrm>
              <a:off x="0" y="3348360"/>
              <a:ext cx="2301480" cy="10512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0" name="object 223"/>
            <p:cNvSpPr/>
            <p:nvPr/>
          </p:nvSpPr>
          <p:spPr>
            <a:xfrm>
              <a:off x="2304000" y="3348360"/>
              <a:ext cx="2301480" cy="10512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81" name="object 224"/>
          <p:cNvSpPr/>
          <p:nvPr/>
        </p:nvSpPr>
        <p:spPr>
          <a:xfrm>
            <a:off x="53640" y="3349800"/>
            <a:ext cx="1168560" cy="8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360" bIns="0" anchor="t">
            <a:spAutoFit/>
          </a:bodyPr>
          <a:p>
            <a:pPr marL="12600">
              <a:lnSpc>
                <a:spcPct val="100000"/>
              </a:lnSpc>
              <a:spcBef>
                <a:spcPts val="74"/>
              </a:spcBef>
              <a:buNone/>
            </a:pPr>
            <a:r>
              <a:rPr b="0" lang="en-US" sz="500" spc="-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Distributed versus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decentralized</a:t>
            </a:r>
            <a:r>
              <a:rPr b="0" lang="en-US" sz="500" spc="-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systems</a:t>
            </a:r>
            <a:endParaRPr b="0" lang="en-US" sz="500" spc="-1" strike="noStrike">
              <a:latin typeface="Arial"/>
            </a:endParaRPr>
          </a:p>
        </p:txBody>
      </p:sp>
      <p:pic>
        <p:nvPicPr>
          <p:cNvPr id="182" name="" descr=""/>
          <p:cNvPicPr/>
          <p:nvPr/>
        </p:nvPicPr>
        <p:blipFill>
          <a:blip r:embed="rId1"/>
          <a:stretch/>
        </p:blipFill>
        <p:spPr>
          <a:xfrm>
            <a:off x="2463840" y="2021400"/>
            <a:ext cx="1950840" cy="911160"/>
          </a:xfrm>
          <a:prstGeom prst="rect">
            <a:avLst/>
          </a:prstGeom>
          <a:ln w="0">
            <a:noFill/>
          </a:ln>
        </p:spPr>
      </p:pic>
      <p:pic>
        <p:nvPicPr>
          <p:cNvPr id="183" name="" descr=""/>
          <p:cNvPicPr/>
          <p:nvPr/>
        </p:nvPicPr>
        <p:blipFill>
          <a:blip r:embed="rId2"/>
          <a:stretch/>
        </p:blipFill>
        <p:spPr>
          <a:xfrm>
            <a:off x="108000" y="1828800"/>
            <a:ext cx="2304000" cy="1262880"/>
          </a:xfrm>
          <a:prstGeom prst="rect">
            <a:avLst/>
          </a:prstGeom>
          <a:ln w="0">
            <a:noFill/>
          </a:ln>
        </p:spPr>
      </p:pic>
      <p:sp>
        <p:nvSpPr>
          <p:cNvPr id="184" name=""/>
          <p:cNvSpPr/>
          <p:nvPr/>
        </p:nvSpPr>
        <p:spPr>
          <a:xfrm>
            <a:off x="183960" y="3085920"/>
            <a:ext cx="42490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  <a:ea typeface="DejaVu Sans"/>
              </a:rPr>
              <a:t>Source: https://www.geeksforgeeks.org/different-computing-paradigms/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85" name=""/>
          <p:cNvSpPr/>
          <p:nvPr/>
        </p:nvSpPr>
        <p:spPr>
          <a:xfrm>
            <a:off x="86760" y="1686960"/>
            <a:ext cx="174132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3333b2"/>
                </a:solidFill>
                <a:latin typeface="Arial"/>
                <a:ea typeface="DejaVu Sans"/>
              </a:rPr>
              <a:t>Distributed Computing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86" name=""/>
          <p:cNvSpPr/>
          <p:nvPr/>
        </p:nvSpPr>
        <p:spPr>
          <a:xfrm>
            <a:off x="2463120" y="1687320"/>
            <a:ext cx="174132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3333b2"/>
                </a:solidFill>
                <a:latin typeface="Arial"/>
                <a:ea typeface="DejaVu Sans"/>
              </a:rPr>
              <a:t>Parallel Computing</a:t>
            </a:r>
            <a:endParaRPr b="0" lang="en-US" sz="1000" spc="-1" strike="noStrike">
              <a:latin typeface="Arial"/>
            </a:endParaRPr>
          </a:p>
        </p:txBody>
      </p:sp>
    </p:spTree>
  </p:cSld>
  <p:transition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object 47"/>
          <p:cNvSpPr/>
          <p:nvPr/>
        </p:nvSpPr>
        <p:spPr>
          <a:xfrm>
            <a:off x="53640" y="-1440"/>
            <a:ext cx="4498560" cy="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  <a:tabLst>
                <a:tab algn="l" pos="3156120"/>
              </a:tabLst>
            </a:pP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Introduction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r>
              <a:rPr b="0" lang="en-US" sz="500" spc="-12" strike="noStrike">
                <a:solidFill>
                  <a:srgbClr val="000000"/>
                </a:solidFill>
                <a:latin typeface="Arial"/>
                <a:ea typeface="DejaVu Sans"/>
              </a:rPr>
              <a:t>From</a:t>
            </a:r>
            <a:r>
              <a:rPr b="0" lang="en-US" sz="500" spc="-7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500" spc="-12" strike="noStrike">
                <a:solidFill>
                  <a:srgbClr val="000000"/>
                </a:solidFill>
                <a:latin typeface="Arial"/>
                <a:ea typeface="DejaVu Sans"/>
              </a:rPr>
              <a:t>networked</a:t>
            </a:r>
            <a:r>
              <a:rPr b="0" lang="en-US" sz="500" spc="-7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  <a:ea typeface="DejaVu Sans"/>
              </a:rPr>
              <a:t>systems to</a:t>
            </a:r>
            <a:r>
              <a:rPr b="0" lang="en-US" sz="500" spc="-7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  <a:ea typeface="DejaVu Sans"/>
              </a:rPr>
              <a:t>distributed</a:t>
            </a:r>
            <a:r>
              <a:rPr b="0" lang="en-US" sz="500" spc="-7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systems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95400" y="197640"/>
            <a:ext cx="2448360" cy="58752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1200" spc="-1" strike="noStrike">
                <a:solidFill>
                  <a:srgbClr val="3333b2"/>
                </a:solidFill>
                <a:latin typeface="Arial"/>
              </a:rPr>
              <a:t>Distributed System – Example 1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89" name="object 48"/>
          <p:cNvSpPr/>
          <p:nvPr/>
        </p:nvSpPr>
        <p:spPr>
          <a:xfrm>
            <a:off x="341280" y="946800"/>
            <a:ext cx="3989520" cy="113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50760">
              <a:lnSpc>
                <a:spcPct val="100000"/>
              </a:lnSpc>
              <a:spcBef>
                <a:spcPts val="96"/>
              </a:spcBef>
              <a:buNone/>
            </a:pPr>
            <a:r>
              <a:rPr b="1" lang="en-US" sz="1000" spc="-1" strike="noStrike">
                <a:solidFill>
                  <a:srgbClr val="3333b2"/>
                </a:solidFill>
                <a:latin typeface="Arial"/>
                <a:ea typeface="DejaVu Sans"/>
              </a:rPr>
              <a:t>Gmail</a:t>
            </a:r>
            <a:endParaRPr b="0" lang="en-US" sz="1000" spc="-1" strike="noStrike">
              <a:latin typeface="Arial"/>
            </a:endParaRPr>
          </a:p>
          <a:p>
            <a:pPr marL="5076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1000" spc="-1" strike="noStrike">
                <a:solidFill>
                  <a:srgbClr val="3333b2"/>
                </a:solidFill>
                <a:latin typeface="Arial"/>
                <a:ea typeface="DejaVu Sans"/>
              </a:rPr>
              <a:t>Close to 1.8 billion users as of 2025</a:t>
            </a:r>
            <a:endParaRPr b="0" lang="en-US" sz="1000" spc="-1" strike="noStrike">
              <a:latin typeface="Arial"/>
            </a:endParaRPr>
          </a:p>
          <a:p>
            <a:pPr marL="50760">
              <a:lnSpc>
                <a:spcPct val="100000"/>
              </a:lnSpc>
              <a:spcBef>
                <a:spcPts val="96"/>
              </a:spcBef>
              <a:buNone/>
            </a:pPr>
            <a:endParaRPr b="0" lang="en-US" sz="1000" spc="-1" strike="noStrike">
              <a:latin typeface="Arial"/>
            </a:endParaRPr>
          </a:p>
          <a:p>
            <a:pPr marL="5076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1000" spc="-1" strike="noStrike">
                <a:solidFill>
                  <a:srgbClr val="3333b2"/>
                </a:solidFill>
                <a:latin typeface="Arial"/>
                <a:ea typeface="DejaVu Sans"/>
              </a:rPr>
              <a:t>Seems to use two servers: inbox and outbox</a:t>
            </a:r>
            <a:endParaRPr b="0" lang="en-US" sz="1000" spc="-1" strike="noStrike">
              <a:latin typeface="Arial"/>
            </a:endParaRPr>
          </a:p>
          <a:p>
            <a:pPr marL="50760">
              <a:lnSpc>
                <a:spcPct val="100000"/>
              </a:lnSpc>
              <a:spcBef>
                <a:spcPts val="96"/>
              </a:spcBef>
              <a:buNone/>
            </a:pPr>
            <a:endParaRPr b="0" lang="en-US" sz="1000" spc="-1" strike="noStrike">
              <a:latin typeface="Arial"/>
            </a:endParaRPr>
          </a:p>
          <a:p>
            <a:pPr marL="5076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1000" spc="-1" strike="noStrike">
                <a:solidFill>
                  <a:srgbClr val="3333b2"/>
                </a:solidFill>
                <a:latin typeface="Arial"/>
                <a:ea typeface="DejaVu Sans"/>
              </a:rPr>
              <a:t>Behind the scenes, the entire Google Mail service has been implemented and spread across many computers</a:t>
            </a:r>
            <a:endParaRPr b="0" lang="en-US" sz="1000" spc="-1" strike="noStrike">
              <a:latin typeface="Arial"/>
            </a:endParaRPr>
          </a:p>
        </p:txBody>
      </p:sp>
      <p:grpSp>
        <p:nvGrpSpPr>
          <p:cNvPr id="190" name="object 49"/>
          <p:cNvGrpSpPr/>
          <p:nvPr/>
        </p:nvGrpSpPr>
        <p:grpSpPr>
          <a:xfrm>
            <a:off x="0" y="3348360"/>
            <a:ext cx="4605480" cy="105120"/>
            <a:chOff x="0" y="3348360"/>
            <a:chExt cx="4605480" cy="105120"/>
          </a:xfrm>
        </p:grpSpPr>
        <p:sp>
          <p:nvSpPr>
            <p:cNvPr id="191" name="object 50"/>
            <p:cNvSpPr/>
            <p:nvPr/>
          </p:nvSpPr>
          <p:spPr>
            <a:xfrm>
              <a:off x="0" y="3348360"/>
              <a:ext cx="2301480" cy="10512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2" name="object 51"/>
            <p:cNvSpPr/>
            <p:nvPr/>
          </p:nvSpPr>
          <p:spPr>
            <a:xfrm>
              <a:off x="2304000" y="3348360"/>
              <a:ext cx="2301480" cy="10512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93" name="object 52"/>
          <p:cNvSpPr/>
          <p:nvPr/>
        </p:nvSpPr>
        <p:spPr>
          <a:xfrm>
            <a:off x="53640" y="3349800"/>
            <a:ext cx="1168560" cy="8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360" bIns="0" anchor="t">
            <a:spAutoFit/>
          </a:bodyPr>
          <a:p>
            <a:pPr marL="12600">
              <a:lnSpc>
                <a:spcPct val="100000"/>
              </a:lnSpc>
              <a:spcBef>
                <a:spcPts val="74"/>
              </a:spcBef>
              <a:buNone/>
            </a:pPr>
            <a:r>
              <a:rPr b="0" lang="en-US" sz="500" spc="-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Distributed versus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decentralized</a:t>
            </a:r>
            <a:r>
              <a:rPr b="0" lang="en-US" sz="500" spc="-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systems</a:t>
            </a:r>
            <a:endParaRPr b="0" lang="en-US" sz="500" spc="-1" strike="noStrike">
              <a:latin typeface="Arial"/>
            </a:endParaRPr>
          </a:p>
        </p:txBody>
      </p:sp>
    </p:spTree>
  </p:cSld>
  <p:transition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object 53"/>
          <p:cNvSpPr/>
          <p:nvPr/>
        </p:nvSpPr>
        <p:spPr>
          <a:xfrm>
            <a:off x="53640" y="-1440"/>
            <a:ext cx="4498560" cy="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  <a:tabLst>
                <a:tab algn="l" pos="3156120"/>
              </a:tabLst>
            </a:pP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Introduction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r>
              <a:rPr b="0" lang="en-US" sz="500" spc="-12" strike="noStrike">
                <a:solidFill>
                  <a:srgbClr val="000000"/>
                </a:solidFill>
                <a:latin typeface="Arial"/>
                <a:ea typeface="DejaVu Sans"/>
              </a:rPr>
              <a:t>From</a:t>
            </a:r>
            <a:r>
              <a:rPr b="0" lang="en-US" sz="500" spc="-7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500" spc="-12" strike="noStrike">
                <a:solidFill>
                  <a:srgbClr val="000000"/>
                </a:solidFill>
                <a:latin typeface="Arial"/>
                <a:ea typeface="DejaVu Sans"/>
              </a:rPr>
              <a:t>networked</a:t>
            </a:r>
            <a:r>
              <a:rPr b="0" lang="en-US" sz="500" spc="-7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  <a:ea typeface="DejaVu Sans"/>
              </a:rPr>
              <a:t>systems to</a:t>
            </a:r>
            <a:r>
              <a:rPr b="0" lang="en-US" sz="500" spc="-7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  <a:ea typeface="DejaVu Sans"/>
              </a:rPr>
              <a:t>distributed</a:t>
            </a:r>
            <a:r>
              <a:rPr b="0" lang="en-US" sz="500" spc="-7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systems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95400" y="197640"/>
            <a:ext cx="2448360" cy="58752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1200" spc="-1" strike="noStrike">
                <a:solidFill>
                  <a:srgbClr val="3333b2"/>
                </a:solidFill>
                <a:latin typeface="Arial"/>
              </a:rPr>
              <a:t>Distributed System – Example 2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96" name="object 54"/>
          <p:cNvSpPr/>
          <p:nvPr/>
        </p:nvSpPr>
        <p:spPr>
          <a:xfrm>
            <a:off x="305280" y="946800"/>
            <a:ext cx="3989520" cy="130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50760">
              <a:lnSpc>
                <a:spcPct val="100000"/>
              </a:lnSpc>
              <a:spcBef>
                <a:spcPts val="96"/>
              </a:spcBef>
              <a:buNone/>
            </a:pPr>
            <a:r>
              <a:rPr b="1" lang="en-US" sz="1000" spc="-1" strike="noStrike">
                <a:solidFill>
                  <a:srgbClr val="3333b2"/>
                </a:solidFill>
                <a:latin typeface="Arial"/>
                <a:ea typeface="DejaVu Sans"/>
              </a:rPr>
              <a:t>Content Delivery Networks (CDNs)</a:t>
            </a:r>
            <a:endParaRPr b="0" lang="en-US" sz="1000" spc="-1" strike="noStrike">
              <a:latin typeface="Arial"/>
            </a:endParaRPr>
          </a:p>
          <a:p>
            <a:pPr marL="50760">
              <a:lnSpc>
                <a:spcPct val="100000"/>
              </a:lnSpc>
              <a:spcBef>
                <a:spcPts val="96"/>
              </a:spcBef>
              <a:buNone/>
            </a:pPr>
            <a:endParaRPr b="0" lang="en-US" sz="1000" spc="-1" strike="noStrike">
              <a:latin typeface="Arial"/>
            </a:endParaRPr>
          </a:p>
          <a:p>
            <a:pPr marL="5076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1000" spc="-1" strike="noStrike">
                <a:solidFill>
                  <a:srgbClr val="3333b2"/>
                </a:solidFill>
                <a:latin typeface="Arial"/>
                <a:ea typeface="DejaVu Sans"/>
              </a:rPr>
              <a:t>Geographically distributed network of servers and their data centers</a:t>
            </a:r>
            <a:endParaRPr b="0" lang="en-US" sz="1000" spc="-1" strike="noStrike">
              <a:latin typeface="Arial"/>
            </a:endParaRPr>
          </a:p>
          <a:p>
            <a:pPr marL="50760">
              <a:lnSpc>
                <a:spcPct val="100000"/>
              </a:lnSpc>
              <a:spcBef>
                <a:spcPts val="96"/>
              </a:spcBef>
              <a:buNone/>
            </a:pPr>
            <a:endParaRPr b="0" lang="en-US" sz="1000" spc="-1" strike="noStrike">
              <a:latin typeface="Arial"/>
            </a:endParaRPr>
          </a:p>
          <a:p>
            <a:pPr marL="5076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1000" spc="-1" strike="noStrike">
                <a:solidFill>
                  <a:srgbClr val="3333b2"/>
                </a:solidFill>
                <a:latin typeface="Arial"/>
                <a:ea typeface="DejaVu Sans"/>
              </a:rPr>
              <a:t>Content copied and spread across various servers of the CDN </a:t>
            </a:r>
            <a:endParaRPr b="0" lang="en-US" sz="1000" spc="-1" strike="noStrike">
              <a:latin typeface="Arial"/>
            </a:endParaRPr>
          </a:p>
          <a:p>
            <a:pPr marL="50760">
              <a:lnSpc>
                <a:spcPct val="100000"/>
              </a:lnSpc>
              <a:spcBef>
                <a:spcPts val="96"/>
              </a:spcBef>
              <a:buNone/>
            </a:pPr>
            <a:endParaRPr b="0" lang="en-US" sz="1000" spc="-1" strike="noStrike">
              <a:latin typeface="Arial"/>
            </a:endParaRPr>
          </a:p>
          <a:p>
            <a:pPr marL="5076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1000" spc="-1" strike="noStrike">
                <a:solidFill>
                  <a:srgbClr val="3333b2"/>
                </a:solidFill>
                <a:latin typeface="Arial"/>
                <a:ea typeface="DejaVu Sans"/>
              </a:rPr>
              <a:t>When visiting a website, user is redirected to nearby server that holds relevant content.</a:t>
            </a:r>
            <a:endParaRPr b="0" lang="en-US" sz="1000" spc="-1" strike="noStrike">
              <a:latin typeface="Arial"/>
            </a:endParaRPr>
          </a:p>
        </p:txBody>
      </p:sp>
      <p:grpSp>
        <p:nvGrpSpPr>
          <p:cNvPr id="197" name="object 55"/>
          <p:cNvGrpSpPr/>
          <p:nvPr/>
        </p:nvGrpSpPr>
        <p:grpSpPr>
          <a:xfrm>
            <a:off x="0" y="3348360"/>
            <a:ext cx="4605480" cy="105120"/>
            <a:chOff x="0" y="3348360"/>
            <a:chExt cx="4605480" cy="105120"/>
          </a:xfrm>
        </p:grpSpPr>
        <p:sp>
          <p:nvSpPr>
            <p:cNvPr id="198" name="object 56"/>
            <p:cNvSpPr/>
            <p:nvPr/>
          </p:nvSpPr>
          <p:spPr>
            <a:xfrm>
              <a:off x="0" y="3348360"/>
              <a:ext cx="2301480" cy="10512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9" name="object 57"/>
            <p:cNvSpPr/>
            <p:nvPr/>
          </p:nvSpPr>
          <p:spPr>
            <a:xfrm>
              <a:off x="2304000" y="3348360"/>
              <a:ext cx="2301480" cy="10512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200" name="object 58"/>
          <p:cNvSpPr/>
          <p:nvPr/>
        </p:nvSpPr>
        <p:spPr>
          <a:xfrm>
            <a:off x="53640" y="3349800"/>
            <a:ext cx="1168560" cy="8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360" bIns="0" anchor="t">
            <a:spAutoFit/>
          </a:bodyPr>
          <a:p>
            <a:pPr marL="12600">
              <a:lnSpc>
                <a:spcPct val="100000"/>
              </a:lnSpc>
              <a:spcBef>
                <a:spcPts val="74"/>
              </a:spcBef>
              <a:buNone/>
            </a:pPr>
            <a:r>
              <a:rPr b="0" lang="en-US" sz="500" spc="-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Distributed versus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decentralized</a:t>
            </a:r>
            <a:r>
              <a:rPr b="0" lang="en-US" sz="500" spc="-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systems</a:t>
            </a:r>
            <a:endParaRPr b="0" lang="en-US" sz="500" spc="-1" strike="noStrike">
              <a:latin typeface="Arial"/>
            </a:endParaRPr>
          </a:p>
        </p:txBody>
      </p:sp>
      <p:pic>
        <p:nvPicPr>
          <p:cNvPr id="201" name="" descr=""/>
          <p:cNvPicPr/>
          <p:nvPr/>
        </p:nvPicPr>
        <p:blipFill>
          <a:blip r:embed="rId1"/>
          <a:stretch/>
        </p:blipFill>
        <p:spPr>
          <a:xfrm>
            <a:off x="3429000" y="246600"/>
            <a:ext cx="912240" cy="743400"/>
          </a:xfrm>
          <a:prstGeom prst="rect">
            <a:avLst/>
          </a:prstGeom>
          <a:ln w="0">
            <a:noFill/>
          </a:ln>
        </p:spPr>
      </p:pic>
      <p:sp>
        <p:nvSpPr>
          <p:cNvPr id="202" name=""/>
          <p:cNvSpPr/>
          <p:nvPr/>
        </p:nvSpPr>
        <p:spPr>
          <a:xfrm>
            <a:off x="3321000" y="999000"/>
            <a:ext cx="124884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  <a:ea typeface="DejaVu Sans"/>
              </a:rPr>
              <a:t>Source: Wikipedia</a:t>
            </a:r>
            <a:endParaRPr b="0" lang="en-US" sz="800" spc="-1" strike="noStrike">
              <a:latin typeface="Arial"/>
            </a:endParaRPr>
          </a:p>
        </p:txBody>
      </p:sp>
    </p:spTree>
  </p:cSld>
  <p:transition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object 207"/>
          <p:cNvSpPr/>
          <p:nvPr/>
        </p:nvSpPr>
        <p:spPr>
          <a:xfrm>
            <a:off x="53640" y="-1440"/>
            <a:ext cx="4498560" cy="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  <a:tabLst>
                <a:tab algn="l" pos="3156120"/>
              </a:tabLst>
            </a:pP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Introduction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r>
              <a:rPr b="0" lang="en-US" sz="500" spc="-12" strike="noStrike">
                <a:solidFill>
                  <a:srgbClr val="000000"/>
                </a:solidFill>
                <a:latin typeface="Arial"/>
                <a:ea typeface="DejaVu Sans"/>
              </a:rPr>
              <a:t>From</a:t>
            </a:r>
            <a:r>
              <a:rPr b="0" lang="en-US" sz="500" spc="-7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500" spc="-12" strike="noStrike">
                <a:solidFill>
                  <a:srgbClr val="000000"/>
                </a:solidFill>
                <a:latin typeface="Arial"/>
                <a:ea typeface="DejaVu Sans"/>
              </a:rPr>
              <a:t>networked</a:t>
            </a:r>
            <a:r>
              <a:rPr b="0" lang="en-US" sz="500" spc="-7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  <a:ea typeface="DejaVu Sans"/>
              </a:rPr>
              <a:t>systems to</a:t>
            </a:r>
            <a:r>
              <a:rPr b="0" lang="en-US" sz="500" spc="-7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  <a:ea typeface="DejaVu Sans"/>
              </a:rPr>
              <a:t>distributed</a:t>
            </a:r>
            <a:r>
              <a:rPr b="0" lang="en-US" sz="500" spc="-7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systems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204" name="PlaceHolder 1"/>
          <p:cNvSpPr>
            <a:spLocks noGrp="1"/>
          </p:cNvSpPr>
          <p:nvPr>
            <p:ph type="title"/>
          </p:nvPr>
        </p:nvSpPr>
        <p:spPr>
          <a:xfrm>
            <a:off x="95400" y="197640"/>
            <a:ext cx="2448360" cy="58752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1200" spc="-1" strike="noStrike">
                <a:solidFill>
                  <a:srgbClr val="3333b2"/>
                </a:solidFill>
                <a:latin typeface="Arial"/>
              </a:rPr>
              <a:t>Distributed System – Example 3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05" name="object 208"/>
          <p:cNvSpPr/>
          <p:nvPr/>
        </p:nvSpPr>
        <p:spPr>
          <a:xfrm>
            <a:off x="305280" y="946800"/>
            <a:ext cx="3989520" cy="174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50760">
              <a:lnSpc>
                <a:spcPct val="100000"/>
              </a:lnSpc>
              <a:spcBef>
                <a:spcPts val="96"/>
              </a:spcBef>
              <a:buNone/>
            </a:pPr>
            <a:r>
              <a:rPr b="1" lang="en-US" sz="1000" spc="-1" strike="noStrike">
                <a:solidFill>
                  <a:srgbClr val="3333b2"/>
                </a:solidFill>
                <a:latin typeface="Arial"/>
                <a:ea typeface="DejaVu Sans"/>
              </a:rPr>
              <a:t>Distributed Database (e.g., Amazon DynamoDB)</a:t>
            </a:r>
            <a:endParaRPr b="0" lang="en-US" sz="1000" spc="-1" strike="noStrike">
              <a:latin typeface="Arial"/>
            </a:endParaRPr>
          </a:p>
          <a:p>
            <a:pPr marL="50760">
              <a:lnSpc>
                <a:spcPct val="100000"/>
              </a:lnSpc>
              <a:spcBef>
                <a:spcPts val="96"/>
              </a:spcBef>
              <a:buNone/>
            </a:pPr>
            <a:br>
              <a:rPr sz="1000"/>
            </a:br>
            <a:r>
              <a:rPr b="1" lang="en-US" sz="1000" spc="-1" strike="noStrike">
                <a:solidFill>
                  <a:srgbClr val="3333b2"/>
                </a:solidFill>
                <a:latin typeface="Arial"/>
                <a:ea typeface="DejaVu Sans"/>
              </a:rPr>
              <a:t>Scalable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  <a:ea typeface="DejaVu Sans"/>
              </a:rPr>
              <a:t>: Automatically distributes data and traffic across multiple servers to handle varying throughput and storage requirements. </a:t>
            </a:r>
            <a:endParaRPr b="0" lang="en-US" sz="1000" spc="-1" strike="noStrike">
              <a:latin typeface="Arial"/>
            </a:endParaRPr>
          </a:p>
          <a:p>
            <a:pPr marL="50760">
              <a:lnSpc>
                <a:spcPct val="100000"/>
              </a:lnSpc>
              <a:spcBef>
                <a:spcPts val="96"/>
              </a:spcBef>
              <a:buNone/>
            </a:pPr>
            <a:endParaRPr b="0" lang="en-US" sz="1000" spc="-1" strike="noStrike">
              <a:latin typeface="Arial"/>
            </a:endParaRPr>
          </a:p>
          <a:p>
            <a:pPr marL="50760">
              <a:lnSpc>
                <a:spcPct val="100000"/>
              </a:lnSpc>
              <a:spcBef>
                <a:spcPts val="96"/>
              </a:spcBef>
              <a:buNone/>
            </a:pPr>
            <a:r>
              <a:rPr b="1" lang="en-US" sz="1000" spc="-1" strike="noStrike">
                <a:solidFill>
                  <a:srgbClr val="3333b2"/>
                </a:solidFill>
                <a:latin typeface="Arial"/>
                <a:ea typeface="DejaVu Sans"/>
              </a:rPr>
              <a:t>High Availability and Durability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  <a:ea typeface="DejaVu Sans"/>
              </a:rPr>
              <a:t>:</a:t>
            </a:r>
            <a:endParaRPr b="0" lang="en-US" sz="1000" spc="-1" strike="noStrike">
              <a:latin typeface="Arial"/>
            </a:endParaRPr>
          </a:p>
          <a:p>
            <a:pPr marL="5076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1000" spc="-1" strike="noStrike">
                <a:solidFill>
                  <a:srgbClr val="3333b2"/>
                </a:solidFill>
                <a:latin typeface="Arial"/>
                <a:ea typeface="DejaVu Sans"/>
              </a:rPr>
              <a:t>Data automatically replicated across multiple Availability Zones within an AWS Region.</a:t>
            </a:r>
            <a:br>
              <a:rPr sz="1000"/>
            </a:br>
            <a:endParaRPr b="0" lang="en-US" sz="1000" spc="-1" strike="noStrike">
              <a:latin typeface="Arial"/>
            </a:endParaRPr>
          </a:p>
          <a:p>
            <a:pPr marL="50760">
              <a:lnSpc>
                <a:spcPct val="100000"/>
              </a:lnSpc>
              <a:spcBef>
                <a:spcPts val="96"/>
              </a:spcBef>
              <a:buNone/>
            </a:pPr>
            <a:r>
              <a:rPr b="1" lang="en-US" sz="1000" spc="-1" strike="noStrike">
                <a:solidFill>
                  <a:srgbClr val="3333b2"/>
                </a:solidFill>
                <a:latin typeface="Arial"/>
                <a:ea typeface="DejaVu Sans"/>
              </a:rPr>
              <a:t>Flexibility and Data Model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  <a:ea typeface="DejaVu Sans"/>
              </a:rPr>
              <a:t>: DynamoDB supports a flexible NoSQL data model, accommodating both key-value and document data.</a:t>
            </a:r>
            <a:endParaRPr b="0" lang="en-US" sz="1000" spc="-1" strike="noStrike">
              <a:latin typeface="Arial"/>
            </a:endParaRPr>
          </a:p>
        </p:txBody>
      </p:sp>
      <p:grpSp>
        <p:nvGrpSpPr>
          <p:cNvPr id="206" name="object 209"/>
          <p:cNvGrpSpPr/>
          <p:nvPr/>
        </p:nvGrpSpPr>
        <p:grpSpPr>
          <a:xfrm>
            <a:off x="0" y="3348360"/>
            <a:ext cx="4605480" cy="105120"/>
            <a:chOff x="0" y="3348360"/>
            <a:chExt cx="4605480" cy="105120"/>
          </a:xfrm>
        </p:grpSpPr>
        <p:sp>
          <p:nvSpPr>
            <p:cNvPr id="207" name="object 210"/>
            <p:cNvSpPr/>
            <p:nvPr/>
          </p:nvSpPr>
          <p:spPr>
            <a:xfrm>
              <a:off x="0" y="3348360"/>
              <a:ext cx="2301480" cy="10512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8" name="object 211"/>
            <p:cNvSpPr/>
            <p:nvPr/>
          </p:nvSpPr>
          <p:spPr>
            <a:xfrm>
              <a:off x="2304000" y="3348360"/>
              <a:ext cx="2301480" cy="10512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209" name="object 212"/>
          <p:cNvSpPr/>
          <p:nvPr/>
        </p:nvSpPr>
        <p:spPr>
          <a:xfrm>
            <a:off x="53640" y="3349800"/>
            <a:ext cx="1168560" cy="8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360" bIns="0" anchor="t">
            <a:spAutoFit/>
          </a:bodyPr>
          <a:p>
            <a:pPr marL="12600">
              <a:lnSpc>
                <a:spcPct val="100000"/>
              </a:lnSpc>
              <a:spcBef>
                <a:spcPts val="74"/>
              </a:spcBef>
              <a:buNone/>
            </a:pPr>
            <a:r>
              <a:rPr b="0" lang="en-US" sz="500" spc="-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Distributed versus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decentralized</a:t>
            </a:r>
            <a:r>
              <a:rPr b="0" lang="en-US" sz="500" spc="-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systems</a:t>
            </a:r>
            <a:endParaRPr b="0" lang="en-US" sz="500" spc="-1" strike="noStrike">
              <a:latin typeface="Arial"/>
            </a:endParaRPr>
          </a:p>
        </p:txBody>
      </p:sp>
      <p:pic>
        <p:nvPicPr>
          <p:cNvPr id="210" name="" descr=""/>
          <p:cNvPicPr/>
          <p:nvPr/>
        </p:nvPicPr>
        <p:blipFill>
          <a:blip r:embed="rId1"/>
          <a:stretch/>
        </p:blipFill>
        <p:spPr>
          <a:xfrm>
            <a:off x="3312000" y="228600"/>
            <a:ext cx="1187640" cy="914040"/>
          </a:xfrm>
          <a:prstGeom prst="rect">
            <a:avLst/>
          </a:prstGeom>
          <a:ln w="0">
            <a:noFill/>
          </a:ln>
        </p:spPr>
      </p:pic>
    </p:spTree>
  </p:cSld>
  <p:transition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object 2"/>
          <p:cNvSpPr/>
          <p:nvPr/>
        </p:nvSpPr>
        <p:spPr>
          <a:xfrm>
            <a:off x="53640" y="-1440"/>
            <a:ext cx="4498560" cy="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  <a:tabLst>
                <a:tab algn="l" pos="3156120"/>
              </a:tabLst>
            </a:pP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Introduction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r>
              <a:rPr b="0" lang="en-US" sz="500" spc="-12" strike="noStrike">
                <a:solidFill>
                  <a:srgbClr val="000000"/>
                </a:solidFill>
                <a:latin typeface="Arial"/>
                <a:ea typeface="DejaVu Sans"/>
              </a:rPr>
              <a:t>From</a:t>
            </a:r>
            <a:r>
              <a:rPr b="0" lang="en-US" sz="500" spc="-7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500" spc="-12" strike="noStrike">
                <a:solidFill>
                  <a:srgbClr val="000000"/>
                </a:solidFill>
                <a:latin typeface="Arial"/>
                <a:ea typeface="DejaVu Sans"/>
              </a:rPr>
              <a:t>networked</a:t>
            </a:r>
            <a:r>
              <a:rPr b="0" lang="en-US" sz="500" spc="-7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  <a:ea typeface="DejaVu Sans"/>
              </a:rPr>
              <a:t>systems to</a:t>
            </a:r>
            <a:r>
              <a:rPr b="0" lang="en-US" sz="500" spc="-7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  <a:ea typeface="DejaVu Sans"/>
              </a:rPr>
              <a:t>distributed</a:t>
            </a:r>
            <a:r>
              <a:rPr b="0" lang="en-US" sz="500" spc="-7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systems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212" name="PlaceHolder 1"/>
          <p:cNvSpPr>
            <a:spLocks noGrp="1"/>
          </p:cNvSpPr>
          <p:nvPr>
            <p:ph type="title"/>
          </p:nvPr>
        </p:nvSpPr>
        <p:spPr>
          <a:xfrm>
            <a:off x="95400" y="197640"/>
            <a:ext cx="2448360" cy="58752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1200" spc="-12" strike="noStrike">
                <a:solidFill>
                  <a:srgbClr val="3333b2"/>
                </a:solidFill>
                <a:latin typeface="Arial"/>
              </a:rPr>
              <a:t>Perspectives</a:t>
            </a:r>
            <a:r>
              <a:rPr b="0" lang="en-US" sz="1200" spc="-46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200" spc="-1" strike="noStrike">
                <a:solidFill>
                  <a:srgbClr val="3333b2"/>
                </a:solidFill>
                <a:latin typeface="Arial"/>
              </a:rPr>
              <a:t>on</a:t>
            </a:r>
            <a:r>
              <a:rPr b="0" lang="en-US" sz="1200" spc="-46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200" spc="-1" strike="noStrike">
                <a:solidFill>
                  <a:srgbClr val="3333b2"/>
                </a:solidFill>
                <a:latin typeface="Arial"/>
              </a:rPr>
              <a:t>distributed</a:t>
            </a:r>
            <a:r>
              <a:rPr b="0" lang="en-US" sz="1200" spc="-46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200" spc="-12" strike="noStrike">
                <a:solidFill>
                  <a:srgbClr val="3333b2"/>
                </a:solidFill>
                <a:latin typeface="Arial"/>
              </a:rPr>
              <a:t>systems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13" name="object 4"/>
          <p:cNvSpPr/>
          <p:nvPr/>
        </p:nvSpPr>
        <p:spPr>
          <a:xfrm>
            <a:off x="334440" y="514800"/>
            <a:ext cx="3935880" cy="134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2556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1000" spc="-1" strike="noStrike">
                <a:solidFill>
                  <a:srgbClr val="3333b2"/>
                </a:solidFill>
                <a:latin typeface="Arial"/>
                <a:ea typeface="DejaVu Sans"/>
              </a:rPr>
              <a:t>Distributed</a:t>
            </a:r>
            <a:r>
              <a:rPr b="0" lang="en-US" sz="1000" spc="-52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  <a:ea typeface="DejaVu Sans"/>
              </a:rPr>
              <a:t>systems</a:t>
            </a:r>
            <a:r>
              <a:rPr b="0" lang="en-US" sz="1000" spc="-46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  <a:ea typeface="DejaVu Sans"/>
              </a:rPr>
              <a:t>are</a:t>
            </a:r>
            <a:r>
              <a:rPr b="0" lang="en-US" sz="1000" spc="-46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  <a:ea typeface="DejaVu Sans"/>
              </a:rPr>
              <a:t>complex. Key considerations include:</a:t>
            </a:r>
            <a:endParaRPr b="0" lang="en-US" sz="1000" spc="-1" strike="noStrike">
              <a:latin typeface="Arial"/>
            </a:endParaRPr>
          </a:p>
          <a:p>
            <a:pPr marL="278280" indent="-120600">
              <a:lnSpc>
                <a:spcPct val="100000"/>
              </a:lnSpc>
              <a:spcBef>
                <a:spcPts val="700"/>
              </a:spcBef>
              <a:buClr>
                <a:srgbClr val="3333b2"/>
              </a:buClr>
              <a:buFont typeface="Menlo"/>
              <a:buChar char="•"/>
              <a:tabLst>
                <a:tab algn="l" pos="278640"/>
              </a:tabLst>
            </a:pPr>
            <a:r>
              <a:rPr b="0" lang="en-US" sz="900" spc="-1" strike="noStrike">
                <a:solidFill>
                  <a:srgbClr val="3333b2"/>
                </a:solidFill>
                <a:latin typeface="Arial"/>
                <a:ea typeface="DejaVu Sans"/>
              </a:rPr>
              <a:t>Communication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:</a:t>
            </a:r>
            <a:r>
              <a:rPr b="0" lang="en-US" sz="900" spc="1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facilities</a:t>
            </a:r>
            <a:r>
              <a:rPr b="0" lang="en-US" sz="900" spc="-1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for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exchanging</a:t>
            </a:r>
            <a:r>
              <a:rPr b="0" lang="en-US" sz="900" spc="-1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data</a:t>
            </a:r>
            <a:endParaRPr b="0" lang="en-US" sz="900" spc="-1" strike="noStrike">
              <a:latin typeface="Arial"/>
            </a:endParaRPr>
          </a:p>
          <a:p>
            <a:pPr marL="278280" indent="-120600">
              <a:lnSpc>
                <a:spcPct val="100000"/>
              </a:lnSpc>
              <a:spcBef>
                <a:spcPts val="420"/>
              </a:spcBef>
              <a:buClr>
                <a:srgbClr val="3333b2"/>
              </a:buClr>
              <a:buFont typeface="Menlo"/>
              <a:buChar char="•"/>
              <a:tabLst>
                <a:tab algn="l" pos="278640"/>
              </a:tabLst>
            </a:pPr>
            <a:r>
              <a:rPr b="0" lang="en-US" sz="900" spc="-1" strike="noStrike">
                <a:solidFill>
                  <a:srgbClr val="3333b2"/>
                </a:solidFill>
                <a:latin typeface="Arial"/>
                <a:ea typeface="DejaVu Sans"/>
              </a:rPr>
              <a:t>Coordination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:</a:t>
            </a:r>
            <a:r>
              <a:rPr b="0" lang="en-US" sz="900" spc="1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application-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independent</a:t>
            </a:r>
            <a:r>
              <a:rPr b="0" lang="en-US" sz="900" spc="-1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algorithms</a:t>
            </a:r>
            <a:endParaRPr b="0" lang="en-US" sz="900" spc="-1" strike="noStrike">
              <a:latin typeface="Arial"/>
            </a:endParaRPr>
          </a:p>
          <a:p>
            <a:pPr marL="278280" indent="-120600">
              <a:lnSpc>
                <a:spcPct val="100000"/>
              </a:lnSpc>
              <a:spcBef>
                <a:spcPts val="425"/>
              </a:spcBef>
              <a:buClr>
                <a:srgbClr val="3333b2"/>
              </a:buClr>
              <a:buFont typeface="Menlo"/>
              <a:buChar char="•"/>
              <a:tabLst>
                <a:tab algn="l" pos="278640"/>
              </a:tabLst>
            </a:pPr>
            <a:r>
              <a:rPr b="0" lang="en-US" sz="900" spc="-1" strike="noStrike">
                <a:solidFill>
                  <a:srgbClr val="3333b2"/>
                </a:solidFill>
                <a:latin typeface="Arial"/>
                <a:ea typeface="DejaVu Sans"/>
              </a:rPr>
              <a:t>Naming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: how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do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you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identify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resources?</a:t>
            </a:r>
            <a:endParaRPr b="0" lang="en-US" sz="900" spc="-1" strike="noStrike">
              <a:latin typeface="Arial"/>
            </a:endParaRPr>
          </a:p>
          <a:p>
            <a:pPr marL="278280" indent="-120600">
              <a:lnSpc>
                <a:spcPct val="111000"/>
              </a:lnSpc>
              <a:spcBef>
                <a:spcPts val="300"/>
              </a:spcBef>
              <a:buClr>
                <a:srgbClr val="3333b2"/>
              </a:buClr>
              <a:buFont typeface="Menlo"/>
              <a:buChar char="•"/>
              <a:tabLst>
                <a:tab algn="l" pos="278640"/>
              </a:tabLst>
            </a:pPr>
            <a:r>
              <a:rPr b="0" lang="en-US" sz="900" spc="-12" strike="noStrike">
                <a:solidFill>
                  <a:srgbClr val="3333b2"/>
                </a:solidFill>
                <a:latin typeface="Arial"/>
                <a:ea typeface="DejaVu Sans"/>
              </a:rPr>
              <a:t>Consistency</a:t>
            </a:r>
            <a:r>
              <a:rPr b="0" lang="en-US" sz="900" spc="-35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and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3333b2"/>
                </a:solidFill>
                <a:latin typeface="Arial"/>
                <a:ea typeface="DejaVu Sans"/>
              </a:rPr>
              <a:t>replication</a:t>
            </a:r>
            <a:endParaRPr b="0" lang="en-US" sz="900" spc="-1" strike="noStrike">
              <a:latin typeface="Arial"/>
            </a:endParaRPr>
          </a:p>
          <a:p>
            <a:pPr marL="278280" indent="-120600">
              <a:lnSpc>
                <a:spcPct val="100000"/>
              </a:lnSpc>
              <a:spcBef>
                <a:spcPts val="425"/>
              </a:spcBef>
              <a:buClr>
                <a:srgbClr val="3333b2"/>
              </a:buClr>
              <a:buFont typeface="Menlo"/>
              <a:buChar char="•"/>
              <a:tabLst>
                <a:tab algn="l" pos="278640"/>
              </a:tabLst>
            </a:pPr>
            <a:r>
              <a:rPr b="0" lang="en-US" sz="900" spc="-12" strike="noStrike">
                <a:solidFill>
                  <a:srgbClr val="3333b2"/>
                </a:solidFill>
                <a:latin typeface="Arial"/>
                <a:ea typeface="DejaVu Sans"/>
              </a:rPr>
              <a:t>Fault</a:t>
            </a:r>
            <a:r>
              <a:rPr b="0" lang="en-US" sz="900" spc="-26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3333b2"/>
                </a:solidFill>
                <a:latin typeface="Arial"/>
                <a:ea typeface="DejaVu Sans"/>
              </a:rPr>
              <a:t>tolerance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:</a:t>
            </a:r>
            <a:r>
              <a:rPr b="0" lang="en-US" sz="900" spc="9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keep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running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in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the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presence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of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partial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failures</a:t>
            </a:r>
            <a:endParaRPr b="0" lang="en-US" sz="900" spc="-1" strike="noStrike">
              <a:latin typeface="Arial"/>
            </a:endParaRPr>
          </a:p>
          <a:p>
            <a:pPr marL="278280" indent="-120600">
              <a:lnSpc>
                <a:spcPct val="100000"/>
              </a:lnSpc>
              <a:spcBef>
                <a:spcPts val="425"/>
              </a:spcBef>
              <a:buClr>
                <a:srgbClr val="3333b2"/>
              </a:buClr>
              <a:buFont typeface="Menlo"/>
              <a:buChar char="•"/>
              <a:tabLst>
                <a:tab algn="l" pos="278640"/>
              </a:tabLst>
            </a:pPr>
            <a:r>
              <a:rPr b="0" lang="en-US" sz="900" spc="-1" strike="noStrike">
                <a:solidFill>
                  <a:srgbClr val="3333b2"/>
                </a:solidFill>
                <a:latin typeface="Arial"/>
                <a:ea typeface="DejaVu Sans"/>
              </a:rPr>
              <a:t>Security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: ensure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authorized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access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to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resources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214" name="object 5"/>
          <p:cNvSpPr/>
          <p:nvPr/>
        </p:nvSpPr>
        <p:spPr>
          <a:xfrm>
            <a:off x="0" y="3348360"/>
            <a:ext cx="2301480" cy="105120"/>
          </a:xfrm>
          <a:custGeom>
            <a:avLst/>
            <a:gdLst/>
            <a:ah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adad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5" name="object 6"/>
          <p:cNvSpPr/>
          <p:nvPr/>
        </p:nvSpPr>
        <p:spPr>
          <a:xfrm>
            <a:off x="53640" y="3346920"/>
            <a:ext cx="827640" cy="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500" spc="-1" strike="noStrike" u="sng">
                <a:solidFill>
                  <a:srgbClr val="0000ff"/>
                </a:solidFill>
                <a:uFillTx/>
                <a:latin typeface="Arial"/>
                <a:ea typeface="DejaVu Sans"/>
                <a:hlinkClick r:id="rId1" action="ppaction://hlinksldjump"/>
              </a:rPr>
              <a:t>Studying</a:t>
            </a:r>
            <a:r>
              <a:rPr b="0" lang="en-US" sz="500" spc="-32" strike="noStrike" u="sng">
                <a:solidFill>
                  <a:srgbClr val="0000ff"/>
                </a:solidFill>
                <a:uFillTx/>
                <a:latin typeface="Arial"/>
                <a:ea typeface="DejaVu Sans"/>
                <a:hlinkClick r:id="rId2" action="ppaction://hlinksldjump"/>
              </a:rPr>
              <a:t> </a:t>
            </a:r>
            <a:r>
              <a:rPr b="0" lang="en-US" sz="500" spc="-1" strike="noStrike" u="sng">
                <a:solidFill>
                  <a:srgbClr val="0000ff"/>
                </a:solidFill>
                <a:uFillTx/>
                <a:latin typeface="Arial"/>
                <a:ea typeface="DejaVu Sans"/>
                <a:hlinkClick r:id="rId3" action="ppaction://hlinksldjump"/>
              </a:rPr>
              <a:t>distributed</a:t>
            </a:r>
            <a:r>
              <a:rPr b="0" lang="en-US" sz="500" spc="-32" strike="noStrike" u="sng">
                <a:solidFill>
                  <a:srgbClr val="0000ff"/>
                </a:solidFill>
                <a:uFillTx/>
                <a:latin typeface="Arial"/>
                <a:ea typeface="DejaVu Sans"/>
                <a:hlinkClick r:id="rId4" action="ppaction://hlinksldjump"/>
              </a:rPr>
              <a:t>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  <a:hlinkClick r:id="rId5" action="ppaction://hlinksldjump"/>
              </a:rPr>
              <a:t>systems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216" name="object 7"/>
          <p:cNvSpPr/>
          <p:nvPr/>
        </p:nvSpPr>
        <p:spPr>
          <a:xfrm>
            <a:off x="2304000" y="3348360"/>
            <a:ext cx="2301480" cy="105120"/>
          </a:xfrm>
          <a:custGeom>
            <a:avLst/>
            <a:gdLst/>
            <a:ah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p:transition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object 2"/>
          <p:cNvSpPr/>
          <p:nvPr/>
        </p:nvSpPr>
        <p:spPr>
          <a:xfrm>
            <a:off x="53640" y="-1440"/>
            <a:ext cx="353520" cy="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Introduction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218" name="object 3"/>
          <p:cNvSpPr/>
          <p:nvPr/>
        </p:nvSpPr>
        <p:spPr>
          <a:xfrm>
            <a:off x="2304000" y="0"/>
            <a:ext cx="2301480" cy="105120"/>
          </a:xfrm>
          <a:custGeom>
            <a:avLst/>
            <a:gdLst/>
            <a:ah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9" name="object 4"/>
          <p:cNvSpPr/>
          <p:nvPr/>
        </p:nvSpPr>
        <p:spPr>
          <a:xfrm>
            <a:off x="4163400" y="-1440"/>
            <a:ext cx="388440" cy="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500" spc="-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Design</a:t>
            </a:r>
            <a:r>
              <a:rPr b="0" lang="en-US" sz="500" spc="-26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goals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220" name="object 5"/>
          <p:cNvSpPr/>
          <p:nvPr/>
        </p:nvSpPr>
        <p:spPr>
          <a:xfrm>
            <a:off x="69840" y="197640"/>
            <a:ext cx="4271760" cy="170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3816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1200" spc="-1" strike="noStrike">
                <a:solidFill>
                  <a:srgbClr val="3333b2"/>
                </a:solidFill>
                <a:latin typeface="Arial"/>
                <a:ea typeface="DejaVu Sans"/>
              </a:rPr>
              <a:t>What</a:t>
            </a:r>
            <a:r>
              <a:rPr b="0" lang="en-US" sz="1200" spc="-35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200" spc="-1" strike="noStrike">
                <a:solidFill>
                  <a:srgbClr val="3333b2"/>
                </a:solidFill>
                <a:latin typeface="Arial"/>
                <a:ea typeface="DejaVu Sans"/>
              </a:rPr>
              <a:t>do</a:t>
            </a:r>
            <a:r>
              <a:rPr b="0" lang="en-US" sz="1200" spc="-32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200" spc="-1" strike="noStrike">
                <a:solidFill>
                  <a:srgbClr val="3333b2"/>
                </a:solidFill>
                <a:latin typeface="Arial"/>
                <a:ea typeface="DejaVu Sans"/>
              </a:rPr>
              <a:t>we</a:t>
            </a:r>
            <a:r>
              <a:rPr b="0" lang="en-US" sz="1200" spc="-32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200" spc="-1" strike="noStrike">
                <a:solidFill>
                  <a:srgbClr val="3333b2"/>
                </a:solidFill>
                <a:latin typeface="Arial"/>
                <a:ea typeface="DejaVu Sans"/>
              </a:rPr>
              <a:t>want</a:t>
            </a:r>
            <a:r>
              <a:rPr b="0" lang="en-US" sz="1200" spc="-32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200" spc="-1" strike="noStrike">
                <a:solidFill>
                  <a:srgbClr val="3333b2"/>
                </a:solidFill>
                <a:latin typeface="Arial"/>
                <a:ea typeface="DejaVu Sans"/>
              </a:rPr>
              <a:t>to</a:t>
            </a:r>
            <a:r>
              <a:rPr b="0" lang="en-US" sz="1200" spc="-32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200" spc="-12" strike="noStrike">
                <a:solidFill>
                  <a:srgbClr val="3333b2"/>
                </a:solidFill>
                <a:latin typeface="Arial"/>
                <a:ea typeface="DejaVu Sans"/>
              </a:rPr>
              <a:t>achieve?</a:t>
            </a:r>
            <a:endParaRPr b="0" lang="en-US" sz="1200" spc="-1" strike="noStrike">
              <a:latin typeface="Arial"/>
            </a:endParaRPr>
          </a:p>
          <a:p>
            <a:pPr marL="289440">
              <a:lnSpc>
                <a:spcPct val="100000"/>
              </a:lnSpc>
              <a:spcBef>
                <a:spcPts val="1054"/>
              </a:spcBef>
              <a:buNone/>
            </a:pPr>
            <a:r>
              <a:rPr b="0" lang="en-US" sz="1000" spc="-12" strike="noStrike">
                <a:solidFill>
                  <a:srgbClr val="3333b2"/>
                </a:solidFill>
                <a:latin typeface="Arial"/>
                <a:ea typeface="DejaVu Sans"/>
              </a:rPr>
              <a:t>Overall</a:t>
            </a:r>
            <a:r>
              <a:rPr b="0" lang="en-US" sz="1000" spc="-21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  <a:ea typeface="DejaVu Sans"/>
              </a:rPr>
              <a:t>design</a:t>
            </a:r>
            <a:r>
              <a:rPr b="0" lang="en-US" sz="1000" spc="-21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000" spc="-12" strike="noStrike">
                <a:solidFill>
                  <a:srgbClr val="3333b2"/>
                </a:solidFill>
                <a:latin typeface="Arial"/>
                <a:ea typeface="DejaVu Sans"/>
              </a:rPr>
              <a:t>goals</a:t>
            </a:r>
            <a:endParaRPr b="0" lang="en-US" sz="1000" spc="-1" strike="noStrike">
              <a:latin typeface="Arial"/>
            </a:endParaRPr>
          </a:p>
          <a:p>
            <a:pPr marL="542880" indent="-120600">
              <a:lnSpc>
                <a:spcPct val="100000"/>
              </a:lnSpc>
              <a:spcBef>
                <a:spcPts val="709"/>
              </a:spcBef>
              <a:buClr>
                <a:srgbClr val="3333b2"/>
              </a:buClr>
              <a:buFont typeface="Menlo"/>
              <a:buChar char="•"/>
              <a:tabLst>
                <a:tab algn="l" pos="5436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Support</a:t>
            </a:r>
            <a:r>
              <a:rPr b="0" lang="en-US" sz="900" spc="-1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sharing</a:t>
            </a:r>
            <a:r>
              <a:rPr b="0" lang="en-US" sz="900" spc="-1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of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 resources</a:t>
            </a:r>
            <a:endParaRPr b="0" lang="en-US" sz="900" spc="-1" strike="noStrike">
              <a:latin typeface="Arial"/>
            </a:endParaRPr>
          </a:p>
          <a:p>
            <a:pPr marL="542880" indent="-120600">
              <a:lnSpc>
                <a:spcPct val="100000"/>
              </a:lnSpc>
              <a:spcBef>
                <a:spcPts val="709"/>
              </a:spcBef>
              <a:buClr>
                <a:srgbClr val="3333b2"/>
              </a:buClr>
              <a:buFont typeface="Menlo"/>
              <a:buChar char="•"/>
              <a:tabLst>
                <a:tab algn="l" pos="5436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Distribution</a:t>
            </a:r>
            <a:r>
              <a:rPr b="0" lang="en-US" sz="900" spc="-7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transparency – a bit of a confusing term, means that users don’t realize the system is distributed (details are abstracted away) </a:t>
            </a:r>
            <a:endParaRPr b="0" lang="en-US" sz="900" spc="-1" strike="noStrike">
              <a:latin typeface="Arial"/>
            </a:endParaRPr>
          </a:p>
          <a:p>
            <a:pPr marL="542880" indent="-120600">
              <a:lnSpc>
                <a:spcPct val="100000"/>
              </a:lnSpc>
              <a:spcBef>
                <a:spcPts val="709"/>
              </a:spcBef>
              <a:buClr>
                <a:srgbClr val="3333b2"/>
              </a:buClr>
              <a:buFont typeface="Menlo"/>
              <a:buChar char="•"/>
              <a:tabLst>
                <a:tab algn="l" pos="5436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Openness – includes extensibility</a:t>
            </a:r>
            <a:endParaRPr b="0" lang="en-US" sz="900" spc="-1" strike="noStrike">
              <a:latin typeface="Arial"/>
            </a:endParaRPr>
          </a:p>
          <a:p>
            <a:pPr marL="542880" indent="-120600">
              <a:lnSpc>
                <a:spcPct val="100000"/>
              </a:lnSpc>
              <a:spcBef>
                <a:spcPts val="524"/>
              </a:spcBef>
              <a:buClr>
                <a:srgbClr val="3333b2"/>
              </a:buClr>
              <a:buFont typeface="Menlo"/>
              <a:buChar char="•"/>
              <a:tabLst>
                <a:tab algn="l" pos="543600"/>
              </a:tabLst>
            </a:pP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Scalability</a:t>
            </a:r>
            <a:endParaRPr b="0" lang="en-US" sz="9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524"/>
              </a:spcBef>
              <a:buNone/>
              <a:tabLst>
                <a:tab algn="l" pos="543600"/>
              </a:tabLst>
            </a:pPr>
            <a:endParaRPr b="0" lang="en-US" sz="900" spc="-1" strike="noStrike">
              <a:latin typeface="Arial"/>
            </a:endParaRPr>
          </a:p>
        </p:txBody>
      </p:sp>
      <p:grpSp>
        <p:nvGrpSpPr>
          <p:cNvPr id="221" name="object 6"/>
          <p:cNvGrpSpPr/>
          <p:nvPr/>
        </p:nvGrpSpPr>
        <p:grpSpPr>
          <a:xfrm>
            <a:off x="0" y="3348360"/>
            <a:ext cx="4605480" cy="105120"/>
            <a:chOff x="0" y="3348360"/>
            <a:chExt cx="4605480" cy="105120"/>
          </a:xfrm>
        </p:grpSpPr>
        <p:sp>
          <p:nvSpPr>
            <p:cNvPr id="222" name="object 7"/>
            <p:cNvSpPr/>
            <p:nvPr/>
          </p:nvSpPr>
          <p:spPr>
            <a:xfrm>
              <a:off x="0" y="3348360"/>
              <a:ext cx="2301480" cy="10512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3" name="object 8"/>
            <p:cNvSpPr/>
            <p:nvPr/>
          </p:nvSpPr>
          <p:spPr>
            <a:xfrm>
              <a:off x="2304000" y="3348360"/>
              <a:ext cx="2301480" cy="10512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</p:spTree>
  </p:cSld>
  <p:transition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object 2"/>
          <p:cNvSpPr/>
          <p:nvPr/>
        </p:nvSpPr>
        <p:spPr>
          <a:xfrm>
            <a:off x="53640" y="-1440"/>
            <a:ext cx="353520" cy="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Introduction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225" name="object 3"/>
          <p:cNvSpPr/>
          <p:nvPr/>
        </p:nvSpPr>
        <p:spPr>
          <a:xfrm>
            <a:off x="2304000" y="0"/>
            <a:ext cx="2301480" cy="105120"/>
          </a:xfrm>
          <a:custGeom>
            <a:avLst/>
            <a:gdLst/>
            <a:ah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6" name="object 4"/>
          <p:cNvSpPr/>
          <p:nvPr/>
        </p:nvSpPr>
        <p:spPr>
          <a:xfrm>
            <a:off x="4163400" y="-1440"/>
            <a:ext cx="388440" cy="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500" spc="-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Design</a:t>
            </a:r>
            <a:r>
              <a:rPr b="0" lang="en-US" sz="500" spc="-26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goals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227" name="object 5"/>
          <p:cNvSpPr/>
          <p:nvPr/>
        </p:nvSpPr>
        <p:spPr>
          <a:xfrm>
            <a:off x="95400" y="197640"/>
            <a:ext cx="1699560" cy="19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1200" spc="-1" strike="noStrike">
                <a:solidFill>
                  <a:srgbClr val="3333b2"/>
                </a:solidFill>
                <a:latin typeface="Arial"/>
                <a:ea typeface="DejaVu Sans"/>
              </a:rPr>
              <a:t>Distribution</a:t>
            </a:r>
            <a:r>
              <a:rPr b="0" lang="en-US" sz="1200" spc="-86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200" spc="-12" strike="noStrike">
                <a:solidFill>
                  <a:srgbClr val="3333b2"/>
                </a:solidFill>
                <a:latin typeface="Arial"/>
                <a:ea typeface="DejaVu Sans"/>
              </a:rPr>
              <a:t>transparency</a:t>
            </a:r>
            <a:endParaRPr b="0" lang="en-US" sz="1200" spc="-1" strike="noStrike">
              <a:latin typeface="Arial"/>
            </a:endParaRPr>
          </a:p>
        </p:txBody>
      </p:sp>
      <p:pic>
        <p:nvPicPr>
          <p:cNvPr id="228" name="object 6" descr=""/>
          <p:cNvPicPr/>
          <p:nvPr/>
        </p:nvPicPr>
        <p:blipFill>
          <a:blip r:embed="rId1"/>
          <a:stretch/>
        </p:blipFill>
        <p:spPr>
          <a:xfrm>
            <a:off x="725760" y="563040"/>
            <a:ext cx="3153240" cy="1234800"/>
          </a:xfrm>
          <a:prstGeom prst="rect">
            <a:avLst/>
          </a:prstGeom>
          <a:ln w="0">
            <a:noFill/>
          </a:ln>
        </p:spPr>
      </p:pic>
      <p:sp>
        <p:nvSpPr>
          <p:cNvPr id="229" name="object 7"/>
          <p:cNvSpPr/>
          <p:nvPr/>
        </p:nvSpPr>
        <p:spPr>
          <a:xfrm>
            <a:off x="341280" y="1884960"/>
            <a:ext cx="390240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5080" bIns="0" anchor="t">
            <a:spAutoFit/>
          </a:bodyPr>
          <a:p>
            <a:pPr marL="12600">
              <a:lnSpc>
                <a:spcPct val="100000"/>
              </a:lnSpc>
              <a:spcBef>
                <a:spcPts val="434"/>
              </a:spcBef>
              <a:buNone/>
            </a:pPr>
            <a:r>
              <a:rPr b="0" lang="en-US" sz="1000" spc="-1" strike="noStrike">
                <a:solidFill>
                  <a:srgbClr val="3333b2"/>
                </a:solidFill>
                <a:latin typeface="Arial"/>
                <a:ea typeface="DejaVu Sans"/>
              </a:rPr>
              <a:t>What</a:t>
            </a:r>
            <a:r>
              <a:rPr b="0" lang="en-US" sz="1000" spc="-26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  <a:ea typeface="DejaVu Sans"/>
              </a:rPr>
              <a:t>is</a:t>
            </a:r>
            <a:r>
              <a:rPr b="0" lang="en-US" sz="1000" spc="-21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000" spc="-12" strike="noStrike">
                <a:solidFill>
                  <a:srgbClr val="3333b2"/>
                </a:solidFill>
                <a:latin typeface="Arial"/>
                <a:ea typeface="DejaVu Sans"/>
              </a:rPr>
              <a:t>transparency?</a:t>
            </a:r>
            <a:endParaRPr b="0" lang="en-US" sz="1000" spc="-1" strike="noStrike">
              <a:latin typeface="Arial"/>
            </a:endParaRPr>
          </a:p>
          <a:p>
            <a:pPr marL="18360">
              <a:lnSpc>
                <a:spcPct val="111000"/>
              </a:lnSpc>
              <a:spcBef>
                <a:spcPts val="176"/>
              </a:spcBef>
              <a:buNone/>
            </a:pPr>
            <a:r>
              <a:rPr b="0" i="1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The</a:t>
            </a:r>
            <a:r>
              <a:rPr b="0" i="1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i="1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phenomenon</a:t>
            </a:r>
            <a:r>
              <a:rPr b="0" i="1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i="1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by</a:t>
            </a:r>
            <a:r>
              <a:rPr b="0" i="1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i="1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which</a:t>
            </a:r>
            <a:r>
              <a:rPr b="0" i="1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i="1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a</a:t>
            </a:r>
            <a:r>
              <a:rPr b="0" i="1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i="1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distributed</a:t>
            </a:r>
            <a:r>
              <a:rPr b="0" i="1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i="1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system</a:t>
            </a:r>
            <a:r>
              <a:rPr b="0" i="1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i="1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attempts</a:t>
            </a:r>
            <a:r>
              <a:rPr b="0" i="1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i="1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to</a:t>
            </a:r>
            <a:r>
              <a:rPr b="0" i="1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i="1" lang="en-US" sz="900" spc="-1" strike="noStrike">
                <a:solidFill>
                  <a:srgbClr val="3333b2"/>
                </a:solidFill>
                <a:latin typeface="Arial"/>
                <a:ea typeface="DejaVu Sans"/>
              </a:rPr>
              <a:t>hide</a:t>
            </a:r>
            <a:r>
              <a:rPr b="0" i="1" lang="en-US" sz="900" spc="-32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i="1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the</a:t>
            </a:r>
            <a:r>
              <a:rPr b="0" i="1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i="1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fact</a:t>
            </a:r>
            <a:r>
              <a:rPr b="0" i="1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i="1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that </a:t>
            </a:r>
            <a:r>
              <a:rPr b="0" i="1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its</a:t>
            </a:r>
            <a:r>
              <a:rPr b="0" i="1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i="1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processes</a:t>
            </a:r>
            <a:r>
              <a:rPr b="0" i="1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i="1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and</a:t>
            </a:r>
            <a:r>
              <a:rPr b="0" i="1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i="1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resources</a:t>
            </a:r>
            <a:r>
              <a:rPr b="0" i="1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i="1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are</a:t>
            </a:r>
            <a:r>
              <a:rPr b="0" i="1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i="1" lang="en-US" sz="900" spc="-12" strike="noStrike">
                <a:solidFill>
                  <a:srgbClr val="3333b2"/>
                </a:solidFill>
                <a:latin typeface="Arial"/>
                <a:ea typeface="DejaVu Sans"/>
              </a:rPr>
              <a:t>physically</a:t>
            </a:r>
            <a:r>
              <a:rPr b="0" i="1" lang="en-US" sz="900" spc="-26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i="1" lang="en-US" sz="900" spc="-1" strike="noStrike">
                <a:solidFill>
                  <a:srgbClr val="3333b2"/>
                </a:solidFill>
                <a:latin typeface="Arial"/>
                <a:ea typeface="DejaVu Sans"/>
              </a:rPr>
              <a:t>distributed</a:t>
            </a:r>
            <a:r>
              <a:rPr b="0" i="1" lang="en-US" sz="900" spc="-26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i="1" lang="en-US" sz="900" spc="-1" strike="noStrike">
                <a:solidFill>
                  <a:srgbClr val="3333b2"/>
                </a:solidFill>
                <a:latin typeface="Arial"/>
                <a:ea typeface="DejaVu Sans"/>
              </a:rPr>
              <a:t>across</a:t>
            </a:r>
            <a:r>
              <a:rPr b="0" i="1" lang="en-US" sz="900" spc="-26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i="1" lang="en-US" sz="900" spc="-12" strike="noStrike">
                <a:solidFill>
                  <a:srgbClr val="3333b2"/>
                </a:solidFill>
                <a:latin typeface="Arial"/>
                <a:ea typeface="DejaVu Sans"/>
              </a:rPr>
              <a:t>multiple </a:t>
            </a:r>
            <a:r>
              <a:rPr b="0" i="1" lang="en-US" sz="900" spc="-1" strike="noStrike">
                <a:solidFill>
                  <a:srgbClr val="3333b2"/>
                </a:solidFill>
                <a:latin typeface="Arial"/>
                <a:ea typeface="DejaVu Sans"/>
              </a:rPr>
              <a:t>computers</a:t>
            </a:r>
            <a:r>
              <a:rPr b="0" i="1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,</a:t>
            </a:r>
            <a:r>
              <a:rPr b="0" i="1" lang="en-US" sz="900" spc="-4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i="1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possibly</a:t>
            </a:r>
            <a:r>
              <a:rPr b="0" i="1" lang="en-US" sz="900" spc="-4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i="1" lang="en-US" sz="900" spc="-1" strike="noStrike">
                <a:solidFill>
                  <a:srgbClr val="3333b2"/>
                </a:solidFill>
                <a:latin typeface="Arial"/>
                <a:ea typeface="DejaVu Sans"/>
              </a:rPr>
              <a:t>separated</a:t>
            </a:r>
            <a:r>
              <a:rPr b="0" i="1" lang="en-US" sz="900" spc="-46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i="1" lang="en-US" sz="900" spc="-1" strike="noStrike">
                <a:solidFill>
                  <a:srgbClr val="3333b2"/>
                </a:solidFill>
                <a:latin typeface="Arial"/>
                <a:ea typeface="DejaVu Sans"/>
              </a:rPr>
              <a:t>by</a:t>
            </a:r>
            <a:r>
              <a:rPr b="0" i="1" lang="en-US" sz="900" spc="-46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i="1" lang="en-US" sz="900" spc="-1" strike="noStrike">
                <a:solidFill>
                  <a:srgbClr val="3333b2"/>
                </a:solidFill>
                <a:latin typeface="Arial"/>
                <a:ea typeface="DejaVu Sans"/>
              </a:rPr>
              <a:t>large</a:t>
            </a:r>
            <a:r>
              <a:rPr b="0" i="1" lang="en-US" sz="900" spc="-46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i="1" lang="en-US" sz="900" spc="-12" strike="noStrike">
                <a:solidFill>
                  <a:srgbClr val="3333b2"/>
                </a:solidFill>
                <a:latin typeface="Arial"/>
                <a:ea typeface="DejaVu Sans"/>
              </a:rPr>
              <a:t>distances</a:t>
            </a:r>
            <a:r>
              <a:rPr b="0" i="1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.</a:t>
            </a:r>
            <a:endParaRPr b="0" lang="en-US" sz="900" spc="-1" strike="noStrike">
              <a:latin typeface="Arial"/>
            </a:endParaRPr>
          </a:p>
        </p:txBody>
      </p:sp>
      <p:grpSp>
        <p:nvGrpSpPr>
          <p:cNvPr id="230" name="object 8"/>
          <p:cNvGrpSpPr/>
          <p:nvPr/>
        </p:nvGrpSpPr>
        <p:grpSpPr>
          <a:xfrm>
            <a:off x="0" y="3348360"/>
            <a:ext cx="4605480" cy="105120"/>
            <a:chOff x="0" y="3348360"/>
            <a:chExt cx="4605480" cy="105120"/>
          </a:xfrm>
        </p:grpSpPr>
        <p:sp>
          <p:nvSpPr>
            <p:cNvPr id="231" name="object 9"/>
            <p:cNvSpPr/>
            <p:nvPr/>
          </p:nvSpPr>
          <p:spPr>
            <a:xfrm>
              <a:off x="0" y="3348360"/>
              <a:ext cx="2301480" cy="10512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2" name="object 10"/>
            <p:cNvSpPr/>
            <p:nvPr/>
          </p:nvSpPr>
          <p:spPr>
            <a:xfrm>
              <a:off x="2304000" y="3348360"/>
              <a:ext cx="2301480" cy="10512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233" name="object 11"/>
          <p:cNvSpPr/>
          <p:nvPr/>
        </p:nvSpPr>
        <p:spPr>
          <a:xfrm>
            <a:off x="53640" y="3349800"/>
            <a:ext cx="721800" cy="8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360" bIns="0" anchor="t">
            <a:spAutoFit/>
          </a:bodyPr>
          <a:p>
            <a:pPr marL="12600">
              <a:lnSpc>
                <a:spcPct val="100000"/>
              </a:lnSpc>
              <a:spcBef>
                <a:spcPts val="74"/>
              </a:spcBef>
              <a:buNone/>
            </a:pP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Distribution</a:t>
            </a:r>
            <a:r>
              <a:rPr b="0" lang="en-US" sz="500" spc="5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transparency</a:t>
            </a:r>
            <a:endParaRPr b="0" lang="en-US" sz="500" spc="-1" strike="noStrike">
              <a:latin typeface="Arial"/>
            </a:endParaRPr>
          </a:p>
        </p:txBody>
      </p:sp>
    </p:spTree>
  </p:cSld>
  <p:transition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object 2"/>
          <p:cNvSpPr/>
          <p:nvPr/>
        </p:nvSpPr>
        <p:spPr>
          <a:xfrm>
            <a:off x="53640" y="-1440"/>
            <a:ext cx="353520" cy="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Introduction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235" name="object 3"/>
          <p:cNvSpPr/>
          <p:nvPr/>
        </p:nvSpPr>
        <p:spPr>
          <a:xfrm>
            <a:off x="2304000" y="0"/>
            <a:ext cx="2301480" cy="105120"/>
          </a:xfrm>
          <a:custGeom>
            <a:avLst/>
            <a:gdLst/>
            <a:ah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6" name="object 4"/>
          <p:cNvSpPr/>
          <p:nvPr/>
        </p:nvSpPr>
        <p:spPr>
          <a:xfrm>
            <a:off x="4163400" y="-1440"/>
            <a:ext cx="388440" cy="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500" spc="-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Design</a:t>
            </a:r>
            <a:r>
              <a:rPr b="0" lang="en-US" sz="500" spc="-26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goals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237" name="object 5"/>
          <p:cNvSpPr/>
          <p:nvPr/>
        </p:nvSpPr>
        <p:spPr>
          <a:xfrm>
            <a:off x="95400" y="197640"/>
            <a:ext cx="1699560" cy="19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1200" spc="-1" strike="noStrike">
                <a:solidFill>
                  <a:srgbClr val="3333b2"/>
                </a:solidFill>
                <a:latin typeface="Arial"/>
                <a:ea typeface="DejaVu Sans"/>
              </a:rPr>
              <a:t>Distribution</a:t>
            </a:r>
            <a:r>
              <a:rPr b="0" lang="en-US" sz="1200" spc="-86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200" spc="-12" strike="noStrike">
                <a:solidFill>
                  <a:srgbClr val="3333b2"/>
                </a:solidFill>
                <a:latin typeface="Arial"/>
                <a:ea typeface="DejaVu Sans"/>
              </a:rPr>
              <a:t>transparency</a:t>
            </a:r>
            <a:endParaRPr b="0" lang="en-US" sz="1200" spc="-1" strike="noStrike">
              <a:latin typeface="Arial"/>
            </a:endParaRPr>
          </a:p>
        </p:txBody>
      </p:sp>
      <p:pic>
        <p:nvPicPr>
          <p:cNvPr id="238" name="object 6" descr=""/>
          <p:cNvPicPr/>
          <p:nvPr/>
        </p:nvPicPr>
        <p:blipFill>
          <a:blip r:embed="rId1"/>
          <a:stretch/>
        </p:blipFill>
        <p:spPr>
          <a:xfrm>
            <a:off x="725760" y="563040"/>
            <a:ext cx="3153240" cy="1234800"/>
          </a:xfrm>
          <a:prstGeom prst="rect">
            <a:avLst/>
          </a:prstGeom>
          <a:ln w="0">
            <a:noFill/>
          </a:ln>
        </p:spPr>
      </p:pic>
      <p:sp>
        <p:nvSpPr>
          <p:cNvPr id="239" name="object 7"/>
          <p:cNvSpPr/>
          <p:nvPr/>
        </p:nvSpPr>
        <p:spPr>
          <a:xfrm>
            <a:off x="341280" y="1884960"/>
            <a:ext cx="3902400" cy="125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5080" bIns="0" anchor="t">
            <a:spAutoFit/>
          </a:bodyPr>
          <a:p>
            <a:pPr marL="12600">
              <a:lnSpc>
                <a:spcPct val="100000"/>
              </a:lnSpc>
              <a:spcBef>
                <a:spcPts val="434"/>
              </a:spcBef>
              <a:buNone/>
            </a:pPr>
            <a:r>
              <a:rPr b="0" lang="en-US" sz="1000" spc="-1" strike="noStrike">
                <a:solidFill>
                  <a:srgbClr val="3333b2"/>
                </a:solidFill>
                <a:latin typeface="Arial"/>
                <a:ea typeface="DejaVu Sans"/>
              </a:rPr>
              <a:t>What</a:t>
            </a:r>
            <a:r>
              <a:rPr b="0" lang="en-US" sz="1000" spc="-26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  <a:ea typeface="DejaVu Sans"/>
              </a:rPr>
              <a:t>is</a:t>
            </a:r>
            <a:r>
              <a:rPr b="0" lang="en-US" sz="1000" spc="-21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000" spc="-12" strike="noStrike">
                <a:solidFill>
                  <a:srgbClr val="3333b2"/>
                </a:solidFill>
                <a:latin typeface="Arial"/>
                <a:ea typeface="DejaVu Sans"/>
              </a:rPr>
              <a:t>transparency?</a:t>
            </a:r>
            <a:endParaRPr b="0" lang="en-US" sz="1000" spc="-1" strike="noStrike">
              <a:latin typeface="Arial"/>
            </a:endParaRPr>
          </a:p>
          <a:p>
            <a:pPr marL="18360">
              <a:lnSpc>
                <a:spcPct val="111000"/>
              </a:lnSpc>
              <a:spcBef>
                <a:spcPts val="176"/>
              </a:spcBef>
              <a:buNone/>
            </a:pPr>
            <a:r>
              <a:rPr b="0" i="1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The</a:t>
            </a:r>
            <a:r>
              <a:rPr b="0" i="1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i="1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phenomenon</a:t>
            </a:r>
            <a:r>
              <a:rPr b="0" i="1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i="1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by</a:t>
            </a:r>
            <a:r>
              <a:rPr b="0" i="1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i="1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which</a:t>
            </a:r>
            <a:r>
              <a:rPr b="0" i="1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i="1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a</a:t>
            </a:r>
            <a:r>
              <a:rPr b="0" i="1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i="1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distributed</a:t>
            </a:r>
            <a:r>
              <a:rPr b="0" i="1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i="1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system</a:t>
            </a:r>
            <a:r>
              <a:rPr b="0" i="1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i="1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attempts</a:t>
            </a:r>
            <a:r>
              <a:rPr b="0" i="1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i="1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to</a:t>
            </a:r>
            <a:r>
              <a:rPr b="0" i="1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i="1" lang="en-US" sz="900" spc="-1" strike="noStrike">
                <a:solidFill>
                  <a:srgbClr val="3333b2"/>
                </a:solidFill>
                <a:latin typeface="Arial"/>
                <a:ea typeface="DejaVu Sans"/>
              </a:rPr>
              <a:t>hide</a:t>
            </a:r>
            <a:r>
              <a:rPr b="0" i="1" lang="en-US" sz="900" spc="-32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i="1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the</a:t>
            </a:r>
            <a:r>
              <a:rPr b="0" i="1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i="1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fact</a:t>
            </a:r>
            <a:r>
              <a:rPr b="0" i="1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i="1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that </a:t>
            </a:r>
            <a:r>
              <a:rPr b="0" i="1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its</a:t>
            </a:r>
            <a:r>
              <a:rPr b="0" i="1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i="1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processes</a:t>
            </a:r>
            <a:r>
              <a:rPr b="0" i="1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i="1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and</a:t>
            </a:r>
            <a:r>
              <a:rPr b="0" i="1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i="1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resources</a:t>
            </a:r>
            <a:r>
              <a:rPr b="0" i="1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i="1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are</a:t>
            </a:r>
            <a:r>
              <a:rPr b="0" i="1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i="1" lang="en-US" sz="900" spc="-12" strike="noStrike">
                <a:solidFill>
                  <a:srgbClr val="3333b2"/>
                </a:solidFill>
                <a:latin typeface="Arial"/>
                <a:ea typeface="DejaVu Sans"/>
              </a:rPr>
              <a:t>physically</a:t>
            </a:r>
            <a:r>
              <a:rPr b="0" i="1" lang="en-US" sz="900" spc="-26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i="1" lang="en-US" sz="900" spc="-1" strike="noStrike">
                <a:solidFill>
                  <a:srgbClr val="3333b2"/>
                </a:solidFill>
                <a:latin typeface="Arial"/>
                <a:ea typeface="DejaVu Sans"/>
              </a:rPr>
              <a:t>distributed</a:t>
            </a:r>
            <a:r>
              <a:rPr b="0" i="1" lang="en-US" sz="900" spc="-26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i="1" lang="en-US" sz="900" spc="-1" strike="noStrike">
                <a:solidFill>
                  <a:srgbClr val="3333b2"/>
                </a:solidFill>
                <a:latin typeface="Arial"/>
                <a:ea typeface="DejaVu Sans"/>
              </a:rPr>
              <a:t>across</a:t>
            </a:r>
            <a:r>
              <a:rPr b="0" i="1" lang="en-US" sz="900" spc="-26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i="1" lang="en-US" sz="900" spc="-12" strike="noStrike">
                <a:solidFill>
                  <a:srgbClr val="3333b2"/>
                </a:solidFill>
                <a:latin typeface="Arial"/>
                <a:ea typeface="DejaVu Sans"/>
              </a:rPr>
              <a:t>multiple </a:t>
            </a:r>
            <a:r>
              <a:rPr b="0" i="1" lang="en-US" sz="900" spc="-1" strike="noStrike">
                <a:solidFill>
                  <a:srgbClr val="3333b2"/>
                </a:solidFill>
                <a:latin typeface="Arial"/>
                <a:ea typeface="DejaVu Sans"/>
              </a:rPr>
              <a:t>computers</a:t>
            </a:r>
            <a:r>
              <a:rPr b="0" i="1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,</a:t>
            </a:r>
            <a:r>
              <a:rPr b="0" i="1" lang="en-US" sz="900" spc="-4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i="1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possibly</a:t>
            </a:r>
            <a:r>
              <a:rPr b="0" i="1" lang="en-US" sz="900" spc="-4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i="1" lang="en-US" sz="900" spc="-1" strike="noStrike">
                <a:solidFill>
                  <a:srgbClr val="3333b2"/>
                </a:solidFill>
                <a:latin typeface="Arial"/>
                <a:ea typeface="DejaVu Sans"/>
              </a:rPr>
              <a:t>separated</a:t>
            </a:r>
            <a:r>
              <a:rPr b="0" i="1" lang="en-US" sz="900" spc="-46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i="1" lang="en-US" sz="900" spc="-1" strike="noStrike">
                <a:solidFill>
                  <a:srgbClr val="3333b2"/>
                </a:solidFill>
                <a:latin typeface="Arial"/>
                <a:ea typeface="DejaVu Sans"/>
              </a:rPr>
              <a:t>by</a:t>
            </a:r>
            <a:r>
              <a:rPr b="0" i="1" lang="en-US" sz="900" spc="-46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i="1" lang="en-US" sz="900" spc="-1" strike="noStrike">
                <a:solidFill>
                  <a:srgbClr val="3333b2"/>
                </a:solidFill>
                <a:latin typeface="Arial"/>
                <a:ea typeface="DejaVu Sans"/>
              </a:rPr>
              <a:t>large</a:t>
            </a:r>
            <a:r>
              <a:rPr b="0" i="1" lang="en-US" sz="900" spc="-46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i="1" lang="en-US" sz="900" spc="-12" strike="noStrike">
                <a:solidFill>
                  <a:srgbClr val="3333b2"/>
                </a:solidFill>
                <a:latin typeface="Arial"/>
                <a:ea typeface="DejaVu Sans"/>
              </a:rPr>
              <a:t>distances</a:t>
            </a:r>
            <a:r>
              <a:rPr b="0" i="1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.</a:t>
            </a:r>
            <a:endParaRPr b="0" lang="en-US" sz="900" spc="-1" strike="noStrike">
              <a:latin typeface="Arial"/>
            </a:endParaRPr>
          </a:p>
          <a:p>
            <a:pPr marL="18360">
              <a:lnSpc>
                <a:spcPct val="100000"/>
              </a:lnSpc>
              <a:spcBef>
                <a:spcPts val="811"/>
              </a:spcBef>
              <a:buNone/>
            </a:pPr>
            <a:r>
              <a:rPr b="0" lang="en-US" sz="1000" spc="-12" strike="noStrike">
                <a:solidFill>
                  <a:srgbClr val="3333b2"/>
                </a:solidFill>
                <a:latin typeface="Arial"/>
                <a:ea typeface="DejaVu Sans"/>
              </a:rPr>
              <a:t>Observation</a:t>
            </a:r>
            <a:endParaRPr b="0" lang="en-US" sz="1000" spc="-1" strike="noStrike">
              <a:latin typeface="Arial"/>
            </a:endParaRPr>
          </a:p>
          <a:p>
            <a:pPr marL="18360">
              <a:lnSpc>
                <a:spcPts val="1210"/>
              </a:lnSpc>
              <a:spcBef>
                <a:spcPts val="40"/>
              </a:spcBef>
              <a:buNone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Distribution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transparancy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is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handled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through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many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different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techniques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in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52" strike="noStrike">
                <a:solidFill>
                  <a:srgbClr val="000000"/>
                </a:solidFill>
                <a:latin typeface="Arial"/>
                <a:ea typeface="DejaVu Sans"/>
              </a:rPr>
              <a:t>a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 layer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between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applications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and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operating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systems:</a:t>
            </a:r>
            <a:r>
              <a:rPr b="0" lang="en-US" sz="900" spc="4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a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c80000"/>
                </a:solidFill>
                <a:latin typeface="Arial"/>
                <a:ea typeface="DejaVu Sans"/>
              </a:rPr>
              <a:t>middleware</a:t>
            </a:r>
            <a:r>
              <a:rPr b="0" lang="en-US" sz="900" spc="-32" strike="noStrike">
                <a:solidFill>
                  <a:srgbClr val="c8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c80000"/>
                </a:solidFill>
                <a:latin typeface="Arial"/>
                <a:ea typeface="DejaVu Sans"/>
              </a:rPr>
              <a:t>layer</a:t>
            </a:r>
            <a:endParaRPr b="0" lang="en-US" sz="900" spc="-1" strike="noStrike">
              <a:latin typeface="Arial"/>
            </a:endParaRPr>
          </a:p>
        </p:txBody>
      </p:sp>
      <p:grpSp>
        <p:nvGrpSpPr>
          <p:cNvPr id="240" name="object 8"/>
          <p:cNvGrpSpPr/>
          <p:nvPr/>
        </p:nvGrpSpPr>
        <p:grpSpPr>
          <a:xfrm>
            <a:off x="0" y="3348360"/>
            <a:ext cx="4605480" cy="105120"/>
            <a:chOff x="0" y="3348360"/>
            <a:chExt cx="4605480" cy="105120"/>
          </a:xfrm>
        </p:grpSpPr>
        <p:sp>
          <p:nvSpPr>
            <p:cNvPr id="241" name="object 9"/>
            <p:cNvSpPr/>
            <p:nvPr/>
          </p:nvSpPr>
          <p:spPr>
            <a:xfrm>
              <a:off x="0" y="3348360"/>
              <a:ext cx="2301480" cy="10512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2" name="object 10"/>
            <p:cNvSpPr/>
            <p:nvPr/>
          </p:nvSpPr>
          <p:spPr>
            <a:xfrm>
              <a:off x="2304000" y="3348360"/>
              <a:ext cx="2301480" cy="10512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243" name="object 11"/>
          <p:cNvSpPr/>
          <p:nvPr/>
        </p:nvSpPr>
        <p:spPr>
          <a:xfrm>
            <a:off x="53640" y="3349800"/>
            <a:ext cx="721800" cy="8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360" bIns="0" anchor="t">
            <a:spAutoFit/>
          </a:bodyPr>
          <a:p>
            <a:pPr marL="12600">
              <a:lnSpc>
                <a:spcPct val="100000"/>
              </a:lnSpc>
              <a:spcBef>
                <a:spcPts val="74"/>
              </a:spcBef>
              <a:buNone/>
            </a:pP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Distribution</a:t>
            </a:r>
            <a:r>
              <a:rPr b="0" lang="en-US" sz="500" spc="5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transparency</a:t>
            </a:r>
            <a:endParaRPr b="0" lang="en-US" sz="500" spc="-1" strike="noStrike">
              <a:latin typeface="Arial"/>
            </a:endParaRPr>
          </a:p>
        </p:txBody>
      </p:sp>
    </p:spTree>
  </p:cSld>
  <p:transition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object 21"/>
          <p:cNvSpPr/>
          <p:nvPr/>
        </p:nvSpPr>
        <p:spPr>
          <a:xfrm>
            <a:off x="53640" y="-1440"/>
            <a:ext cx="353880" cy="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Introduction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245" name="object 12"/>
          <p:cNvSpPr/>
          <p:nvPr/>
        </p:nvSpPr>
        <p:spPr>
          <a:xfrm>
            <a:off x="2304000" y="0"/>
            <a:ext cx="2301840" cy="105480"/>
          </a:xfrm>
          <a:custGeom>
            <a:avLst/>
            <a:gdLst/>
            <a:ah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6" name="object 13"/>
          <p:cNvSpPr/>
          <p:nvPr/>
        </p:nvSpPr>
        <p:spPr>
          <a:xfrm>
            <a:off x="4163400" y="-1440"/>
            <a:ext cx="388800" cy="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500" spc="-1" strike="noStrike" u="sng">
                <a:solidFill>
                  <a:srgbClr val="0000ff"/>
                </a:solidFill>
                <a:uFillTx/>
                <a:latin typeface="Arial"/>
                <a:ea typeface="DejaVu Sans"/>
                <a:hlinkClick r:id="rId1" action="ppaction://hlinksldjump"/>
              </a:rPr>
              <a:t>Design</a:t>
            </a:r>
            <a:r>
              <a:rPr b="0" lang="en-US" sz="500" spc="-26" strike="noStrike" u="sng">
                <a:solidFill>
                  <a:srgbClr val="0000ff"/>
                </a:solidFill>
                <a:uFillTx/>
                <a:latin typeface="Arial"/>
                <a:ea typeface="DejaVu Sans"/>
                <a:hlinkClick r:id="rId2" action="ppaction://hlinksldjump"/>
              </a:rPr>
              <a:t>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  <a:hlinkClick r:id="rId3" action="ppaction://hlinksldjump"/>
              </a:rPr>
              <a:t>goals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247" name="object 14"/>
          <p:cNvSpPr/>
          <p:nvPr/>
        </p:nvSpPr>
        <p:spPr>
          <a:xfrm>
            <a:off x="95400" y="197640"/>
            <a:ext cx="4247640" cy="79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1200" spc="-1" strike="noStrike">
                <a:solidFill>
                  <a:srgbClr val="3333b2"/>
                </a:solidFill>
                <a:latin typeface="Arial"/>
                <a:ea typeface="DejaVu Sans"/>
              </a:rPr>
              <a:t>Scale</a:t>
            </a:r>
            <a:r>
              <a:rPr b="0" lang="en-US" sz="1200" spc="-41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200" spc="-1" strike="noStrike">
                <a:solidFill>
                  <a:srgbClr val="3333b2"/>
                </a:solidFill>
                <a:latin typeface="Arial"/>
                <a:ea typeface="DejaVu Sans"/>
              </a:rPr>
              <a:t>in</a:t>
            </a:r>
            <a:r>
              <a:rPr b="0" lang="en-US" sz="1200" spc="-41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200" spc="-1" strike="noStrike">
                <a:solidFill>
                  <a:srgbClr val="3333b2"/>
                </a:solidFill>
                <a:latin typeface="Arial"/>
                <a:ea typeface="DejaVu Sans"/>
              </a:rPr>
              <a:t>distributed</a:t>
            </a:r>
            <a:r>
              <a:rPr b="0" lang="en-US" sz="1200" spc="-41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200" spc="-12" strike="noStrike">
                <a:solidFill>
                  <a:srgbClr val="3333b2"/>
                </a:solidFill>
                <a:latin typeface="Arial"/>
                <a:ea typeface="DejaVu Sans"/>
              </a:rPr>
              <a:t>systems</a:t>
            </a:r>
            <a:endParaRPr b="0" lang="en-US" sz="1200" spc="-1" strike="noStrike">
              <a:latin typeface="Arial"/>
            </a:endParaRPr>
          </a:p>
          <a:p>
            <a:pPr marL="264240">
              <a:lnSpc>
                <a:spcPct val="100000"/>
              </a:lnSpc>
              <a:spcBef>
                <a:spcPts val="1054"/>
              </a:spcBef>
              <a:buNone/>
            </a:pPr>
            <a:r>
              <a:rPr b="0" lang="en-US" sz="1000" spc="-12" strike="noStrike">
                <a:solidFill>
                  <a:srgbClr val="3333b2"/>
                </a:solidFill>
                <a:latin typeface="Arial"/>
                <a:ea typeface="DejaVu Sans"/>
              </a:rPr>
              <a:t>Observation</a:t>
            </a:r>
            <a:endParaRPr b="0" lang="en-US" sz="1000" spc="-1" strike="noStrike">
              <a:latin typeface="Arial"/>
            </a:endParaRPr>
          </a:p>
          <a:p>
            <a:pPr marL="252720" indent="10800">
              <a:lnSpc>
                <a:spcPts val="1210"/>
              </a:lnSpc>
              <a:spcBef>
                <a:spcPts val="40"/>
              </a:spcBef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Many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developers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of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modern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distributed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systems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easily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use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the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adjective “scalable”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without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making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clear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c80000"/>
                </a:solidFill>
                <a:latin typeface="Arial"/>
                <a:ea typeface="DejaVu Sans"/>
              </a:rPr>
              <a:t>why</a:t>
            </a:r>
            <a:r>
              <a:rPr b="0" lang="en-US" sz="900" spc="-26" strike="noStrike">
                <a:solidFill>
                  <a:srgbClr val="c8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their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system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actually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scales.</a:t>
            </a:r>
            <a:endParaRPr b="0" lang="en-US" sz="900" spc="-1" strike="noStrike">
              <a:latin typeface="Arial"/>
            </a:endParaRPr>
          </a:p>
        </p:txBody>
      </p:sp>
      <p:grpSp>
        <p:nvGrpSpPr>
          <p:cNvPr id="248" name="object 15"/>
          <p:cNvGrpSpPr/>
          <p:nvPr/>
        </p:nvGrpSpPr>
        <p:grpSpPr>
          <a:xfrm>
            <a:off x="0" y="3348360"/>
            <a:ext cx="4605840" cy="105480"/>
            <a:chOff x="0" y="3348360"/>
            <a:chExt cx="4605840" cy="105480"/>
          </a:xfrm>
        </p:grpSpPr>
        <p:sp>
          <p:nvSpPr>
            <p:cNvPr id="249" name="object 16"/>
            <p:cNvSpPr/>
            <p:nvPr/>
          </p:nvSpPr>
          <p:spPr>
            <a:xfrm>
              <a:off x="0" y="3348360"/>
              <a:ext cx="2301840" cy="10548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0" name="object 17"/>
            <p:cNvSpPr/>
            <p:nvPr/>
          </p:nvSpPr>
          <p:spPr>
            <a:xfrm>
              <a:off x="2304000" y="3348360"/>
              <a:ext cx="2301840" cy="10548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251" name="object 18"/>
          <p:cNvSpPr/>
          <p:nvPr/>
        </p:nvSpPr>
        <p:spPr>
          <a:xfrm>
            <a:off x="53640" y="3349800"/>
            <a:ext cx="308160" cy="8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360" bIns="0" anchor="t">
            <a:spAutoFit/>
          </a:bodyPr>
          <a:p>
            <a:pPr marL="12600">
              <a:lnSpc>
                <a:spcPct val="100000"/>
              </a:lnSpc>
              <a:spcBef>
                <a:spcPts val="74"/>
              </a:spcBef>
              <a:buNone/>
            </a:pP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Scalability</a:t>
            </a:r>
            <a:endParaRPr b="0" lang="en-US" sz="500" spc="-1" strike="noStrike">
              <a:latin typeface="Arial"/>
            </a:endParaRPr>
          </a:p>
        </p:txBody>
      </p:sp>
    </p:spTree>
  </p:cSld>
  <p:transition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object 1"/>
          <p:cNvSpPr/>
          <p:nvPr/>
        </p:nvSpPr>
        <p:spPr>
          <a:xfrm>
            <a:off x="53640" y="-1440"/>
            <a:ext cx="353880" cy="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Introduction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253" name="object 19"/>
          <p:cNvSpPr/>
          <p:nvPr/>
        </p:nvSpPr>
        <p:spPr>
          <a:xfrm>
            <a:off x="2304000" y="0"/>
            <a:ext cx="2301840" cy="105480"/>
          </a:xfrm>
          <a:custGeom>
            <a:avLst/>
            <a:gdLst/>
            <a:ah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4" name="object 20"/>
          <p:cNvSpPr/>
          <p:nvPr/>
        </p:nvSpPr>
        <p:spPr>
          <a:xfrm>
            <a:off x="4163400" y="-1440"/>
            <a:ext cx="388800" cy="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500" spc="-1" strike="noStrike" u="sng">
                <a:solidFill>
                  <a:srgbClr val="0000ff"/>
                </a:solidFill>
                <a:uFillTx/>
                <a:latin typeface="Arial"/>
                <a:ea typeface="DejaVu Sans"/>
                <a:hlinkClick r:id="rId1" action="ppaction://hlinksldjump"/>
              </a:rPr>
              <a:t>Design</a:t>
            </a:r>
            <a:r>
              <a:rPr b="0" lang="en-US" sz="500" spc="-26" strike="noStrike" u="sng">
                <a:solidFill>
                  <a:srgbClr val="0000ff"/>
                </a:solidFill>
                <a:uFillTx/>
                <a:latin typeface="Arial"/>
                <a:ea typeface="DejaVu Sans"/>
                <a:hlinkClick r:id="rId2" action="ppaction://hlinksldjump"/>
              </a:rPr>
              <a:t>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  <a:hlinkClick r:id="rId3" action="ppaction://hlinksldjump"/>
              </a:rPr>
              <a:t>goals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255" name="object 22"/>
          <p:cNvSpPr/>
          <p:nvPr/>
        </p:nvSpPr>
        <p:spPr>
          <a:xfrm>
            <a:off x="69840" y="197640"/>
            <a:ext cx="3944160" cy="167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3816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1200" spc="-1" strike="noStrike">
                <a:solidFill>
                  <a:srgbClr val="3333b2"/>
                </a:solidFill>
                <a:latin typeface="Arial"/>
                <a:ea typeface="DejaVu Sans"/>
              </a:rPr>
              <a:t>Scale</a:t>
            </a:r>
            <a:r>
              <a:rPr b="0" lang="en-US" sz="1200" spc="-41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200" spc="-1" strike="noStrike">
                <a:solidFill>
                  <a:srgbClr val="3333b2"/>
                </a:solidFill>
                <a:latin typeface="Arial"/>
                <a:ea typeface="DejaVu Sans"/>
              </a:rPr>
              <a:t>in</a:t>
            </a:r>
            <a:r>
              <a:rPr b="0" lang="en-US" sz="1200" spc="-41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200" spc="-1" strike="noStrike">
                <a:solidFill>
                  <a:srgbClr val="3333b2"/>
                </a:solidFill>
                <a:latin typeface="Arial"/>
                <a:ea typeface="DejaVu Sans"/>
              </a:rPr>
              <a:t>distributed</a:t>
            </a:r>
            <a:r>
              <a:rPr b="0" lang="en-US" sz="1200" spc="-41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200" spc="-12" strike="noStrike">
                <a:solidFill>
                  <a:srgbClr val="3333b2"/>
                </a:solidFill>
                <a:latin typeface="Arial"/>
                <a:ea typeface="DejaVu Sans"/>
              </a:rPr>
              <a:t>systems</a:t>
            </a:r>
            <a:endParaRPr b="0" lang="en-US" sz="1200" spc="-1" strike="noStrike">
              <a:latin typeface="Arial"/>
            </a:endParaRPr>
          </a:p>
          <a:p>
            <a:pPr marL="289440">
              <a:lnSpc>
                <a:spcPct val="100000"/>
              </a:lnSpc>
              <a:spcBef>
                <a:spcPts val="1054"/>
              </a:spcBef>
              <a:buNone/>
            </a:pPr>
            <a:r>
              <a:rPr b="0" lang="en-US" sz="1000" spc="-12" strike="noStrike">
                <a:solidFill>
                  <a:srgbClr val="3333b2"/>
                </a:solidFill>
                <a:latin typeface="Arial"/>
                <a:ea typeface="DejaVu Sans"/>
              </a:rPr>
              <a:t>Observation</a:t>
            </a:r>
            <a:endParaRPr b="0" lang="en-US" sz="1000" spc="-1" strike="noStrike">
              <a:latin typeface="Arial"/>
            </a:endParaRPr>
          </a:p>
          <a:p>
            <a:pPr marL="278280" indent="10800">
              <a:lnSpc>
                <a:spcPts val="1210"/>
              </a:lnSpc>
              <a:spcBef>
                <a:spcPts val="40"/>
              </a:spcBef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Many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developers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of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modern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distributed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systems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easily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use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the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adjective “scalable”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without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making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clear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c80000"/>
                </a:solidFill>
                <a:latin typeface="Arial"/>
                <a:ea typeface="DejaVu Sans"/>
              </a:rPr>
              <a:t>why</a:t>
            </a:r>
            <a:r>
              <a:rPr b="0" lang="en-US" sz="900" spc="-26" strike="noStrike">
                <a:solidFill>
                  <a:srgbClr val="c8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their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system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actually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scales.</a:t>
            </a:r>
            <a:endParaRPr b="0" lang="en-US" sz="900" spc="-1" strike="noStrike">
              <a:latin typeface="Arial"/>
            </a:endParaRPr>
          </a:p>
          <a:p>
            <a:pPr marL="285840" indent="10800">
              <a:lnSpc>
                <a:spcPct val="100000"/>
              </a:lnSpc>
              <a:spcBef>
                <a:spcPts val="746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3333b2"/>
                </a:solidFill>
                <a:latin typeface="Arial"/>
                <a:ea typeface="DejaVu Sans"/>
              </a:rPr>
              <a:t>At</a:t>
            </a:r>
            <a:r>
              <a:rPr b="0" lang="en-US" sz="1000" spc="-26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  <a:ea typeface="DejaVu Sans"/>
              </a:rPr>
              <a:t>least</a:t>
            </a:r>
            <a:r>
              <a:rPr b="0" lang="en-US" sz="1000" spc="-26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  <a:ea typeface="DejaVu Sans"/>
              </a:rPr>
              <a:t>three</a:t>
            </a:r>
            <a:r>
              <a:rPr b="0" lang="en-US" sz="1000" spc="-21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000" spc="-12" strike="noStrike">
                <a:solidFill>
                  <a:srgbClr val="3333b2"/>
                </a:solidFill>
                <a:latin typeface="Arial"/>
                <a:ea typeface="DejaVu Sans"/>
              </a:rPr>
              <a:t>components</a:t>
            </a:r>
            <a:endParaRPr b="0" lang="en-US" sz="1000" spc="-1" strike="noStrike">
              <a:latin typeface="Arial"/>
            </a:endParaRPr>
          </a:p>
          <a:p>
            <a:pPr marL="542880" indent="-120600">
              <a:lnSpc>
                <a:spcPct val="100000"/>
              </a:lnSpc>
              <a:spcBef>
                <a:spcPts val="694"/>
              </a:spcBef>
              <a:buClr>
                <a:srgbClr val="3333b2"/>
              </a:buClr>
              <a:buFont typeface="Menlo"/>
              <a:buChar char="•"/>
              <a:tabLst>
                <a:tab algn="l" pos="5436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Number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of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users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or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processes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c80000"/>
                </a:solidFill>
                <a:latin typeface="Arial"/>
                <a:ea typeface="DejaVu Sans"/>
              </a:rPr>
              <a:t>(size</a:t>
            </a:r>
            <a:r>
              <a:rPr b="0" lang="en-US" sz="900" spc="-26" strike="noStrike">
                <a:solidFill>
                  <a:srgbClr val="c8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c80000"/>
                </a:solidFill>
                <a:latin typeface="Arial"/>
                <a:ea typeface="DejaVu Sans"/>
              </a:rPr>
              <a:t>scalability)</a:t>
            </a:r>
            <a:endParaRPr b="0" lang="en-US" sz="900" spc="-1" strike="noStrike">
              <a:latin typeface="Arial"/>
            </a:endParaRPr>
          </a:p>
          <a:p>
            <a:pPr marL="542880" indent="-120600">
              <a:lnSpc>
                <a:spcPct val="100000"/>
              </a:lnSpc>
              <a:spcBef>
                <a:spcPts val="519"/>
              </a:spcBef>
              <a:buClr>
                <a:srgbClr val="3333b2"/>
              </a:buClr>
              <a:buFont typeface="Menlo"/>
              <a:buChar char="•"/>
              <a:tabLst>
                <a:tab algn="l" pos="5436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Maximum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distance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between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nodes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c80000"/>
                </a:solidFill>
                <a:latin typeface="Arial"/>
                <a:ea typeface="DejaVu Sans"/>
              </a:rPr>
              <a:t>(geographical</a:t>
            </a:r>
            <a:r>
              <a:rPr b="0" lang="en-US" sz="900" spc="-26" strike="noStrike">
                <a:solidFill>
                  <a:srgbClr val="c8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c80000"/>
                </a:solidFill>
                <a:latin typeface="Arial"/>
                <a:ea typeface="DejaVu Sans"/>
              </a:rPr>
              <a:t>scalability)</a:t>
            </a:r>
            <a:endParaRPr b="0" lang="en-US" sz="900" spc="-1" strike="noStrike">
              <a:latin typeface="Arial"/>
            </a:endParaRPr>
          </a:p>
          <a:p>
            <a:pPr marL="542880" indent="-120600">
              <a:lnSpc>
                <a:spcPct val="100000"/>
              </a:lnSpc>
              <a:spcBef>
                <a:spcPts val="524"/>
              </a:spcBef>
              <a:buClr>
                <a:srgbClr val="3333b2"/>
              </a:buClr>
              <a:buFont typeface="Menlo"/>
              <a:buChar char="•"/>
              <a:tabLst>
                <a:tab algn="l" pos="5436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Number of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administrative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 domains </a:t>
            </a:r>
            <a:r>
              <a:rPr b="0" lang="en-US" sz="900" spc="-12" strike="noStrike">
                <a:solidFill>
                  <a:srgbClr val="c80000"/>
                </a:solidFill>
                <a:latin typeface="Arial"/>
                <a:ea typeface="DejaVu Sans"/>
              </a:rPr>
              <a:t>(administrative</a:t>
            </a:r>
            <a:r>
              <a:rPr b="0" lang="en-US" sz="900" spc="-1" strike="noStrike">
                <a:solidFill>
                  <a:srgbClr val="c8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c80000"/>
                </a:solidFill>
                <a:latin typeface="Arial"/>
                <a:ea typeface="DejaVu Sans"/>
              </a:rPr>
              <a:t>scalability)</a:t>
            </a:r>
            <a:endParaRPr b="0" lang="en-US" sz="900" spc="-1" strike="noStrike">
              <a:latin typeface="Arial"/>
            </a:endParaRPr>
          </a:p>
        </p:txBody>
      </p:sp>
      <p:grpSp>
        <p:nvGrpSpPr>
          <p:cNvPr id="256" name="object 23"/>
          <p:cNvGrpSpPr/>
          <p:nvPr/>
        </p:nvGrpSpPr>
        <p:grpSpPr>
          <a:xfrm>
            <a:off x="0" y="3348360"/>
            <a:ext cx="4605840" cy="105480"/>
            <a:chOff x="0" y="3348360"/>
            <a:chExt cx="4605840" cy="105480"/>
          </a:xfrm>
        </p:grpSpPr>
        <p:sp>
          <p:nvSpPr>
            <p:cNvPr id="257" name="object 24"/>
            <p:cNvSpPr/>
            <p:nvPr/>
          </p:nvSpPr>
          <p:spPr>
            <a:xfrm>
              <a:off x="0" y="3348360"/>
              <a:ext cx="2301840" cy="10548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8" name="object 28"/>
            <p:cNvSpPr/>
            <p:nvPr/>
          </p:nvSpPr>
          <p:spPr>
            <a:xfrm>
              <a:off x="2304000" y="3348360"/>
              <a:ext cx="2301840" cy="10548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259" name="object 29"/>
          <p:cNvSpPr/>
          <p:nvPr/>
        </p:nvSpPr>
        <p:spPr>
          <a:xfrm>
            <a:off x="53640" y="3349800"/>
            <a:ext cx="308160" cy="8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360" bIns="0" anchor="t">
            <a:spAutoFit/>
          </a:bodyPr>
          <a:p>
            <a:pPr marL="12600">
              <a:lnSpc>
                <a:spcPct val="100000"/>
              </a:lnSpc>
              <a:spcBef>
                <a:spcPts val="74"/>
              </a:spcBef>
              <a:buNone/>
            </a:pP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Scalability</a:t>
            </a:r>
            <a:endParaRPr b="0" lang="en-US" sz="500" spc="-1" strike="noStrike">
              <a:latin typeface="Arial"/>
            </a:endParaRPr>
          </a:p>
        </p:txBody>
      </p:sp>
    </p:spTree>
  </p:cSld>
  <p:transition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object 30"/>
          <p:cNvSpPr/>
          <p:nvPr/>
        </p:nvSpPr>
        <p:spPr>
          <a:xfrm>
            <a:off x="53640" y="-1440"/>
            <a:ext cx="4498920" cy="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  <a:tabLst>
                <a:tab algn="l" pos="4122360"/>
              </a:tabLst>
            </a:pP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Introduction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r>
              <a:rPr b="0" lang="en-US" sz="500" spc="-1" strike="noStrike">
                <a:solidFill>
                  <a:srgbClr val="000000"/>
                </a:solidFill>
                <a:latin typeface="Arial"/>
                <a:ea typeface="DejaVu Sans"/>
                <a:hlinkClick r:id="rId1" action="ppaction://hlinksldjump"/>
              </a:rPr>
              <a:t>Design</a:t>
            </a:r>
            <a:r>
              <a:rPr b="0" lang="en-US" sz="500" spc="-26" strike="noStrike">
                <a:solidFill>
                  <a:srgbClr val="000000"/>
                </a:solidFill>
                <a:latin typeface="Arial"/>
                <a:ea typeface="DejaVu Sans"/>
                <a:hlinkClick r:id="rId2" action="ppaction://hlinksldjump"/>
              </a:rPr>
              <a:t>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  <a:hlinkClick r:id="rId3" action="ppaction://hlinksldjump"/>
              </a:rPr>
              <a:t>goals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261" name="PlaceHolder 1"/>
          <p:cNvSpPr>
            <a:spLocks noGrp="1"/>
          </p:cNvSpPr>
          <p:nvPr>
            <p:ph type="title"/>
          </p:nvPr>
        </p:nvSpPr>
        <p:spPr>
          <a:xfrm>
            <a:off x="95400" y="197640"/>
            <a:ext cx="2448720" cy="58788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1200" spc="-1" strike="noStrike">
                <a:solidFill>
                  <a:srgbClr val="3333b2"/>
                </a:solidFill>
                <a:latin typeface="Arial"/>
              </a:rPr>
              <a:t>Size</a:t>
            </a:r>
            <a:r>
              <a:rPr b="0" lang="en-US" sz="1200" spc="-52" strike="noStrike">
                <a:solidFill>
                  <a:srgbClr val="3333b2"/>
                </a:solidFill>
                <a:latin typeface="Arial"/>
              </a:rPr>
              <a:t> </a:t>
            </a:r>
            <a:r>
              <a:rPr b="0" lang="en-US" sz="1200" spc="-12" strike="noStrike">
                <a:solidFill>
                  <a:srgbClr val="3333b2"/>
                </a:solidFill>
                <a:latin typeface="Arial"/>
              </a:rPr>
              <a:t>scalability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62" name="object 31"/>
          <p:cNvSpPr/>
          <p:nvPr/>
        </p:nvSpPr>
        <p:spPr>
          <a:xfrm>
            <a:off x="334440" y="514800"/>
            <a:ext cx="3936240" cy="93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2556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1000" spc="-1" strike="noStrike">
                <a:solidFill>
                  <a:srgbClr val="3333b2"/>
                </a:solidFill>
                <a:latin typeface="Arial"/>
                <a:ea typeface="DejaVu Sans"/>
              </a:rPr>
              <a:t>Root</a:t>
            </a:r>
            <a:r>
              <a:rPr b="0" lang="en-US" sz="1000" spc="-35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  <a:ea typeface="DejaVu Sans"/>
              </a:rPr>
              <a:t>causes</a:t>
            </a:r>
            <a:r>
              <a:rPr b="0" lang="en-US" sz="1000" spc="-32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  <a:ea typeface="DejaVu Sans"/>
              </a:rPr>
              <a:t>for</a:t>
            </a:r>
            <a:r>
              <a:rPr b="0" lang="en-US" sz="1000" spc="-32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  <a:ea typeface="DejaVu Sans"/>
              </a:rPr>
              <a:t>scalability</a:t>
            </a:r>
            <a:r>
              <a:rPr b="0" lang="en-US" sz="1000" spc="-32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  <a:ea typeface="DejaVu Sans"/>
              </a:rPr>
              <a:t>problems</a:t>
            </a:r>
            <a:r>
              <a:rPr b="0" lang="en-US" sz="1000" spc="-32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  <a:ea typeface="DejaVu Sans"/>
              </a:rPr>
              <a:t>with</a:t>
            </a:r>
            <a:r>
              <a:rPr b="0" lang="en-US" sz="1000" spc="-32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000" spc="-12" strike="noStrike">
                <a:solidFill>
                  <a:srgbClr val="3333b2"/>
                </a:solidFill>
                <a:latin typeface="Arial"/>
                <a:ea typeface="DejaVu Sans"/>
              </a:rPr>
              <a:t>centralized</a:t>
            </a:r>
            <a:r>
              <a:rPr b="0" lang="en-US" sz="1000" spc="-35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000" spc="-12" strike="noStrike">
                <a:solidFill>
                  <a:srgbClr val="3333b2"/>
                </a:solidFill>
                <a:latin typeface="Arial"/>
                <a:ea typeface="DejaVu Sans"/>
              </a:rPr>
              <a:t>solutions</a:t>
            </a:r>
            <a:endParaRPr b="0" lang="en-US" sz="1000" spc="-1" strike="noStrike">
              <a:latin typeface="Arial"/>
            </a:endParaRPr>
          </a:p>
          <a:p>
            <a:pPr marL="274320" indent="-117000">
              <a:lnSpc>
                <a:spcPct val="100000"/>
              </a:lnSpc>
              <a:spcBef>
                <a:spcPts val="700"/>
              </a:spcBef>
              <a:buClr>
                <a:srgbClr val="3333b2"/>
              </a:buClr>
              <a:buFont typeface="Menlo"/>
              <a:buChar char="•"/>
              <a:tabLst>
                <a:tab algn="l" pos="27504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The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computational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capacity,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limited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by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the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CPUs</a:t>
            </a:r>
            <a:endParaRPr b="0" lang="en-US" sz="900" spc="-1" strike="noStrike">
              <a:latin typeface="Arial"/>
            </a:endParaRPr>
          </a:p>
          <a:p>
            <a:pPr marL="274320" indent="-117000">
              <a:lnSpc>
                <a:spcPct val="100000"/>
              </a:lnSpc>
              <a:spcBef>
                <a:spcPts val="524"/>
              </a:spcBef>
              <a:buClr>
                <a:srgbClr val="3333b2"/>
              </a:buClr>
              <a:buFont typeface="Menlo"/>
              <a:buChar char="•"/>
              <a:tabLst>
                <a:tab algn="l" pos="27504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The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storage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 capacity,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including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the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transfer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rate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between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CPUs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and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disks</a:t>
            </a:r>
            <a:endParaRPr b="0" lang="en-US" sz="900" spc="-1" strike="noStrike">
              <a:latin typeface="Arial"/>
            </a:endParaRPr>
          </a:p>
          <a:p>
            <a:pPr marL="274320" indent="-117000">
              <a:lnSpc>
                <a:spcPct val="100000"/>
              </a:lnSpc>
              <a:spcBef>
                <a:spcPts val="519"/>
              </a:spcBef>
              <a:buClr>
                <a:srgbClr val="3333b2"/>
              </a:buClr>
              <a:buFont typeface="Menlo"/>
              <a:buChar char="•"/>
              <a:tabLst>
                <a:tab algn="l" pos="27504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The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network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between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the</a:t>
            </a:r>
            <a:r>
              <a:rPr b="0" lang="en-US" sz="900" spc="-1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user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and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the</a:t>
            </a:r>
            <a:r>
              <a:rPr b="0" lang="en-US" sz="900" spc="-1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centralized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service</a:t>
            </a:r>
            <a:endParaRPr b="0" lang="en-US" sz="900" spc="-1" strike="noStrike">
              <a:latin typeface="Arial"/>
            </a:endParaRPr>
          </a:p>
        </p:txBody>
      </p:sp>
      <p:grpSp>
        <p:nvGrpSpPr>
          <p:cNvPr id="263" name="object 59"/>
          <p:cNvGrpSpPr/>
          <p:nvPr/>
        </p:nvGrpSpPr>
        <p:grpSpPr>
          <a:xfrm>
            <a:off x="0" y="3348360"/>
            <a:ext cx="4605840" cy="105480"/>
            <a:chOff x="0" y="3348360"/>
            <a:chExt cx="4605840" cy="105480"/>
          </a:xfrm>
        </p:grpSpPr>
        <p:sp>
          <p:nvSpPr>
            <p:cNvPr id="264" name="object 60"/>
            <p:cNvSpPr/>
            <p:nvPr/>
          </p:nvSpPr>
          <p:spPr>
            <a:xfrm>
              <a:off x="0" y="3348360"/>
              <a:ext cx="2301840" cy="10548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5" name="object 61"/>
            <p:cNvSpPr/>
            <p:nvPr/>
          </p:nvSpPr>
          <p:spPr>
            <a:xfrm>
              <a:off x="2304000" y="3348360"/>
              <a:ext cx="2301840" cy="10548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266" name="object 62"/>
          <p:cNvSpPr/>
          <p:nvPr/>
        </p:nvSpPr>
        <p:spPr>
          <a:xfrm>
            <a:off x="53640" y="3349800"/>
            <a:ext cx="308160" cy="8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360" bIns="0" anchor="t">
            <a:spAutoFit/>
          </a:bodyPr>
          <a:p>
            <a:pPr marL="12600">
              <a:lnSpc>
                <a:spcPct val="100000"/>
              </a:lnSpc>
              <a:spcBef>
                <a:spcPts val="74"/>
              </a:spcBef>
              <a:buNone/>
            </a:pP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Scalability</a:t>
            </a:r>
            <a:endParaRPr b="0" lang="en-US" sz="500" spc="-1" strike="noStrike">
              <a:latin typeface="Arial"/>
            </a:endParaRPr>
          </a:p>
        </p:txBody>
      </p:sp>
    </p:spTree>
  </p:cSld>
  <p:transition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object 63"/>
          <p:cNvSpPr/>
          <p:nvPr/>
        </p:nvSpPr>
        <p:spPr>
          <a:xfrm>
            <a:off x="53640" y="-1440"/>
            <a:ext cx="353880" cy="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Introduction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268" name="object 64"/>
          <p:cNvSpPr/>
          <p:nvPr/>
        </p:nvSpPr>
        <p:spPr>
          <a:xfrm>
            <a:off x="2304000" y="0"/>
            <a:ext cx="2301840" cy="105480"/>
          </a:xfrm>
          <a:custGeom>
            <a:avLst/>
            <a:gdLst/>
            <a:ah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9" name="object 65"/>
          <p:cNvSpPr/>
          <p:nvPr/>
        </p:nvSpPr>
        <p:spPr>
          <a:xfrm>
            <a:off x="4163400" y="-1440"/>
            <a:ext cx="388800" cy="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500" spc="-1" strike="noStrike" u="sng">
                <a:solidFill>
                  <a:srgbClr val="0000ff"/>
                </a:solidFill>
                <a:uFillTx/>
                <a:latin typeface="Arial"/>
                <a:ea typeface="DejaVu Sans"/>
                <a:hlinkClick r:id="rId1" action="ppaction://hlinksldjump"/>
              </a:rPr>
              <a:t>Design</a:t>
            </a:r>
            <a:r>
              <a:rPr b="0" lang="en-US" sz="500" spc="-26" strike="noStrike" u="sng">
                <a:solidFill>
                  <a:srgbClr val="0000ff"/>
                </a:solidFill>
                <a:uFillTx/>
                <a:latin typeface="Arial"/>
                <a:ea typeface="DejaVu Sans"/>
                <a:hlinkClick r:id="rId2" action="ppaction://hlinksldjump"/>
              </a:rPr>
              <a:t>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  <a:hlinkClick r:id="rId3" action="ppaction://hlinksldjump"/>
              </a:rPr>
              <a:t>goals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270" name="object 66"/>
          <p:cNvSpPr/>
          <p:nvPr/>
        </p:nvSpPr>
        <p:spPr>
          <a:xfrm>
            <a:off x="69840" y="197640"/>
            <a:ext cx="2873520" cy="10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3816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1200" spc="-21" strike="noStrike">
                <a:solidFill>
                  <a:srgbClr val="3333b2"/>
                </a:solidFill>
                <a:latin typeface="Arial"/>
                <a:ea typeface="DejaVu Sans"/>
              </a:rPr>
              <a:t>Techniques</a:t>
            </a:r>
            <a:r>
              <a:rPr b="0" lang="en-US" sz="1200" spc="-41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200" spc="-1" strike="noStrike">
                <a:solidFill>
                  <a:srgbClr val="3333b2"/>
                </a:solidFill>
                <a:latin typeface="Arial"/>
                <a:ea typeface="DejaVu Sans"/>
              </a:rPr>
              <a:t>for</a:t>
            </a:r>
            <a:r>
              <a:rPr b="0" lang="en-US" sz="1200" spc="-35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200" spc="-12" strike="noStrike">
                <a:solidFill>
                  <a:srgbClr val="3333b2"/>
                </a:solidFill>
                <a:latin typeface="Arial"/>
                <a:ea typeface="DejaVu Sans"/>
              </a:rPr>
              <a:t>scaling</a:t>
            </a:r>
            <a:endParaRPr b="0" lang="en-US" sz="1200" spc="-1" strike="noStrike">
              <a:latin typeface="Arial"/>
            </a:endParaRPr>
          </a:p>
          <a:p>
            <a:pPr marL="289440">
              <a:lnSpc>
                <a:spcPct val="100000"/>
              </a:lnSpc>
              <a:spcBef>
                <a:spcPts val="1054"/>
              </a:spcBef>
              <a:buNone/>
            </a:pPr>
            <a:r>
              <a:rPr b="0" lang="en-US" sz="1000" spc="-1" strike="noStrike">
                <a:solidFill>
                  <a:srgbClr val="3333b2"/>
                </a:solidFill>
                <a:latin typeface="Arial"/>
                <a:ea typeface="DejaVu Sans"/>
              </a:rPr>
              <a:t>Hide </a:t>
            </a:r>
            <a:r>
              <a:rPr b="0" lang="en-US" sz="1000" spc="-12" strike="noStrike">
                <a:solidFill>
                  <a:srgbClr val="3333b2"/>
                </a:solidFill>
                <a:latin typeface="Arial"/>
                <a:ea typeface="DejaVu Sans"/>
              </a:rPr>
              <a:t>communication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000" spc="-12" strike="noStrike">
                <a:solidFill>
                  <a:srgbClr val="3333b2"/>
                </a:solidFill>
                <a:latin typeface="Arial"/>
                <a:ea typeface="DejaVu Sans"/>
              </a:rPr>
              <a:t>latencies</a:t>
            </a:r>
            <a:endParaRPr b="0" lang="en-US" sz="1000" spc="-1" strike="noStrike">
              <a:latin typeface="Arial"/>
            </a:endParaRPr>
          </a:p>
          <a:p>
            <a:pPr marL="542880" indent="-120600">
              <a:lnSpc>
                <a:spcPct val="100000"/>
              </a:lnSpc>
              <a:spcBef>
                <a:spcPts val="505"/>
              </a:spcBef>
              <a:buClr>
                <a:srgbClr val="3333b2"/>
              </a:buClr>
              <a:buFont typeface="Menlo"/>
              <a:buChar char="•"/>
              <a:tabLst>
                <a:tab algn="l" pos="5436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Make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use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of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3333b2"/>
                </a:solidFill>
                <a:latin typeface="Arial"/>
                <a:ea typeface="DejaVu Sans"/>
              </a:rPr>
              <a:t>asynchronous</a:t>
            </a:r>
            <a:r>
              <a:rPr b="0" lang="en-US" sz="900" spc="-41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3333b2"/>
                </a:solidFill>
                <a:latin typeface="Arial"/>
                <a:ea typeface="DejaVu Sans"/>
              </a:rPr>
              <a:t>communication</a:t>
            </a:r>
            <a:endParaRPr b="0" lang="en-US" sz="900" spc="-1" strike="noStrike">
              <a:latin typeface="Arial"/>
            </a:endParaRPr>
          </a:p>
          <a:p>
            <a:pPr marL="542880" indent="-120600">
              <a:lnSpc>
                <a:spcPct val="100000"/>
              </a:lnSpc>
              <a:spcBef>
                <a:spcPts val="524"/>
              </a:spcBef>
              <a:buClr>
                <a:srgbClr val="3333b2"/>
              </a:buClr>
              <a:buFont typeface="Menlo"/>
              <a:buChar char="•"/>
              <a:tabLst>
                <a:tab algn="l" pos="543600"/>
              </a:tabLst>
            </a:pP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Have</a:t>
            </a:r>
            <a:r>
              <a:rPr b="0" lang="en-US" sz="900" spc="-4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separate</a:t>
            </a:r>
            <a:r>
              <a:rPr b="0" lang="en-US" sz="900" spc="-4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handler</a:t>
            </a:r>
            <a:r>
              <a:rPr b="0" lang="en-US" sz="900" spc="-4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for</a:t>
            </a:r>
            <a:r>
              <a:rPr b="0" lang="en-US" sz="900" spc="-4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incoming</a:t>
            </a:r>
            <a:r>
              <a:rPr b="0" lang="en-US" sz="900" spc="-4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response</a:t>
            </a:r>
            <a:endParaRPr b="0" lang="en-US" sz="900" spc="-1" strike="noStrike">
              <a:latin typeface="Arial"/>
            </a:endParaRPr>
          </a:p>
          <a:p>
            <a:pPr marL="542880" indent="-120600">
              <a:lnSpc>
                <a:spcPct val="100000"/>
              </a:lnSpc>
              <a:spcBef>
                <a:spcPts val="519"/>
              </a:spcBef>
              <a:buClr>
                <a:srgbClr val="3333b2"/>
              </a:buClr>
              <a:buFont typeface="Menlo"/>
              <a:buChar char="•"/>
              <a:tabLst>
                <a:tab algn="l" pos="543600"/>
              </a:tabLst>
            </a:pPr>
            <a:r>
              <a:rPr b="0" lang="en-US" sz="900" spc="-1" strike="noStrike">
                <a:solidFill>
                  <a:srgbClr val="3333b2"/>
                </a:solidFill>
                <a:latin typeface="Arial"/>
                <a:ea typeface="DejaVu Sans"/>
              </a:rPr>
              <a:t>Problem: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not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every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application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fits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this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model</a:t>
            </a:r>
            <a:endParaRPr b="0" lang="en-US" sz="900" spc="-1" strike="noStrike">
              <a:latin typeface="Arial"/>
            </a:endParaRPr>
          </a:p>
        </p:txBody>
      </p:sp>
      <p:grpSp>
        <p:nvGrpSpPr>
          <p:cNvPr id="271" name="object 67"/>
          <p:cNvGrpSpPr/>
          <p:nvPr/>
        </p:nvGrpSpPr>
        <p:grpSpPr>
          <a:xfrm>
            <a:off x="0" y="3348360"/>
            <a:ext cx="4605840" cy="105480"/>
            <a:chOff x="0" y="3348360"/>
            <a:chExt cx="4605840" cy="105480"/>
          </a:xfrm>
        </p:grpSpPr>
        <p:sp>
          <p:nvSpPr>
            <p:cNvPr id="272" name="object 68"/>
            <p:cNvSpPr/>
            <p:nvPr/>
          </p:nvSpPr>
          <p:spPr>
            <a:xfrm>
              <a:off x="0" y="3348360"/>
              <a:ext cx="2301840" cy="10548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73" name="object 69"/>
            <p:cNvSpPr/>
            <p:nvPr/>
          </p:nvSpPr>
          <p:spPr>
            <a:xfrm>
              <a:off x="2304000" y="3348360"/>
              <a:ext cx="2301840" cy="10548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274" name="object 70"/>
          <p:cNvSpPr/>
          <p:nvPr/>
        </p:nvSpPr>
        <p:spPr>
          <a:xfrm>
            <a:off x="53640" y="3349800"/>
            <a:ext cx="308160" cy="8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360" bIns="0" anchor="t">
            <a:spAutoFit/>
          </a:bodyPr>
          <a:p>
            <a:pPr marL="12600">
              <a:lnSpc>
                <a:spcPct val="100000"/>
              </a:lnSpc>
              <a:spcBef>
                <a:spcPts val="74"/>
              </a:spcBef>
              <a:buNone/>
            </a:pP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Scalability</a:t>
            </a:r>
            <a:endParaRPr b="0" lang="en-US" sz="500" spc="-1" strike="noStrike">
              <a:latin typeface="Arial"/>
            </a:endParaRPr>
          </a:p>
        </p:txBody>
      </p:sp>
    </p:spTree>
  </p:cSld>
  <p:transition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object 71"/>
          <p:cNvSpPr/>
          <p:nvPr/>
        </p:nvSpPr>
        <p:spPr>
          <a:xfrm>
            <a:off x="53640" y="-1440"/>
            <a:ext cx="353880" cy="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Introduction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276" name="object 72"/>
          <p:cNvSpPr/>
          <p:nvPr/>
        </p:nvSpPr>
        <p:spPr>
          <a:xfrm>
            <a:off x="2304000" y="0"/>
            <a:ext cx="2301840" cy="105480"/>
          </a:xfrm>
          <a:custGeom>
            <a:avLst/>
            <a:gdLst/>
            <a:ah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7" name="object 73"/>
          <p:cNvSpPr/>
          <p:nvPr/>
        </p:nvSpPr>
        <p:spPr>
          <a:xfrm>
            <a:off x="4163400" y="-1440"/>
            <a:ext cx="388800" cy="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500" spc="-1" strike="noStrike" u="sng">
                <a:solidFill>
                  <a:srgbClr val="0000ff"/>
                </a:solidFill>
                <a:uFillTx/>
                <a:latin typeface="Arial"/>
                <a:ea typeface="DejaVu Sans"/>
                <a:hlinkClick r:id="rId1" action="ppaction://hlinksldjump"/>
              </a:rPr>
              <a:t>Design</a:t>
            </a:r>
            <a:r>
              <a:rPr b="0" lang="en-US" sz="500" spc="-26" strike="noStrike" u="sng">
                <a:solidFill>
                  <a:srgbClr val="0000ff"/>
                </a:solidFill>
                <a:uFillTx/>
                <a:latin typeface="Arial"/>
                <a:ea typeface="DejaVu Sans"/>
                <a:hlinkClick r:id="rId2" action="ppaction://hlinksldjump"/>
              </a:rPr>
              <a:t>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  <a:hlinkClick r:id="rId3" action="ppaction://hlinksldjump"/>
              </a:rPr>
              <a:t>goals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278" name="object 74"/>
          <p:cNvSpPr/>
          <p:nvPr/>
        </p:nvSpPr>
        <p:spPr>
          <a:xfrm>
            <a:off x="95400" y="197640"/>
            <a:ext cx="31122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1200" spc="-21" strike="noStrike">
                <a:solidFill>
                  <a:srgbClr val="3333b2"/>
                </a:solidFill>
                <a:latin typeface="Arial"/>
                <a:ea typeface="DejaVu Sans"/>
              </a:rPr>
              <a:t>Techniques</a:t>
            </a:r>
            <a:r>
              <a:rPr b="0" lang="en-US" sz="1200" spc="-41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200" spc="-1" strike="noStrike">
                <a:solidFill>
                  <a:srgbClr val="3333b2"/>
                </a:solidFill>
                <a:latin typeface="Arial"/>
                <a:ea typeface="DejaVu Sans"/>
              </a:rPr>
              <a:t>for</a:t>
            </a:r>
            <a:r>
              <a:rPr b="0" lang="en-US" sz="1200" spc="-35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200" spc="-12" strike="noStrike">
                <a:solidFill>
                  <a:srgbClr val="3333b2"/>
                </a:solidFill>
                <a:latin typeface="Arial"/>
                <a:ea typeface="DejaVu Sans"/>
              </a:rPr>
              <a:t>scaling</a:t>
            </a:r>
            <a:endParaRPr b="0" lang="en-US" sz="1200" spc="-1" strike="noStrike">
              <a:latin typeface="Arial"/>
            </a:endParaRPr>
          </a:p>
          <a:p>
            <a:pPr marL="264240">
              <a:lnSpc>
                <a:spcPct val="100000"/>
              </a:lnSpc>
              <a:spcBef>
                <a:spcPts val="856"/>
              </a:spcBef>
              <a:buNone/>
            </a:pPr>
            <a:r>
              <a:rPr b="0" lang="en-US" sz="1000" spc="-12" strike="noStrike">
                <a:solidFill>
                  <a:srgbClr val="3333b2"/>
                </a:solidFill>
                <a:latin typeface="Arial"/>
                <a:ea typeface="DejaVu Sans"/>
              </a:rPr>
              <a:t>Facilitate</a:t>
            </a:r>
            <a:r>
              <a:rPr b="0" lang="en-US" sz="1000" spc="-35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  <a:ea typeface="DejaVu Sans"/>
              </a:rPr>
              <a:t>solution</a:t>
            </a:r>
            <a:r>
              <a:rPr b="0" lang="en-US" sz="1000" spc="-35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  <a:ea typeface="DejaVu Sans"/>
              </a:rPr>
              <a:t>by</a:t>
            </a:r>
            <a:r>
              <a:rPr b="0" lang="en-US" sz="1000" spc="-32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  <a:ea typeface="DejaVu Sans"/>
              </a:rPr>
              <a:t>moving</a:t>
            </a:r>
            <a:r>
              <a:rPr b="0" lang="en-US" sz="1000" spc="-35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  <a:ea typeface="DejaVu Sans"/>
              </a:rPr>
              <a:t>computations</a:t>
            </a:r>
            <a:r>
              <a:rPr b="0" lang="en-US" sz="1000" spc="-35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  <a:ea typeface="DejaVu Sans"/>
              </a:rPr>
              <a:t>to</a:t>
            </a:r>
            <a:r>
              <a:rPr b="0" lang="en-US" sz="1000" spc="-35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000" spc="-12" strike="noStrike">
                <a:solidFill>
                  <a:srgbClr val="3333b2"/>
                </a:solidFill>
                <a:latin typeface="Arial"/>
                <a:ea typeface="DejaVu Sans"/>
              </a:rPr>
              <a:t>client</a:t>
            </a:r>
            <a:endParaRPr b="0" lang="en-US" sz="1000" spc="-1" strike="noStrike">
              <a:latin typeface="Arial"/>
            </a:endParaRPr>
          </a:p>
        </p:txBody>
      </p:sp>
      <p:pic>
        <p:nvPicPr>
          <p:cNvPr id="279" name="object 75" descr=""/>
          <p:cNvPicPr/>
          <p:nvPr/>
        </p:nvPicPr>
        <p:blipFill>
          <a:blip r:embed="rId4"/>
          <a:stretch/>
        </p:blipFill>
        <p:spPr>
          <a:xfrm>
            <a:off x="360000" y="929160"/>
            <a:ext cx="3893760" cy="866520"/>
          </a:xfrm>
          <a:prstGeom prst="rect">
            <a:avLst/>
          </a:prstGeom>
          <a:ln w="0">
            <a:noFill/>
          </a:ln>
        </p:spPr>
      </p:pic>
      <p:pic>
        <p:nvPicPr>
          <p:cNvPr id="280" name="object 76" descr=""/>
          <p:cNvPicPr/>
          <p:nvPr/>
        </p:nvPicPr>
        <p:blipFill>
          <a:blip r:embed="rId5"/>
          <a:stretch/>
        </p:blipFill>
        <p:spPr>
          <a:xfrm>
            <a:off x="360000" y="1975320"/>
            <a:ext cx="3885840" cy="894960"/>
          </a:xfrm>
          <a:prstGeom prst="rect">
            <a:avLst/>
          </a:prstGeom>
          <a:ln w="0">
            <a:noFill/>
          </a:ln>
        </p:spPr>
      </p:pic>
      <p:grpSp>
        <p:nvGrpSpPr>
          <p:cNvPr id="281" name="object 77"/>
          <p:cNvGrpSpPr/>
          <p:nvPr/>
        </p:nvGrpSpPr>
        <p:grpSpPr>
          <a:xfrm>
            <a:off x="0" y="3348360"/>
            <a:ext cx="4605840" cy="105480"/>
            <a:chOff x="0" y="3348360"/>
            <a:chExt cx="4605840" cy="105480"/>
          </a:xfrm>
        </p:grpSpPr>
        <p:sp>
          <p:nvSpPr>
            <p:cNvPr id="282" name="object 78"/>
            <p:cNvSpPr/>
            <p:nvPr/>
          </p:nvSpPr>
          <p:spPr>
            <a:xfrm>
              <a:off x="0" y="3348360"/>
              <a:ext cx="2301840" cy="10548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3" name="object 79"/>
            <p:cNvSpPr/>
            <p:nvPr/>
          </p:nvSpPr>
          <p:spPr>
            <a:xfrm>
              <a:off x="2304000" y="3348360"/>
              <a:ext cx="2301840" cy="10548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284" name="object 80"/>
          <p:cNvSpPr/>
          <p:nvPr/>
        </p:nvSpPr>
        <p:spPr>
          <a:xfrm>
            <a:off x="53640" y="3349800"/>
            <a:ext cx="308160" cy="8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360" bIns="0" anchor="t">
            <a:spAutoFit/>
          </a:bodyPr>
          <a:p>
            <a:pPr marL="12600">
              <a:lnSpc>
                <a:spcPct val="100000"/>
              </a:lnSpc>
              <a:spcBef>
                <a:spcPts val="74"/>
              </a:spcBef>
              <a:buNone/>
            </a:pP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Scalability</a:t>
            </a:r>
            <a:endParaRPr b="0" lang="en-US" sz="500" spc="-1" strike="noStrike">
              <a:latin typeface="Arial"/>
            </a:endParaRPr>
          </a:p>
        </p:txBody>
      </p:sp>
    </p:spTree>
  </p:cSld>
  <p:transition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object 81"/>
          <p:cNvSpPr/>
          <p:nvPr/>
        </p:nvSpPr>
        <p:spPr>
          <a:xfrm>
            <a:off x="53640" y="-1440"/>
            <a:ext cx="353880" cy="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Introduction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286" name="object 82"/>
          <p:cNvSpPr/>
          <p:nvPr/>
        </p:nvSpPr>
        <p:spPr>
          <a:xfrm>
            <a:off x="2304000" y="0"/>
            <a:ext cx="2301840" cy="105480"/>
          </a:xfrm>
          <a:custGeom>
            <a:avLst/>
            <a:gdLst/>
            <a:ah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7" name="object 83"/>
          <p:cNvSpPr/>
          <p:nvPr/>
        </p:nvSpPr>
        <p:spPr>
          <a:xfrm>
            <a:off x="4163400" y="-1440"/>
            <a:ext cx="388800" cy="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500" spc="-1" strike="noStrike" u="sng">
                <a:solidFill>
                  <a:srgbClr val="0000ff"/>
                </a:solidFill>
                <a:uFillTx/>
                <a:latin typeface="Arial"/>
                <a:ea typeface="DejaVu Sans"/>
                <a:hlinkClick r:id="rId1" action="ppaction://hlinksldjump"/>
              </a:rPr>
              <a:t>Design</a:t>
            </a:r>
            <a:r>
              <a:rPr b="0" lang="en-US" sz="500" spc="-26" strike="noStrike" u="sng">
                <a:solidFill>
                  <a:srgbClr val="0000ff"/>
                </a:solidFill>
                <a:uFillTx/>
                <a:latin typeface="Arial"/>
                <a:ea typeface="DejaVu Sans"/>
                <a:hlinkClick r:id="rId2" action="ppaction://hlinksldjump"/>
              </a:rPr>
              <a:t>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  <a:hlinkClick r:id="rId3" action="ppaction://hlinksldjump"/>
              </a:rPr>
              <a:t>goals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288" name="object 84"/>
          <p:cNvSpPr/>
          <p:nvPr/>
        </p:nvSpPr>
        <p:spPr>
          <a:xfrm>
            <a:off x="69840" y="197640"/>
            <a:ext cx="3559320" cy="11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3816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1200" spc="-21" strike="noStrike">
                <a:solidFill>
                  <a:srgbClr val="3333b2"/>
                </a:solidFill>
                <a:latin typeface="Arial"/>
                <a:ea typeface="DejaVu Sans"/>
              </a:rPr>
              <a:t>Techniques</a:t>
            </a:r>
            <a:r>
              <a:rPr b="0" lang="en-US" sz="1200" spc="-41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200" spc="-1" strike="noStrike">
                <a:solidFill>
                  <a:srgbClr val="3333b2"/>
                </a:solidFill>
                <a:latin typeface="Arial"/>
                <a:ea typeface="DejaVu Sans"/>
              </a:rPr>
              <a:t>for</a:t>
            </a:r>
            <a:r>
              <a:rPr b="0" lang="en-US" sz="1200" spc="-35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200" spc="-12" strike="noStrike">
                <a:solidFill>
                  <a:srgbClr val="3333b2"/>
                </a:solidFill>
                <a:latin typeface="Arial"/>
                <a:ea typeface="DejaVu Sans"/>
              </a:rPr>
              <a:t>scaling</a:t>
            </a:r>
            <a:endParaRPr b="0" lang="en-US" sz="1200" spc="-1" strike="noStrike">
              <a:latin typeface="Arial"/>
            </a:endParaRPr>
          </a:p>
          <a:p>
            <a:pPr marL="289440">
              <a:lnSpc>
                <a:spcPct val="100000"/>
              </a:lnSpc>
              <a:spcBef>
                <a:spcPts val="1054"/>
              </a:spcBef>
              <a:buNone/>
            </a:pPr>
            <a:r>
              <a:rPr b="0" lang="en-US" sz="1000" spc="-1" strike="noStrike">
                <a:solidFill>
                  <a:srgbClr val="3333b2"/>
                </a:solidFill>
                <a:latin typeface="Arial"/>
                <a:ea typeface="DejaVu Sans"/>
              </a:rPr>
              <a:t>Partition</a:t>
            </a:r>
            <a:r>
              <a:rPr b="0" lang="en-US" sz="1000" spc="-46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  <a:ea typeface="DejaVu Sans"/>
              </a:rPr>
              <a:t>data</a:t>
            </a:r>
            <a:r>
              <a:rPr b="0" lang="en-US" sz="1000" spc="-41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  <a:ea typeface="DejaVu Sans"/>
              </a:rPr>
              <a:t>and</a:t>
            </a:r>
            <a:r>
              <a:rPr b="0" lang="en-US" sz="1000" spc="-41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  <a:ea typeface="DejaVu Sans"/>
              </a:rPr>
              <a:t>computations</a:t>
            </a:r>
            <a:r>
              <a:rPr b="0" lang="en-US" sz="1000" spc="-41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  <a:ea typeface="DejaVu Sans"/>
              </a:rPr>
              <a:t>across</a:t>
            </a:r>
            <a:r>
              <a:rPr b="0" lang="en-US" sz="1000" spc="-41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  <a:ea typeface="DejaVu Sans"/>
              </a:rPr>
              <a:t>multiple</a:t>
            </a:r>
            <a:r>
              <a:rPr b="0" lang="en-US" sz="1000" spc="-41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000" spc="-12" strike="noStrike">
                <a:solidFill>
                  <a:srgbClr val="3333b2"/>
                </a:solidFill>
                <a:latin typeface="Arial"/>
                <a:ea typeface="DejaVu Sans"/>
              </a:rPr>
              <a:t>machines</a:t>
            </a:r>
            <a:endParaRPr b="0" lang="en-US" sz="1000" spc="-1" strike="noStrike">
              <a:latin typeface="Arial"/>
            </a:endParaRPr>
          </a:p>
          <a:p>
            <a:pPr marL="542880" indent="-120600">
              <a:lnSpc>
                <a:spcPct val="100000"/>
              </a:lnSpc>
              <a:spcBef>
                <a:spcPts val="694"/>
              </a:spcBef>
              <a:buClr>
                <a:srgbClr val="3333b2"/>
              </a:buClr>
              <a:buFont typeface="Menlo"/>
              <a:buChar char="•"/>
              <a:tabLst>
                <a:tab algn="l" pos="543600"/>
              </a:tabLst>
            </a:pP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Move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computations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to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clients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(Java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applets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and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scripts)</a:t>
            </a:r>
            <a:endParaRPr b="0" lang="en-US" sz="900" spc="-1" strike="noStrike">
              <a:latin typeface="Arial"/>
            </a:endParaRPr>
          </a:p>
          <a:p>
            <a:pPr marL="542880" indent="-120600">
              <a:lnSpc>
                <a:spcPct val="100000"/>
              </a:lnSpc>
              <a:spcBef>
                <a:spcPts val="524"/>
              </a:spcBef>
              <a:buClr>
                <a:srgbClr val="3333b2"/>
              </a:buClr>
              <a:buFont typeface="Menlo"/>
              <a:buChar char="•"/>
              <a:tabLst>
                <a:tab algn="l" pos="543600"/>
              </a:tabLst>
            </a:pP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Decentralized</a:t>
            </a:r>
            <a:r>
              <a:rPr b="0" lang="en-US" sz="900" spc="-7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naming services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(DNS)</a:t>
            </a:r>
            <a:endParaRPr b="0" lang="en-US" sz="900" spc="-1" strike="noStrike">
              <a:latin typeface="Arial"/>
            </a:endParaRPr>
          </a:p>
          <a:p>
            <a:pPr marL="542880" indent="-120600">
              <a:lnSpc>
                <a:spcPct val="100000"/>
              </a:lnSpc>
              <a:spcBef>
                <a:spcPts val="524"/>
              </a:spcBef>
              <a:buClr>
                <a:srgbClr val="3333b2"/>
              </a:buClr>
              <a:buFont typeface="Menlo"/>
              <a:buChar char="•"/>
              <a:tabLst>
                <a:tab algn="l" pos="543600"/>
              </a:tabLst>
            </a:pP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Decentralized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information</a:t>
            </a:r>
            <a:r>
              <a:rPr b="0" lang="en-US" sz="900" spc="-1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systems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(WWW)</a:t>
            </a:r>
            <a:endParaRPr b="0" lang="en-US" sz="900" spc="-1" strike="noStrike">
              <a:latin typeface="Arial"/>
            </a:endParaRPr>
          </a:p>
        </p:txBody>
      </p:sp>
      <p:grpSp>
        <p:nvGrpSpPr>
          <p:cNvPr id="289" name="object 85"/>
          <p:cNvGrpSpPr/>
          <p:nvPr/>
        </p:nvGrpSpPr>
        <p:grpSpPr>
          <a:xfrm>
            <a:off x="0" y="3348360"/>
            <a:ext cx="4605840" cy="105480"/>
            <a:chOff x="0" y="3348360"/>
            <a:chExt cx="4605840" cy="105480"/>
          </a:xfrm>
        </p:grpSpPr>
        <p:sp>
          <p:nvSpPr>
            <p:cNvPr id="290" name="object 86"/>
            <p:cNvSpPr/>
            <p:nvPr/>
          </p:nvSpPr>
          <p:spPr>
            <a:xfrm>
              <a:off x="0" y="3348360"/>
              <a:ext cx="2301840" cy="10548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91" name="object 87"/>
            <p:cNvSpPr/>
            <p:nvPr/>
          </p:nvSpPr>
          <p:spPr>
            <a:xfrm>
              <a:off x="2304000" y="3348360"/>
              <a:ext cx="2301840" cy="10548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292" name="object 88"/>
          <p:cNvSpPr/>
          <p:nvPr/>
        </p:nvSpPr>
        <p:spPr>
          <a:xfrm>
            <a:off x="53640" y="3349800"/>
            <a:ext cx="308160" cy="8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360" bIns="0" anchor="t">
            <a:spAutoFit/>
          </a:bodyPr>
          <a:p>
            <a:pPr marL="12600">
              <a:lnSpc>
                <a:spcPct val="100000"/>
              </a:lnSpc>
              <a:spcBef>
                <a:spcPts val="74"/>
              </a:spcBef>
              <a:buNone/>
            </a:pP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Scalability</a:t>
            </a:r>
            <a:endParaRPr b="0" lang="en-US" sz="500" spc="-1" strike="noStrike">
              <a:latin typeface="Arial"/>
            </a:endParaRPr>
          </a:p>
        </p:txBody>
      </p:sp>
    </p:spTree>
  </p:cSld>
  <p:transition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object 89"/>
          <p:cNvSpPr/>
          <p:nvPr/>
        </p:nvSpPr>
        <p:spPr>
          <a:xfrm>
            <a:off x="53640" y="-1440"/>
            <a:ext cx="353880" cy="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Introduction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294" name="object 90"/>
          <p:cNvSpPr/>
          <p:nvPr/>
        </p:nvSpPr>
        <p:spPr>
          <a:xfrm>
            <a:off x="2304000" y="0"/>
            <a:ext cx="2301840" cy="105480"/>
          </a:xfrm>
          <a:custGeom>
            <a:avLst/>
            <a:gdLst/>
            <a:ah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5" name="object 91"/>
          <p:cNvSpPr/>
          <p:nvPr/>
        </p:nvSpPr>
        <p:spPr>
          <a:xfrm>
            <a:off x="4163400" y="-1440"/>
            <a:ext cx="388800" cy="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500" spc="-1" strike="noStrike" u="sng">
                <a:solidFill>
                  <a:srgbClr val="0000ff"/>
                </a:solidFill>
                <a:uFillTx/>
                <a:latin typeface="Arial"/>
                <a:ea typeface="DejaVu Sans"/>
                <a:hlinkClick r:id="rId1" action="ppaction://hlinksldjump"/>
              </a:rPr>
              <a:t>Design</a:t>
            </a:r>
            <a:r>
              <a:rPr b="0" lang="en-US" sz="500" spc="-26" strike="noStrike" u="sng">
                <a:solidFill>
                  <a:srgbClr val="0000ff"/>
                </a:solidFill>
                <a:uFillTx/>
                <a:latin typeface="Arial"/>
                <a:ea typeface="DejaVu Sans"/>
                <a:hlinkClick r:id="rId2" action="ppaction://hlinksldjump"/>
              </a:rPr>
              <a:t>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  <a:hlinkClick r:id="rId3" action="ppaction://hlinksldjump"/>
              </a:rPr>
              <a:t>goals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296" name="object 92"/>
          <p:cNvSpPr/>
          <p:nvPr/>
        </p:nvSpPr>
        <p:spPr>
          <a:xfrm>
            <a:off x="69840" y="197640"/>
            <a:ext cx="4033080" cy="21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3816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1200" spc="-21" strike="noStrike">
                <a:solidFill>
                  <a:srgbClr val="3333b2"/>
                </a:solidFill>
                <a:latin typeface="Arial"/>
                <a:ea typeface="DejaVu Sans"/>
              </a:rPr>
              <a:t>Techniques</a:t>
            </a:r>
            <a:r>
              <a:rPr b="0" lang="en-US" sz="1200" spc="-41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200" spc="-1" strike="noStrike">
                <a:solidFill>
                  <a:srgbClr val="3333b2"/>
                </a:solidFill>
                <a:latin typeface="Arial"/>
                <a:ea typeface="DejaVu Sans"/>
              </a:rPr>
              <a:t>for</a:t>
            </a:r>
            <a:r>
              <a:rPr b="0" lang="en-US" sz="1200" spc="-35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200" spc="-12" strike="noStrike">
                <a:solidFill>
                  <a:srgbClr val="3333b2"/>
                </a:solidFill>
                <a:latin typeface="Arial"/>
                <a:ea typeface="DejaVu Sans"/>
              </a:rPr>
              <a:t>scaling</a:t>
            </a:r>
            <a:endParaRPr b="0" lang="en-US" sz="1200" spc="-1" strike="noStrike">
              <a:latin typeface="Arial"/>
            </a:endParaRPr>
          </a:p>
          <a:p>
            <a:pPr marL="289440">
              <a:lnSpc>
                <a:spcPct val="109000"/>
              </a:lnSpc>
              <a:spcBef>
                <a:spcPts val="675"/>
              </a:spcBef>
              <a:buNone/>
            </a:pPr>
            <a:r>
              <a:rPr b="0" lang="en-US" sz="1000" spc="-1" strike="noStrike">
                <a:solidFill>
                  <a:srgbClr val="3333b2"/>
                </a:solidFill>
                <a:latin typeface="Arial"/>
                <a:ea typeface="DejaVu Sans"/>
              </a:rPr>
              <a:t>Replication</a:t>
            </a:r>
            <a:r>
              <a:rPr b="0" lang="en-US" sz="1000" spc="-32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  <a:ea typeface="DejaVu Sans"/>
              </a:rPr>
              <a:t>and</a:t>
            </a:r>
            <a:r>
              <a:rPr b="0" lang="en-US" sz="1000" spc="-32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  <a:ea typeface="DejaVu Sans"/>
              </a:rPr>
              <a:t>caching:</a:t>
            </a:r>
            <a:r>
              <a:rPr b="0" lang="en-US" sz="1000" spc="12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  <a:ea typeface="DejaVu Sans"/>
              </a:rPr>
              <a:t>Make</a:t>
            </a:r>
            <a:r>
              <a:rPr b="0" lang="en-US" sz="1000" spc="-32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  <a:ea typeface="DejaVu Sans"/>
              </a:rPr>
              <a:t>copies</a:t>
            </a:r>
            <a:r>
              <a:rPr b="0" lang="en-US" sz="1000" spc="-32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  <a:ea typeface="DejaVu Sans"/>
              </a:rPr>
              <a:t>of</a:t>
            </a:r>
            <a:r>
              <a:rPr b="0" lang="en-US" sz="1000" spc="-32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  <a:ea typeface="DejaVu Sans"/>
              </a:rPr>
              <a:t>data</a:t>
            </a:r>
            <a:r>
              <a:rPr b="0" lang="en-US" sz="1000" spc="-32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000" spc="-12" strike="noStrike">
                <a:solidFill>
                  <a:srgbClr val="3333b2"/>
                </a:solidFill>
                <a:latin typeface="Arial"/>
                <a:ea typeface="DejaVu Sans"/>
              </a:rPr>
              <a:t>available</a:t>
            </a:r>
            <a:r>
              <a:rPr b="0" lang="en-US" sz="1000" spc="-32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  <a:ea typeface="DejaVu Sans"/>
              </a:rPr>
              <a:t>at</a:t>
            </a:r>
            <a:r>
              <a:rPr b="0" lang="en-US" sz="1000" spc="-32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000" spc="-12" strike="noStrike">
                <a:solidFill>
                  <a:srgbClr val="3333b2"/>
                </a:solidFill>
                <a:latin typeface="Arial"/>
                <a:ea typeface="DejaVu Sans"/>
              </a:rPr>
              <a:t>different machines</a:t>
            </a:r>
            <a:br>
              <a:rPr sz="1000"/>
            </a:br>
            <a:endParaRPr b="0" lang="en-US" sz="1000" spc="-1" strike="noStrike">
              <a:latin typeface="Arial"/>
            </a:endParaRPr>
          </a:p>
          <a:p>
            <a:pPr marL="542880" indent="-120600">
              <a:lnSpc>
                <a:spcPct val="100000"/>
              </a:lnSpc>
              <a:spcBef>
                <a:spcPts val="499"/>
              </a:spcBef>
              <a:buClr>
                <a:srgbClr val="3333b2"/>
              </a:buClr>
              <a:buFont typeface="Menlo"/>
              <a:buChar char="•"/>
              <a:tabLst>
                <a:tab algn="l" pos="5436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Replicated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file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servers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and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databases</a:t>
            </a:r>
            <a:br>
              <a:rPr sz="900"/>
            </a:b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n-US" sz="900" spc="-1" strike="noStrike">
              <a:latin typeface="Arial"/>
            </a:endParaRPr>
          </a:p>
          <a:p>
            <a:pPr marL="542880" indent="-120600">
              <a:lnSpc>
                <a:spcPct val="100000"/>
              </a:lnSpc>
              <a:spcBef>
                <a:spcPts val="524"/>
              </a:spcBef>
              <a:buClr>
                <a:srgbClr val="3333b2"/>
              </a:buClr>
              <a:buFont typeface="Menlo"/>
              <a:buChar char="•"/>
              <a:tabLst>
                <a:tab algn="l" pos="5436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Mirrored</a:t>
            </a:r>
            <a:r>
              <a:rPr b="0" lang="en-US" sz="900" spc="-4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Websites</a:t>
            </a:r>
            <a:br>
              <a:rPr sz="900"/>
            </a:b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n-US" sz="900" spc="-1" strike="noStrike">
              <a:latin typeface="Arial"/>
            </a:endParaRPr>
          </a:p>
          <a:p>
            <a:pPr marL="537120" indent="-114840">
              <a:lnSpc>
                <a:spcPct val="100000"/>
              </a:lnSpc>
              <a:spcBef>
                <a:spcPts val="524"/>
              </a:spcBef>
              <a:buClr>
                <a:srgbClr val="3333b2"/>
              </a:buClr>
              <a:buFont typeface="Menlo"/>
              <a:buChar char="•"/>
              <a:tabLst>
                <a:tab algn="l" pos="53784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Web</a:t>
            </a:r>
            <a:r>
              <a:rPr b="0" lang="en-US" sz="900" spc="-4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caches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(in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browsers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and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proxies)</a:t>
            </a:r>
            <a:br>
              <a:rPr sz="900"/>
            </a:b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Store copies of web files on user device or intermediary servers</a:t>
            </a:r>
            <a:br>
              <a:rPr sz="900"/>
            </a:b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n-US" sz="900" spc="-1" strike="noStrike">
              <a:latin typeface="Arial"/>
            </a:endParaRPr>
          </a:p>
          <a:p>
            <a:pPr marL="542880" indent="-120600">
              <a:lnSpc>
                <a:spcPct val="100000"/>
              </a:lnSpc>
              <a:spcBef>
                <a:spcPts val="519"/>
              </a:spcBef>
              <a:buClr>
                <a:srgbClr val="3333b2"/>
              </a:buClr>
              <a:buFont typeface="Menlo"/>
              <a:buChar char="•"/>
              <a:tabLst>
                <a:tab algn="l" pos="5436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File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caching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(at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server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and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client)</a:t>
            </a:r>
            <a:endParaRPr b="0" lang="en-US" sz="900" spc="-1" strike="noStrike">
              <a:latin typeface="Arial"/>
            </a:endParaRPr>
          </a:p>
        </p:txBody>
      </p:sp>
      <p:grpSp>
        <p:nvGrpSpPr>
          <p:cNvPr id="297" name="object 93"/>
          <p:cNvGrpSpPr/>
          <p:nvPr/>
        </p:nvGrpSpPr>
        <p:grpSpPr>
          <a:xfrm>
            <a:off x="0" y="3348360"/>
            <a:ext cx="4605840" cy="105480"/>
            <a:chOff x="0" y="3348360"/>
            <a:chExt cx="4605840" cy="105480"/>
          </a:xfrm>
        </p:grpSpPr>
        <p:sp>
          <p:nvSpPr>
            <p:cNvPr id="298" name="object 94"/>
            <p:cNvSpPr/>
            <p:nvPr/>
          </p:nvSpPr>
          <p:spPr>
            <a:xfrm>
              <a:off x="0" y="3348360"/>
              <a:ext cx="2301840" cy="10548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99" name="object 95"/>
            <p:cNvSpPr/>
            <p:nvPr/>
          </p:nvSpPr>
          <p:spPr>
            <a:xfrm>
              <a:off x="2304000" y="3348360"/>
              <a:ext cx="2301840" cy="10548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300" name="object 96"/>
          <p:cNvSpPr/>
          <p:nvPr/>
        </p:nvSpPr>
        <p:spPr>
          <a:xfrm>
            <a:off x="53640" y="3349800"/>
            <a:ext cx="308160" cy="8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360" bIns="0" anchor="t">
            <a:spAutoFit/>
          </a:bodyPr>
          <a:p>
            <a:pPr marL="12600">
              <a:lnSpc>
                <a:spcPct val="100000"/>
              </a:lnSpc>
              <a:spcBef>
                <a:spcPts val="74"/>
              </a:spcBef>
              <a:buNone/>
            </a:pP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Scalability</a:t>
            </a:r>
            <a:endParaRPr b="0" lang="en-US" sz="500" spc="-1" strike="noStrike">
              <a:latin typeface="Arial"/>
            </a:endParaRPr>
          </a:p>
        </p:txBody>
      </p:sp>
    </p:spTree>
  </p:cSld>
  <p:transition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object 97"/>
          <p:cNvSpPr/>
          <p:nvPr/>
        </p:nvSpPr>
        <p:spPr>
          <a:xfrm>
            <a:off x="53640" y="-1440"/>
            <a:ext cx="353880" cy="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Introduction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302" name="object 98"/>
          <p:cNvSpPr/>
          <p:nvPr/>
        </p:nvSpPr>
        <p:spPr>
          <a:xfrm>
            <a:off x="2304000" y="0"/>
            <a:ext cx="2301840" cy="105480"/>
          </a:xfrm>
          <a:custGeom>
            <a:avLst/>
            <a:gdLst/>
            <a:ah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3" name="object 99"/>
          <p:cNvSpPr/>
          <p:nvPr/>
        </p:nvSpPr>
        <p:spPr>
          <a:xfrm>
            <a:off x="4163400" y="-1440"/>
            <a:ext cx="388800" cy="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500" spc="-1" strike="noStrike" u="sng">
                <a:solidFill>
                  <a:srgbClr val="0000ff"/>
                </a:solidFill>
                <a:uFillTx/>
                <a:latin typeface="Arial"/>
                <a:ea typeface="DejaVu Sans"/>
                <a:hlinkClick r:id="rId1" action="ppaction://hlinksldjump"/>
              </a:rPr>
              <a:t>Design</a:t>
            </a:r>
            <a:r>
              <a:rPr b="0" lang="en-US" sz="500" spc="-26" strike="noStrike" u="sng">
                <a:solidFill>
                  <a:srgbClr val="0000ff"/>
                </a:solidFill>
                <a:uFillTx/>
                <a:latin typeface="Arial"/>
                <a:ea typeface="DejaVu Sans"/>
                <a:hlinkClick r:id="rId2" action="ppaction://hlinksldjump"/>
              </a:rPr>
              <a:t>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  <a:hlinkClick r:id="rId3" action="ppaction://hlinksldjump"/>
              </a:rPr>
              <a:t>goals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304" name="object 100"/>
          <p:cNvSpPr/>
          <p:nvPr/>
        </p:nvSpPr>
        <p:spPr>
          <a:xfrm>
            <a:off x="95400" y="197640"/>
            <a:ext cx="2958480" cy="48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1200" spc="-1" strike="noStrike">
                <a:solidFill>
                  <a:srgbClr val="3333b2"/>
                </a:solidFill>
                <a:latin typeface="Arial"/>
                <a:ea typeface="DejaVu Sans"/>
              </a:rPr>
              <a:t>Scaling:</a:t>
            </a:r>
            <a:r>
              <a:rPr b="0" lang="en-US" sz="1200" spc="12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200" spc="-1" strike="noStrike">
                <a:solidFill>
                  <a:srgbClr val="3333b2"/>
                </a:solidFill>
                <a:latin typeface="Arial"/>
                <a:ea typeface="DejaVu Sans"/>
              </a:rPr>
              <a:t>The</a:t>
            </a:r>
            <a:r>
              <a:rPr b="0" lang="en-US" sz="1200" spc="-46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200" spc="-1" strike="noStrike">
                <a:solidFill>
                  <a:srgbClr val="3333b2"/>
                </a:solidFill>
                <a:latin typeface="Arial"/>
                <a:ea typeface="DejaVu Sans"/>
              </a:rPr>
              <a:t>problem</a:t>
            </a:r>
            <a:r>
              <a:rPr b="0" lang="en-US" sz="1200" spc="-41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200" spc="-1" strike="noStrike">
                <a:solidFill>
                  <a:srgbClr val="3333b2"/>
                </a:solidFill>
                <a:latin typeface="Arial"/>
                <a:ea typeface="DejaVu Sans"/>
              </a:rPr>
              <a:t>with</a:t>
            </a:r>
            <a:r>
              <a:rPr b="0" lang="en-US" sz="1200" spc="-41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200" spc="-12" strike="noStrike">
                <a:solidFill>
                  <a:srgbClr val="3333b2"/>
                </a:solidFill>
                <a:latin typeface="Arial"/>
                <a:ea typeface="DejaVu Sans"/>
              </a:rPr>
              <a:t>replication</a:t>
            </a:r>
            <a:endParaRPr b="0" lang="en-US" sz="1200" spc="-1" strike="noStrike">
              <a:latin typeface="Arial"/>
            </a:endParaRPr>
          </a:p>
          <a:p>
            <a:pPr marL="260280">
              <a:lnSpc>
                <a:spcPct val="100000"/>
              </a:lnSpc>
              <a:spcBef>
                <a:spcPts val="1054"/>
              </a:spcBef>
              <a:buNone/>
            </a:pPr>
            <a:r>
              <a:rPr b="0" lang="en-US" sz="1000" spc="-1" strike="noStrike">
                <a:solidFill>
                  <a:srgbClr val="3333b2"/>
                </a:solidFill>
                <a:latin typeface="Arial"/>
                <a:ea typeface="DejaVu Sans"/>
              </a:rPr>
              <a:t>Applying</a:t>
            </a:r>
            <a:r>
              <a:rPr b="0" lang="en-US" sz="1000" spc="-41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  <a:ea typeface="DejaVu Sans"/>
              </a:rPr>
              <a:t>replication</a:t>
            </a:r>
            <a:r>
              <a:rPr b="0" lang="en-US" sz="1000" spc="-41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  <a:ea typeface="DejaVu Sans"/>
              </a:rPr>
              <a:t>is</a:t>
            </a:r>
            <a:r>
              <a:rPr b="0" lang="en-US" sz="1000" spc="-35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000" spc="-21" strike="noStrike">
                <a:solidFill>
                  <a:srgbClr val="3333b2"/>
                </a:solidFill>
                <a:latin typeface="Arial"/>
                <a:ea typeface="DejaVu Sans"/>
              </a:rPr>
              <a:t>easy,</a:t>
            </a:r>
            <a:r>
              <a:rPr b="0" lang="en-US" sz="1000" spc="-41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  <a:ea typeface="DejaVu Sans"/>
              </a:rPr>
              <a:t>except</a:t>
            </a:r>
            <a:r>
              <a:rPr b="0" lang="en-US" sz="1000" spc="-41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  <a:ea typeface="DejaVu Sans"/>
              </a:rPr>
              <a:t>for</a:t>
            </a:r>
            <a:r>
              <a:rPr b="0" lang="en-US" sz="1000" spc="-35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  <a:ea typeface="DejaVu Sans"/>
              </a:rPr>
              <a:t>one</a:t>
            </a:r>
            <a:r>
              <a:rPr b="0" lang="en-US" sz="1000" spc="-41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000" spc="-12" strike="noStrike">
                <a:solidFill>
                  <a:srgbClr val="3333b2"/>
                </a:solidFill>
                <a:latin typeface="Arial"/>
                <a:ea typeface="DejaVu Sans"/>
              </a:rPr>
              <a:t>thing</a:t>
            </a:r>
            <a:endParaRPr b="0" lang="en-US" sz="1000" spc="-1" strike="noStrike">
              <a:latin typeface="Arial"/>
            </a:endParaRPr>
          </a:p>
        </p:txBody>
      </p:sp>
      <p:grpSp>
        <p:nvGrpSpPr>
          <p:cNvPr id="305" name="object 101"/>
          <p:cNvGrpSpPr/>
          <p:nvPr/>
        </p:nvGrpSpPr>
        <p:grpSpPr>
          <a:xfrm>
            <a:off x="0" y="3348360"/>
            <a:ext cx="4605840" cy="105480"/>
            <a:chOff x="0" y="3348360"/>
            <a:chExt cx="4605840" cy="105480"/>
          </a:xfrm>
        </p:grpSpPr>
        <p:sp>
          <p:nvSpPr>
            <p:cNvPr id="306" name="object 102"/>
            <p:cNvSpPr/>
            <p:nvPr/>
          </p:nvSpPr>
          <p:spPr>
            <a:xfrm>
              <a:off x="0" y="3348360"/>
              <a:ext cx="2301840" cy="10548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07" name="object 103"/>
            <p:cNvSpPr/>
            <p:nvPr/>
          </p:nvSpPr>
          <p:spPr>
            <a:xfrm>
              <a:off x="2304000" y="3348360"/>
              <a:ext cx="2301840" cy="10548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308" name="object 104"/>
          <p:cNvSpPr/>
          <p:nvPr/>
        </p:nvSpPr>
        <p:spPr>
          <a:xfrm>
            <a:off x="53640" y="3349800"/>
            <a:ext cx="308160" cy="8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360" bIns="0" anchor="t">
            <a:spAutoFit/>
          </a:bodyPr>
          <a:p>
            <a:pPr marL="12600">
              <a:lnSpc>
                <a:spcPct val="100000"/>
              </a:lnSpc>
              <a:spcBef>
                <a:spcPts val="74"/>
              </a:spcBef>
              <a:buNone/>
            </a:pP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Scalability</a:t>
            </a:r>
            <a:endParaRPr b="0" lang="en-US" sz="500" spc="-1" strike="noStrike">
              <a:latin typeface="Arial"/>
            </a:endParaRPr>
          </a:p>
        </p:txBody>
      </p:sp>
    </p:spTree>
  </p:cSld>
  <p:transition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object 105"/>
          <p:cNvSpPr/>
          <p:nvPr/>
        </p:nvSpPr>
        <p:spPr>
          <a:xfrm>
            <a:off x="53640" y="-1440"/>
            <a:ext cx="353880" cy="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Introduction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310" name="object 106"/>
          <p:cNvSpPr/>
          <p:nvPr/>
        </p:nvSpPr>
        <p:spPr>
          <a:xfrm>
            <a:off x="2304000" y="0"/>
            <a:ext cx="2301840" cy="105480"/>
          </a:xfrm>
          <a:custGeom>
            <a:avLst/>
            <a:gdLst/>
            <a:ah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1" name="object 107"/>
          <p:cNvSpPr/>
          <p:nvPr/>
        </p:nvSpPr>
        <p:spPr>
          <a:xfrm>
            <a:off x="4163400" y="-1440"/>
            <a:ext cx="388800" cy="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500" spc="-1" strike="noStrike" u="sng">
                <a:solidFill>
                  <a:srgbClr val="0000ff"/>
                </a:solidFill>
                <a:uFillTx/>
                <a:latin typeface="Arial"/>
                <a:ea typeface="DejaVu Sans"/>
                <a:hlinkClick r:id="rId1" action="ppaction://hlinksldjump"/>
              </a:rPr>
              <a:t>Design</a:t>
            </a:r>
            <a:r>
              <a:rPr b="0" lang="en-US" sz="500" spc="-26" strike="noStrike" u="sng">
                <a:solidFill>
                  <a:srgbClr val="0000ff"/>
                </a:solidFill>
                <a:uFillTx/>
                <a:latin typeface="Arial"/>
                <a:ea typeface="DejaVu Sans"/>
                <a:hlinkClick r:id="rId2" action="ppaction://hlinksldjump"/>
              </a:rPr>
              <a:t>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  <a:hlinkClick r:id="rId3" action="ppaction://hlinksldjump"/>
              </a:rPr>
              <a:t>goals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312" name="object 108"/>
          <p:cNvSpPr/>
          <p:nvPr/>
        </p:nvSpPr>
        <p:spPr>
          <a:xfrm>
            <a:off x="69840" y="197640"/>
            <a:ext cx="4145400" cy="85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3816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1200" spc="-1" strike="noStrike">
                <a:solidFill>
                  <a:srgbClr val="3333b2"/>
                </a:solidFill>
                <a:latin typeface="Arial"/>
                <a:ea typeface="DejaVu Sans"/>
              </a:rPr>
              <a:t>Scaling:</a:t>
            </a:r>
            <a:r>
              <a:rPr b="0" lang="en-US" sz="1200" spc="12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200" spc="-1" strike="noStrike">
                <a:solidFill>
                  <a:srgbClr val="3333b2"/>
                </a:solidFill>
                <a:latin typeface="Arial"/>
                <a:ea typeface="DejaVu Sans"/>
              </a:rPr>
              <a:t>The</a:t>
            </a:r>
            <a:r>
              <a:rPr b="0" lang="en-US" sz="1200" spc="-46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200" spc="-1" strike="noStrike">
                <a:solidFill>
                  <a:srgbClr val="3333b2"/>
                </a:solidFill>
                <a:latin typeface="Arial"/>
                <a:ea typeface="DejaVu Sans"/>
              </a:rPr>
              <a:t>problem</a:t>
            </a:r>
            <a:r>
              <a:rPr b="0" lang="en-US" sz="1200" spc="-41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200" spc="-1" strike="noStrike">
                <a:solidFill>
                  <a:srgbClr val="3333b2"/>
                </a:solidFill>
                <a:latin typeface="Arial"/>
                <a:ea typeface="DejaVu Sans"/>
              </a:rPr>
              <a:t>with</a:t>
            </a:r>
            <a:r>
              <a:rPr b="0" lang="en-US" sz="1200" spc="-41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200" spc="-12" strike="noStrike">
                <a:solidFill>
                  <a:srgbClr val="3333b2"/>
                </a:solidFill>
                <a:latin typeface="Arial"/>
                <a:ea typeface="DejaVu Sans"/>
              </a:rPr>
              <a:t>replication</a:t>
            </a:r>
            <a:endParaRPr b="0" lang="en-US" sz="1200" spc="-1" strike="noStrike">
              <a:latin typeface="Arial"/>
            </a:endParaRPr>
          </a:p>
          <a:p>
            <a:pPr marL="285840">
              <a:lnSpc>
                <a:spcPct val="100000"/>
              </a:lnSpc>
              <a:spcBef>
                <a:spcPts val="1054"/>
              </a:spcBef>
              <a:buNone/>
            </a:pPr>
            <a:r>
              <a:rPr b="0" lang="en-US" sz="1000" spc="-1" strike="noStrike">
                <a:solidFill>
                  <a:srgbClr val="3333b2"/>
                </a:solidFill>
                <a:latin typeface="Arial"/>
                <a:ea typeface="DejaVu Sans"/>
              </a:rPr>
              <a:t>Applying</a:t>
            </a:r>
            <a:r>
              <a:rPr b="0" lang="en-US" sz="1000" spc="-41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  <a:ea typeface="DejaVu Sans"/>
              </a:rPr>
              <a:t>replication</a:t>
            </a:r>
            <a:r>
              <a:rPr b="0" lang="en-US" sz="1000" spc="-41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  <a:ea typeface="DejaVu Sans"/>
              </a:rPr>
              <a:t>is</a:t>
            </a:r>
            <a:r>
              <a:rPr b="0" lang="en-US" sz="1000" spc="-35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000" spc="-21" strike="noStrike">
                <a:solidFill>
                  <a:srgbClr val="3333b2"/>
                </a:solidFill>
                <a:latin typeface="Arial"/>
                <a:ea typeface="DejaVu Sans"/>
              </a:rPr>
              <a:t>easy,</a:t>
            </a:r>
            <a:r>
              <a:rPr b="0" lang="en-US" sz="1000" spc="-41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  <a:ea typeface="DejaVu Sans"/>
              </a:rPr>
              <a:t>except</a:t>
            </a:r>
            <a:r>
              <a:rPr b="0" lang="en-US" sz="1000" spc="-41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  <a:ea typeface="DejaVu Sans"/>
              </a:rPr>
              <a:t>for</a:t>
            </a:r>
            <a:r>
              <a:rPr b="0" lang="en-US" sz="1000" spc="-35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  <a:ea typeface="DejaVu Sans"/>
              </a:rPr>
              <a:t>one</a:t>
            </a:r>
            <a:r>
              <a:rPr b="0" lang="en-US" sz="1000" spc="-41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000" spc="-12" strike="noStrike">
                <a:solidFill>
                  <a:srgbClr val="3333b2"/>
                </a:solidFill>
                <a:latin typeface="Arial"/>
                <a:ea typeface="DejaVu Sans"/>
              </a:rPr>
              <a:t>thing</a:t>
            </a:r>
            <a:endParaRPr b="0" lang="en-US" sz="1000" spc="-1" strike="noStrike">
              <a:latin typeface="Arial"/>
            </a:endParaRPr>
          </a:p>
          <a:p>
            <a:pPr marL="542880" indent="-120600">
              <a:lnSpc>
                <a:spcPct val="111000"/>
              </a:lnSpc>
              <a:spcBef>
                <a:spcPts val="584"/>
              </a:spcBef>
              <a:buClr>
                <a:srgbClr val="3333b2"/>
              </a:buClr>
              <a:buFont typeface="Menlo"/>
              <a:buChar char="•"/>
              <a:tabLst>
                <a:tab algn="l" pos="5436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Having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multiple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copies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(cached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or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replicated),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leads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to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c80000"/>
                </a:solidFill>
                <a:latin typeface="Arial"/>
                <a:ea typeface="DejaVu Sans"/>
              </a:rPr>
              <a:t>inconsistencies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: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modifying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one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copy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makes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that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copy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different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from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the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rest.</a:t>
            </a:r>
            <a:endParaRPr b="0" lang="en-US" sz="900" spc="-1" strike="noStrike">
              <a:latin typeface="Arial"/>
            </a:endParaRPr>
          </a:p>
        </p:txBody>
      </p:sp>
      <p:grpSp>
        <p:nvGrpSpPr>
          <p:cNvPr id="313" name="object 109"/>
          <p:cNvGrpSpPr/>
          <p:nvPr/>
        </p:nvGrpSpPr>
        <p:grpSpPr>
          <a:xfrm>
            <a:off x="0" y="3348360"/>
            <a:ext cx="4605840" cy="105480"/>
            <a:chOff x="0" y="3348360"/>
            <a:chExt cx="4605840" cy="105480"/>
          </a:xfrm>
        </p:grpSpPr>
        <p:sp>
          <p:nvSpPr>
            <p:cNvPr id="314" name="object 110"/>
            <p:cNvSpPr/>
            <p:nvPr/>
          </p:nvSpPr>
          <p:spPr>
            <a:xfrm>
              <a:off x="0" y="3348360"/>
              <a:ext cx="2301840" cy="10548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5" name="object 111"/>
            <p:cNvSpPr/>
            <p:nvPr/>
          </p:nvSpPr>
          <p:spPr>
            <a:xfrm>
              <a:off x="2304000" y="3348360"/>
              <a:ext cx="2301840" cy="10548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316" name="object 112"/>
          <p:cNvSpPr/>
          <p:nvPr/>
        </p:nvSpPr>
        <p:spPr>
          <a:xfrm>
            <a:off x="53640" y="3349800"/>
            <a:ext cx="308160" cy="8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360" bIns="0" anchor="t">
            <a:spAutoFit/>
          </a:bodyPr>
          <a:p>
            <a:pPr marL="12600">
              <a:lnSpc>
                <a:spcPct val="100000"/>
              </a:lnSpc>
              <a:spcBef>
                <a:spcPts val="74"/>
              </a:spcBef>
              <a:buNone/>
            </a:pP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Scalability</a:t>
            </a:r>
            <a:endParaRPr b="0" lang="en-US" sz="500" spc="-1" strike="noStrike">
              <a:latin typeface="Arial"/>
            </a:endParaRPr>
          </a:p>
        </p:txBody>
      </p:sp>
    </p:spTree>
  </p:cSld>
  <p:transition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object 113"/>
          <p:cNvSpPr/>
          <p:nvPr/>
        </p:nvSpPr>
        <p:spPr>
          <a:xfrm>
            <a:off x="53640" y="-1440"/>
            <a:ext cx="353880" cy="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Introduction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318" name="object 114"/>
          <p:cNvSpPr/>
          <p:nvPr/>
        </p:nvSpPr>
        <p:spPr>
          <a:xfrm>
            <a:off x="2304000" y="0"/>
            <a:ext cx="2301840" cy="105480"/>
          </a:xfrm>
          <a:custGeom>
            <a:avLst/>
            <a:gdLst/>
            <a:ah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9" name="object 115"/>
          <p:cNvSpPr/>
          <p:nvPr/>
        </p:nvSpPr>
        <p:spPr>
          <a:xfrm>
            <a:off x="4163400" y="-1440"/>
            <a:ext cx="388800" cy="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500" spc="-1" strike="noStrike" u="sng">
                <a:solidFill>
                  <a:srgbClr val="0000ff"/>
                </a:solidFill>
                <a:uFillTx/>
                <a:latin typeface="Arial"/>
                <a:ea typeface="DejaVu Sans"/>
                <a:hlinkClick r:id="rId1" action="ppaction://hlinksldjump"/>
              </a:rPr>
              <a:t>Design</a:t>
            </a:r>
            <a:r>
              <a:rPr b="0" lang="en-US" sz="500" spc="-26" strike="noStrike" u="sng">
                <a:solidFill>
                  <a:srgbClr val="0000ff"/>
                </a:solidFill>
                <a:uFillTx/>
                <a:latin typeface="Arial"/>
                <a:ea typeface="DejaVu Sans"/>
                <a:hlinkClick r:id="rId2" action="ppaction://hlinksldjump"/>
              </a:rPr>
              <a:t>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  <a:hlinkClick r:id="rId3" action="ppaction://hlinksldjump"/>
              </a:rPr>
              <a:t>goals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320" name="object 116"/>
          <p:cNvSpPr/>
          <p:nvPr/>
        </p:nvSpPr>
        <p:spPr>
          <a:xfrm>
            <a:off x="69840" y="197640"/>
            <a:ext cx="4145400" cy="121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3816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1200" spc="-1" strike="noStrike">
                <a:solidFill>
                  <a:srgbClr val="3333b2"/>
                </a:solidFill>
                <a:latin typeface="Arial"/>
                <a:ea typeface="DejaVu Sans"/>
              </a:rPr>
              <a:t>Scaling:</a:t>
            </a:r>
            <a:r>
              <a:rPr b="0" lang="en-US" sz="1200" spc="12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200" spc="-1" strike="noStrike">
                <a:solidFill>
                  <a:srgbClr val="3333b2"/>
                </a:solidFill>
                <a:latin typeface="Arial"/>
                <a:ea typeface="DejaVu Sans"/>
              </a:rPr>
              <a:t>The</a:t>
            </a:r>
            <a:r>
              <a:rPr b="0" lang="en-US" sz="1200" spc="-46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200" spc="-1" strike="noStrike">
                <a:solidFill>
                  <a:srgbClr val="3333b2"/>
                </a:solidFill>
                <a:latin typeface="Arial"/>
                <a:ea typeface="DejaVu Sans"/>
              </a:rPr>
              <a:t>problem</a:t>
            </a:r>
            <a:r>
              <a:rPr b="0" lang="en-US" sz="1200" spc="-41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200" spc="-1" strike="noStrike">
                <a:solidFill>
                  <a:srgbClr val="3333b2"/>
                </a:solidFill>
                <a:latin typeface="Arial"/>
                <a:ea typeface="DejaVu Sans"/>
              </a:rPr>
              <a:t>with</a:t>
            </a:r>
            <a:r>
              <a:rPr b="0" lang="en-US" sz="1200" spc="-41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200" spc="-12" strike="noStrike">
                <a:solidFill>
                  <a:srgbClr val="3333b2"/>
                </a:solidFill>
                <a:latin typeface="Arial"/>
                <a:ea typeface="DejaVu Sans"/>
              </a:rPr>
              <a:t>replication</a:t>
            </a:r>
            <a:endParaRPr b="0" lang="en-US" sz="1200" spc="-1" strike="noStrike">
              <a:latin typeface="Arial"/>
            </a:endParaRPr>
          </a:p>
          <a:p>
            <a:pPr marL="285840">
              <a:lnSpc>
                <a:spcPct val="100000"/>
              </a:lnSpc>
              <a:spcBef>
                <a:spcPts val="1054"/>
              </a:spcBef>
              <a:buNone/>
            </a:pPr>
            <a:r>
              <a:rPr b="0" lang="en-US" sz="1000" spc="-1" strike="noStrike">
                <a:solidFill>
                  <a:srgbClr val="3333b2"/>
                </a:solidFill>
                <a:latin typeface="Arial"/>
                <a:ea typeface="DejaVu Sans"/>
              </a:rPr>
              <a:t>Applying</a:t>
            </a:r>
            <a:r>
              <a:rPr b="0" lang="en-US" sz="1000" spc="-41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  <a:ea typeface="DejaVu Sans"/>
              </a:rPr>
              <a:t>replication</a:t>
            </a:r>
            <a:r>
              <a:rPr b="0" lang="en-US" sz="1000" spc="-41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  <a:ea typeface="DejaVu Sans"/>
              </a:rPr>
              <a:t>is</a:t>
            </a:r>
            <a:r>
              <a:rPr b="0" lang="en-US" sz="1000" spc="-35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000" spc="-21" strike="noStrike">
                <a:solidFill>
                  <a:srgbClr val="3333b2"/>
                </a:solidFill>
                <a:latin typeface="Arial"/>
                <a:ea typeface="DejaVu Sans"/>
              </a:rPr>
              <a:t>easy,</a:t>
            </a:r>
            <a:r>
              <a:rPr b="0" lang="en-US" sz="1000" spc="-41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  <a:ea typeface="DejaVu Sans"/>
              </a:rPr>
              <a:t>except</a:t>
            </a:r>
            <a:r>
              <a:rPr b="0" lang="en-US" sz="1000" spc="-41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  <a:ea typeface="DejaVu Sans"/>
              </a:rPr>
              <a:t>for</a:t>
            </a:r>
            <a:r>
              <a:rPr b="0" lang="en-US" sz="1000" spc="-35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  <a:ea typeface="DejaVu Sans"/>
              </a:rPr>
              <a:t>one</a:t>
            </a:r>
            <a:r>
              <a:rPr b="0" lang="en-US" sz="1000" spc="-41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000" spc="-12" strike="noStrike">
                <a:solidFill>
                  <a:srgbClr val="3333b2"/>
                </a:solidFill>
                <a:latin typeface="Arial"/>
                <a:ea typeface="DejaVu Sans"/>
              </a:rPr>
              <a:t>thing</a:t>
            </a:r>
            <a:endParaRPr b="0" lang="en-US" sz="1000" spc="-1" strike="noStrike">
              <a:latin typeface="Arial"/>
            </a:endParaRPr>
          </a:p>
          <a:p>
            <a:pPr marL="542880" indent="-120600">
              <a:lnSpc>
                <a:spcPct val="111000"/>
              </a:lnSpc>
              <a:spcBef>
                <a:spcPts val="584"/>
              </a:spcBef>
              <a:buClr>
                <a:srgbClr val="3333b2"/>
              </a:buClr>
              <a:buFont typeface="Menlo"/>
              <a:buChar char="•"/>
              <a:tabLst>
                <a:tab algn="l" pos="5436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Having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multiple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copies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(cached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or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replicated),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leads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to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c80000"/>
                </a:solidFill>
                <a:latin typeface="Arial"/>
                <a:ea typeface="DejaVu Sans"/>
              </a:rPr>
              <a:t>inconsistencies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: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modifying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one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copy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makes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that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copy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different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from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the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rest.</a:t>
            </a:r>
            <a:endParaRPr b="0" lang="en-US" sz="900" spc="-1" strike="noStrike">
              <a:latin typeface="Arial"/>
            </a:endParaRPr>
          </a:p>
          <a:p>
            <a:pPr marL="542880" indent="-120600">
              <a:lnSpc>
                <a:spcPct val="111000"/>
              </a:lnSpc>
              <a:spcBef>
                <a:spcPts val="400"/>
              </a:spcBef>
              <a:buClr>
                <a:srgbClr val="3333b2"/>
              </a:buClr>
              <a:buFont typeface="Menlo"/>
              <a:buChar char="•"/>
              <a:tabLst>
                <a:tab algn="l" pos="539640"/>
              </a:tabLst>
            </a:pP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Always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keeping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copies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consistent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and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in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a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general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way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requires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c80000"/>
                </a:solidFill>
                <a:latin typeface="Arial"/>
                <a:ea typeface="DejaVu Sans"/>
              </a:rPr>
              <a:t>global synchronization</a:t>
            </a:r>
            <a:r>
              <a:rPr b="0" lang="en-US" sz="900" spc="-1" strike="noStrike">
                <a:solidFill>
                  <a:srgbClr val="c8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on each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modification.</a:t>
            </a:r>
            <a:endParaRPr b="0" lang="en-US" sz="900" spc="-1" strike="noStrike">
              <a:latin typeface="Arial"/>
            </a:endParaRPr>
          </a:p>
        </p:txBody>
      </p:sp>
      <p:grpSp>
        <p:nvGrpSpPr>
          <p:cNvPr id="321" name="object 117"/>
          <p:cNvGrpSpPr/>
          <p:nvPr/>
        </p:nvGrpSpPr>
        <p:grpSpPr>
          <a:xfrm>
            <a:off x="0" y="3348360"/>
            <a:ext cx="4605840" cy="105480"/>
            <a:chOff x="0" y="3348360"/>
            <a:chExt cx="4605840" cy="105480"/>
          </a:xfrm>
        </p:grpSpPr>
        <p:sp>
          <p:nvSpPr>
            <p:cNvPr id="322" name="object 118"/>
            <p:cNvSpPr/>
            <p:nvPr/>
          </p:nvSpPr>
          <p:spPr>
            <a:xfrm>
              <a:off x="0" y="3348360"/>
              <a:ext cx="2301840" cy="10548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23" name="object 119"/>
            <p:cNvSpPr/>
            <p:nvPr/>
          </p:nvSpPr>
          <p:spPr>
            <a:xfrm>
              <a:off x="2304000" y="3348360"/>
              <a:ext cx="2301840" cy="10548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324" name="object 120"/>
          <p:cNvSpPr/>
          <p:nvPr/>
        </p:nvSpPr>
        <p:spPr>
          <a:xfrm>
            <a:off x="53640" y="3349800"/>
            <a:ext cx="308160" cy="8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360" bIns="0" anchor="t">
            <a:spAutoFit/>
          </a:bodyPr>
          <a:p>
            <a:pPr marL="12600">
              <a:lnSpc>
                <a:spcPct val="100000"/>
              </a:lnSpc>
              <a:spcBef>
                <a:spcPts val="74"/>
              </a:spcBef>
              <a:buNone/>
            </a:pP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Scalability</a:t>
            </a:r>
            <a:endParaRPr b="0" lang="en-US" sz="500" spc="-1" strike="noStrike">
              <a:latin typeface="Arial"/>
            </a:endParaRPr>
          </a:p>
        </p:txBody>
      </p:sp>
    </p:spTree>
  </p:cSld>
  <p:transition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object 121"/>
          <p:cNvSpPr/>
          <p:nvPr/>
        </p:nvSpPr>
        <p:spPr>
          <a:xfrm>
            <a:off x="53640" y="-1440"/>
            <a:ext cx="353880" cy="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Introduction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326" name="object 122"/>
          <p:cNvSpPr/>
          <p:nvPr/>
        </p:nvSpPr>
        <p:spPr>
          <a:xfrm>
            <a:off x="2304000" y="0"/>
            <a:ext cx="2301840" cy="105480"/>
          </a:xfrm>
          <a:custGeom>
            <a:avLst/>
            <a:gdLst/>
            <a:ah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7" name="object 123"/>
          <p:cNvSpPr/>
          <p:nvPr/>
        </p:nvSpPr>
        <p:spPr>
          <a:xfrm>
            <a:off x="4163400" y="-1440"/>
            <a:ext cx="388800" cy="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500" spc="-1" strike="noStrike" u="sng">
                <a:solidFill>
                  <a:srgbClr val="0000ff"/>
                </a:solidFill>
                <a:uFillTx/>
                <a:latin typeface="Arial"/>
                <a:ea typeface="DejaVu Sans"/>
                <a:hlinkClick r:id="rId1" action="ppaction://hlinksldjump"/>
              </a:rPr>
              <a:t>Design</a:t>
            </a:r>
            <a:r>
              <a:rPr b="0" lang="en-US" sz="500" spc="-26" strike="noStrike" u="sng">
                <a:solidFill>
                  <a:srgbClr val="0000ff"/>
                </a:solidFill>
                <a:uFillTx/>
                <a:latin typeface="Arial"/>
                <a:ea typeface="DejaVu Sans"/>
                <a:hlinkClick r:id="rId2" action="ppaction://hlinksldjump"/>
              </a:rPr>
              <a:t>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  <a:hlinkClick r:id="rId3" action="ppaction://hlinksldjump"/>
              </a:rPr>
              <a:t>goals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328" name="object 124"/>
          <p:cNvSpPr/>
          <p:nvPr/>
        </p:nvSpPr>
        <p:spPr>
          <a:xfrm>
            <a:off x="69840" y="197640"/>
            <a:ext cx="4145400" cy="14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3816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1200" spc="-1" strike="noStrike">
                <a:solidFill>
                  <a:srgbClr val="3333b2"/>
                </a:solidFill>
                <a:latin typeface="Arial"/>
                <a:ea typeface="DejaVu Sans"/>
              </a:rPr>
              <a:t>Scaling:</a:t>
            </a:r>
            <a:r>
              <a:rPr b="0" lang="en-US" sz="1200" spc="12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200" spc="-1" strike="noStrike">
                <a:solidFill>
                  <a:srgbClr val="3333b2"/>
                </a:solidFill>
                <a:latin typeface="Arial"/>
                <a:ea typeface="DejaVu Sans"/>
              </a:rPr>
              <a:t>The</a:t>
            </a:r>
            <a:r>
              <a:rPr b="0" lang="en-US" sz="1200" spc="-46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200" spc="-1" strike="noStrike">
                <a:solidFill>
                  <a:srgbClr val="3333b2"/>
                </a:solidFill>
                <a:latin typeface="Arial"/>
                <a:ea typeface="DejaVu Sans"/>
              </a:rPr>
              <a:t>problem</a:t>
            </a:r>
            <a:r>
              <a:rPr b="0" lang="en-US" sz="1200" spc="-41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200" spc="-1" strike="noStrike">
                <a:solidFill>
                  <a:srgbClr val="3333b2"/>
                </a:solidFill>
                <a:latin typeface="Arial"/>
                <a:ea typeface="DejaVu Sans"/>
              </a:rPr>
              <a:t>with</a:t>
            </a:r>
            <a:r>
              <a:rPr b="0" lang="en-US" sz="1200" spc="-41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200" spc="-12" strike="noStrike">
                <a:solidFill>
                  <a:srgbClr val="3333b2"/>
                </a:solidFill>
                <a:latin typeface="Arial"/>
                <a:ea typeface="DejaVu Sans"/>
              </a:rPr>
              <a:t>replication</a:t>
            </a:r>
            <a:endParaRPr b="0" lang="en-US" sz="1200" spc="-1" strike="noStrike">
              <a:latin typeface="Arial"/>
            </a:endParaRPr>
          </a:p>
          <a:p>
            <a:pPr marL="285840">
              <a:lnSpc>
                <a:spcPct val="100000"/>
              </a:lnSpc>
              <a:spcBef>
                <a:spcPts val="1054"/>
              </a:spcBef>
              <a:buNone/>
            </a:pPr>
            <a:r>
              <a:rPr b="0" lang="en-US" sz="1000" spc="-1" strike="noStrike">
                <a:solidFill>
                  <a:srgbClr val="3333b2"/>
                </a:solidFill>
                <a:latin typeface="Arial"/>
                <a:ea typeface="DejaVu Sans"/>
              </a:rPr>
              <a:t>Applying</a:t>
            </a:r>
            <a:r>
              <a:rPr b="0" lang="en-US" sz="1000" spc="-41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  <a:ea typeface="DejaVu Sans"/>
              </a:rPr>
              <a:t>replication</a:t>
            </a:r>
            <a:r>
              <a:rPr b="0" lang="en-US" sz="1000" spc="-41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  <a:ea typeface="DejaVu Sans"/>
              </a:rPr>
              <a:t>is</a:t>
            </a:r>
            <a:r>
              <a:rPr b="0" lang="en-US" sz="1000" spc="-35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000" spc="-21" strike="noStrike">
                <a:solidFill>
                  <a:srgbClr val="3333b2"/>
                </a:solidFill>
                <a:latin typeface="Arial"/>
                <a:ea typeface="DejaVu Sans"/>
              </a:rPr>
              <a:t>easy,</a:t>
            </a:r>
            <a:r>
              <a:rPr b="0" lang="en-US" sz="1000" spc="-41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  <a:ea typeface="DejaVu Sans"/>
              </a:rPr>
              <a:t>except</a:t>
            </a:r>
            <a:r>
              <a:rPr b="0" lang="en-US" sz="1000" spc="-41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  <a:ea typeface="DejaVu Sans"/>
              </a:rPr>
              <a:t>for</a:t>
            </a:r>
            <a:r>
              <a:rPr b="0" lang="en-US" sz="1000" spc="-35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  <a:ea typeface="DejaVu Sans"/>
              </a:rPr>
              <a:t>one</a:t>
            </a:r>
            <a:r>
              <a:rPr b="0" lang="en-US" sz="1000" spc="-41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000" spc="-12" strike="noStrike">
                <a:solidFill>
                  <a:srgbClr val="3333b2"/>
                </a:solidFill>
                <a:latin typeface="Arial"/>
                <a:ea typeface="DejaVu Sans"/>
              </a:rPr>
              <a:t>thing</a:t>
            </a:r>
            <a:endParaRPr b="0" lang="en-US" sz="1000" spc="-1" strike="noStrike">
              <a:latin typeface="Arial"/>
            </a:endParaRPr>
          </a:p>
          <a:p>
            <a:pPr marL="542880" indent="-120600">
              <a:lnSpc>
                <a:spcPct val="111000"/>
              </a:lnSpc>
              <a:spcBef>
                <a:spcPts val="584"/>
              </a:spcBef>
              <a:buClr>
                <a:srgbClr val="3333b2"/>
              </a:buClr>
              <a:buFont typeface="Menlo"/>
              <a:buChar char="•"/>
              <a:tabLst>
                <a:tab algn="l" pos="5436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Having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multiple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copies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(cached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or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replicated),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leads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to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c80000"/>
                </a:solidFill>
                <a:latin typeface="Arial"/>
                <a:ea typeface="DejaVu Sans"/>
              </a:rPr>
              <a:t>inconsistencies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: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modifying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one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copy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makes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that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copy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different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from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the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rest.</a:t>
            </a:r>
            <a:endParaRPr b="0" lang="en-US" sz="900" spc="-1" strike="noStrike">
              <a:latin typeface="Arial"/>
            </a:endParaRPr>
          </a:p>
          <a:p>
            <a:pPr marL="542880" indent="-120600">
              <a:lnSpc>
                <a:spcPct val="111000"/>
              </a:lnSpc>
              <a:spcBef>
                <a:spcPts val="400"/>
              </a:spcBef>
              <a:buClr>
                <a:srgbClr val="3333b2"/>
              </a:buClr>
              <a:buFont typeface="Menlo"/>
              <a:buChar char="•"/>
              <a:tabLst>
                <a:tab algn="l" pos="539640"/>
              </a:tabLst>
            </a:pP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Always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keeping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copies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consistent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and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in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a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general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way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requires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c80000"/>
                </a:solidFill>
                <a:latin typeface="Arial"/>
                <a:ea typeface="DejaVu Sans"/>
              </a:rPr>
              <a:t>global synchronization</a:t>
            </a:r>
            <a:r>
              <a:rPr b="0" lang="en-US" sz="900" spc="-1" strike="noStrike">
                <a:solidFill>
                  <a:srgbClr val="c8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on each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modification.</a:t>
            </a:r>
            <a:endParaRPr b="0" lang="en-US" sz="900" spc="-1" strike="noStrike">
              <a:latin typeface="Arial"/>
            </a:endParaRPr>
          </a:p>
          <a:p>
            <a:pPr marL="542880" indent="-120600">
              <a:lnSpc>
                <a:spcPct val="100000"/>
              </a:lnSpc>
              <a:spcBef>
                <a:spcPts val="519"/>
              </a:spcBef>
              <a:buClr>
                <a:srgbClr val="3333b2"/>
              </a:buClr>
              <a:buFont typeface="Menlo"/>
              <a:buChar char="•"/>
              <a:tabLst>
                <a:tab algn="l" pos="5436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Global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synchronization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 precludes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large-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scale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solutions.</a:t>
            </a:r>
            <a:endParaRPr b="0" lang="en-US" sz="900" spc="-1" strike="noStrike">
              <a:latin typeface="Arial"/>
            </a:endParaRPr>
          </a:p>
        </p:txBody>
      </p:sp>
      <p:grpSp>
        <p:nvGrpSpPr>
          <p:cNvPr id="329" name="object 125"/>
          <p:cNvGrpSpPr/>
          <p:nvPr/>
        </p:nvGrpSpPr>
        <p:grpSpPr>
          <a:xfrm>
            <a:off x="0" y="3348360"/>
            <a:ext cx="4605840" cy="105480"/>
            <a:chOff x="0" y="3348360"/>
            <a:chExt cx="4605840" cy="105480"/>
          </a:xfrm>
        </p:grpSpPr>
        <p:sp>
          <p:nvSpPr>
            <p:cNvPr id="330" name="object 126"/>
            <p:cNvSpPr/>
            <p:nvPr/>
          </p:nvSpPr>
          <p:spPr>
            <a:xfrm>
              <a:off x="0" y="3348360"/>
              <a:ext cx="2301840" cy="10548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1" name="object 127"/>
            <p:cNvSpPr/>
            <p:nvPr/>
          </p:nvSpPr>
          <p:spPr>
            <a:xfrm>
              <a:off x="2304000" y="3348360"/>
              <a:ext cx="2301840" cy="10548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332" name="object 128"/>
          <p:cNvSpPr/>
          <p:nvPr/>
        </p:nvSpPr>
        <p:spPr>
          <a:xfrm>
            <a:off x="53640" y="3349800"/>
            <a:ext cx="308160" cy="8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360" bIns="0" anchor="t">
            <a:spAutoFit/>
          </a:bodyPr>
          <a:p>
            <a:pPr marL="12600">
              <a:lnSpc>
                <a:spcPct val="100000"/>
              </a:lnSpc>
              <a:spcBef>
                <a:spcPts val="74"/>
              </a:spcBef>
              <a:buNone/>
            </a:pP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Scalability</a:t>
            </a:r>
            <a:endParaRPr b="0" lang="en-US" sz="500" spc="-1" strike="noStrike">
              <a:latin typeface="Arial"/>
            </a:endParaRPr>
          </a:p>
        </p:txBody>
      </p:sp>
    </p:spTree>
  </p:cSld>
  <p:transition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object 129"/>
          <p:cNvSpPr/>
          <p:nvPr/>
        </p:nvSpPr>
        <p:spPr>
          <a:xfrm>
            <a:off x="53640" y="-1440"/>
            <a:ext cx="353880" cy="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Introduction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334" name="object 130"/>
          <p:cNvSpPr/>
          <p:nvPr/>
        </p:nvSpPr>
        <p:spPr>
          <a:xfrm>
            <a:off x="2304000" y="0"/>
            <a:ext cx="2301840" cy="105480"/>
          </a:xfrm>
          <a:custGeom>
            <a:avLst/>
            <a:gdLst/>
            <a:ah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5" name="object 131"/>
          <p:cNvSpPr/>
          <p:nvPr/>
        </p:nvSpPr>
        <p:spPr>
          <a:xfrm>
            <a:off x="4163400" y="-1440"/>
            <a:ext cx="388800" cy="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500" spc="-1" strike="noStrike" u="sng">
                <a:solidFill>
                  <a:srgbClr val="0000ff"/>
                </a:solidFill>
                <a:uFillTx/>
                <a:latin typeface="Arial"/>
                <a:ea typeface="DejaVu Sans"/>
                <a:hlinkClick r:id="rId1" action="ppaction://hlinksldjump"/>
              </a:rPr>
              <a:t>Design</a:t>
            </a:r>
            <a:r>
              <a:rPr b="0" lang="en-US" sz="500" spc="-26" strike="noStrike" u="sng">
                <a:solidFill>
                  <a:srgbClr val="0000ff"/>
                </a:solidFill>
                <a:uFillTx/>
                <a:latin typeface="Arial"/>
                <a:ea typeface="DejaVu Sans"/>
                <a:hlinkClick r:id="rId2" action="ppaction://hlinksldjump"/>
              </a:rPr>
              <a:t>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  <a:hlinkClick r:id="rId3" action="ppaction://hlinksldjump"/>
              </a:rPr>
              <a:t>goals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336" name="object 132"/>
          <p:cNvSpPr/>
          <p:nvPr/>
        </p:nvSpPr>
        <p:spPr>
          <a:xfrm>
            <a:off x="57240" y="197640"/>
            <a:ext cx="4170600" cy="253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5076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1200" spc="-1" strike="noStrike">
                <a:solidFill>
                  <a:srgbClr val="3333b2"/>
                </a:solidFill>
                <a:latin typeface="Arial"/>
                <a:ea typeface="DejaVu Sans"/>
              </a:rPr>
              <a:t>Scaling:</a:t>
            </a:r>
            <a:r>
              <a:rPr b="0" lang="en-US" sz="1200" spc="12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200" spc="-1" strike="noStrike">
                <a:solidFill>
                  <a:srgbClr val="3333b2"/>
                </a:solidFill>
                <a:latin typeface="Arial"/>
                <a:ea typeface="DejaVu Sans"/>
              </a:rPr>
              <a:t>The</a:t>
            </a:r>
            <a:r>
              <a:rPr b="0" lang="en-US" sz="1200" spc="-46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200" spc="-1" strike="noStrike">
                <a:solidFill>
                  <a:srgbClr val="3333b2"/>
                </a:solidFill>
                <a:latin typeface="Arial"/>
                <a:ea typeface="DejaVu Sans"/>
              </a:rPr>
              <a:t>problem</a:t>
            </a:r>
            <a:r>
              <a:rPr b="0" lang="en-US" sz="1200" spc="-41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200" spc="-1" strike="noStrike">
                <a:solidFill>
                  <a:srgbClr val="3333b2"/>
                </a:solidFill>
                <a:latin typeface="Arial"/>
                <a:ea typeface="DejaVu Sans"/>
              </a:rPr>
              <a:t>with</a:t>
            </a:r>
            <a:r>
              <a:rPr b="0" lang="en-US" sz="1200" spc="-41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200" spc="-12" strike="noStrike">
                <a:solidFill>
                  <a:srgbClr val="3333b2"/>
                </a:solidFill>
                <a:latin typeface="Arial"/>
                <a:ea typeface="DejaVu Sans"/>
              </a:rPr>
              <a:t>replication</a:t>
            </a:r>
            <a:endParaRPr b="0" lang="en-US" sz="1200" spc="-1" strike="noStrike">
              <a:latin typeface="Arial"/>
            </a:endParaRPr>
          </a:p>
          <a:p>
            <a:pPr marL="298440">
              <a:lnSpc>
                <a:spcPct val="100000"/>
              </a:lnSpc>
              <a:spcBef>
                <a:spcPts val="1054"/>
              </a:spcBef>
              <a:buNone/>
            </a:pPr>
            <a:r>
              <a:rPr b="0" lang="en-US" sz="1000" spc="-1" strike="noStrike">
                <a:solidFill>
                  <a:srgbClr val="3333b2"/>
                </a:solidFill>
                <a:latin typeface="Arial"/>
                <a:ea typeface="DejaVu Sans"/>
              </a:rPr>
              <a:t>Applying</a:t>
            </a:r>
            <a:r>
              <a:rPr b="0" lang="en-US" sz="1000" spc="-41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  <a:ea typeface="DejaVu Sans"/>
              </a:rPr>
              <a:t>replication</a:t>
            </a:r>
            <a:r>
              <a:rPr b="0" lang="en-US" sz="1000" spc="-41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  <a:ea typeface="DejaVu Sans"/>
              </a:rPr>
              <a:t>is</a:t>
            </a:r>
            <a:r>
              <a:rPr b="0" lang="en-US" sz="1000" spc="-35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000" spc="-21" strike="noStrike">
                <a:solidFill>
                  <a:srgbClr val="3333b2"/>
                </a:solidFill>
                <a:latin typeface="Arial"/>
                <a:ea typeface="DejaVu Sans"/>
              </a:rPr>
              <a:t>easy,</a:t>
            </a:r>
            <a:r>
              <a:rPr b="0" lang="en-US" sz="1000" spc="-41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  <a:ea typeface="DejaVu Sans"/>
              </a:rPr>
              <a:t>except</a:t>
            </a:r>
            <a:r>
              <a:rPr b="0" lang="en-US" sz="1000" spc="-41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  <a:ea typeface="DejaVu Sans"/>
              </a:rPr>
              <a:t>for</a:t>
            </a:r>
            <a:r>
              <a:rPr b="0" lang="en-US" sz="1000" spc="-35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  <a:ea typeface="DejaVu Sans"/>
              </a:rPr>
              <a:t>one</a:t>
            </a:r>
            <a:r>
              <a:rPr b="0" lang="en-US" sz="1000" spc="-41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000" spc="-12" strike="noStrike">
                <a:solidFill>
                  <a:srgbClr val="3333b2"/>
                </a:solidFill>
                <a:latin typeface="Arial"/>
                <a:ea typeface="DejaVu Sans"/>
              </a:rPr>
              <a:t>thing</a:t>
            </a:r>
            <a:endParaRPr b="0" lang="en-US" sz="1000" spc="-1" strike="noStrike">
              <a:latin typeface="Arial"/>
            </a:endParaRPr>
          </a:p>
          <a:p>
            <a:pPr marL="555480" indent="-120600">
              <a:lnSpc>
                <a:spcPct val="111000"/>
              </a:lnSpc>
              <a:spcBef>
                <a:spcPts val="584"/>
              </a:spcBef>
              <a:buClr>
                <a:srgbClr val="3333b2"/>
              </a:buClr>
              <a:buFont typeface="Menlo"/>
              <a:buChar char="•"/>
              <a:tabLst>
                <a:tab algn="l" pos="5562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Having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multiple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copies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(cached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or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replicated),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leads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to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c80000"/>
                </a:solidFill>
                <a:latin typeface="Arial"/>
                <a:ea typeface="DejaVu Sans"/>
              </a:rPr>
              <a:t>inconsistencies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: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modifying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one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copy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makes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that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copy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different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from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the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rest.</a:t>
            </a:r>
            <a:endParaRPr b="0" lang="en-US" sz="900" spc="-1" strike="noStrike">
              <a:latin typeface="Arial"/>
            </a:endParaRPr>
          </a:p>
          <a:p>
            <a:pPr marL="555480" indent="-120600">
              <a:lnSpc>
                <a:spcPct val="111000"/>
              </a:lnSpc>
              <a:spcBef>
                <a:spcPts val="400"/>
              </a:spcBef>
              <a:buClr>
                <a:srgbClr val="3333b2"/>
              </a:buClr>
              <a:buFont typeface="Menlo"/>
              <a:buChar char="•"/>
              <a:tabLst>
                <a:tab algn="l" pos="552600"/>
              </a:tabLst>
            </a:pP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Always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keeping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copies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consistent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and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in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a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general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way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requires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c80000"/>
                </a:solidFill>
                <a:latin typeface="Arial"/>
                <a:ea typeface="DejaVu Sans"/>
              </a:rPr>
              <a:t>global synchronization</a:t>
            </a:r>
            <a:r>
              <a:rPr b="0" lang="en-US" sz="900" spc="-1" strike="noStrike">
                <a:solidFill>
                  <a:srgbClr val="c8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on each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modification.</a:t>
            </a:r>
            <a:endParaRPr b="0" lang="en-US" sz="900" spc="-1" strike="noStrike">
              <a:latin typeface="Arial"/>
            </a:endParaRPr>
          </a:p>
          <a:p>
            <a:pPr marL="555480" indent="-120600">
              <a:lnSpc>
                <a:spcPct val="100000"/>
              </a:lnSpc>
              <a:spcBef>
                <a:spcPts val="519"/>
              </a:spcBef>
              <a:buClr>
                <a:srgbClr val="3333b2"/>
              </a:buClr>
              <a:buFont typeface="Menlo"/>
              <a:buChar char="•"/>
              <a:tabLst>
                <a:tab algn="l" pos="5562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Global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synchronization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 precludes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large-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scale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solutions.</a:t>
            </a:r>
            <a:endParaRPr b="0" lang="en-US" sz="9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1"/>
              </a:spcBef>
              <a:buNone/>
              <a:tabLst>
                <a:tab algn="l" pos="556200"/>
              </a:tabLst>
            </a:pPr>
            <a:endParaRPr b="0" lang="en-US" sz="1200" spc="-1" strike="noStrike">
              <a:latin typeface="Arial"/>
            </a:endParaRPr>
          </a:p>
          <a:p>
            <a:pPr marL="302400">
              <a:lnSpc>
                <a:spcPct val="100000"/>
              </a:lnSpc>
              <a:buNone/>
              <a:tabLst>
                <a:tab algn="l" pos="556200"/>
              </a:tabLst>
            </a:pPr>
            <a:r>
              <a:rPr b="0" lang="en-US" sz="1000" spc="-12" strike="noStrike">
                <a:solidFill>
                  <a:srgbClr val="3333b2"/>
                </a:solidFill>
                <a:latin typeface="Arial"/>
                <a:ea typeface="DejaVu Sans"/>
              </a:rPr>
              <a:t>Observation</a:t>
            </a:r>
            <a:endParaRPr b="0" lang="en-US" sz="1000" spc="-1" strike="noStrike">
              <a:latin typeface="Arial"/>
            </a:endParaRPr>
          </a:p>
          <a:p>
            <a:pPr marL="302400">
              <a:lnSpc>
                <a:spcPts val="1210"/>
              </a:lnSpc>
              <a:spcBef>
                <a:spcPts val="40"/>
              </a:spcBef>
              <a:buNone/>
              <a:tabLst>
                <a:tab algn="l" pos="5562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If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we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can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tolerate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inconsistencies,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we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may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reduce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the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need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for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global synchronization,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 but </a:t>
            </a:r>
            <a:r>
              <a:rPr b="0" lang="en-US" sz="900" spc="-1" strike="noStrike">
                <a:solidFill>
                  <a:srgbClr val="3333b2"/>
                </a:solidFill>
                <a:latin typeface="Arial"/>
                <a:ea typeface="DejaVu Sans"/>
              </a:rPr>
              <a:t>tolerating </a:t>
            </a:r>
            <a:r>
              <a:rPr b="0" lang="en-US" sz="900" spc="-12" strike="noStrike">
                <a:solidFill>
                  <a:srgbClr val="3333b2"/>
                </a:solidFill>
                <a:latin typeface="Arial"/>
                <a:ea typeface="DejaVu Sans"/>
              </a:rPr>
              <a:t>inconsistencies</a:t>
            </a:r>
            <a:r>
              <a:rPr b="0" lang="en-US" sz="900" spc="-1" strike="noStrike">
                <a:solidFill>
                  <a:srgbClr val="3333b2"/>
                </a:solidFill>
                <a:latin typeface="Arial"/>
                <a:ea typeface="DejaVu Sans"/>
              </a:rPr>
              <a:t> is application </a:t>
            </a:r>
            <a:r>
              <a:rPr b="0" lang="en-US" sz="900" spc="-12" strike="noStrike">
                <a:solidFill>
                  <a:srgbClr val="3333b2"/>
                </a:solidFill>
                <a:latin typeface="Arial"/>
                <a:ea typeface="DejaVu Sans"/>
              </a:rPr>
              <a:t>dependent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.</a:t>
            </a:r>
            <a:endParaRPr b="0" lang="en-US" sz="900" spc="-1" strike="noStrike">
              <a:latin typeface="Arial"/>
            </a:endParaRPr>
          </a:p>
          <a:p>
            <a:pPr marL="302400">
              <a:lnSpc>
                <a:spcPts val="1210"/>
              </a:lnSpc>
              <a:spcBef>
                <a:spcPts val="40"/>
              </a:spcBef>
              <a:buNone/>
              <a:tabLst>
                <a:tab algn="l" pos="556200"/>
              </a:tabLst>
            </a:pPr>
            <a:endParaRPr b="0" lang="en-US" sz="900" spc="-1" strike="noStrike">
              <a:latin typeface="Arial"/>
            </a:endParaRPr>
          </a:p>
          <a:p>
            <a:pPr marL="302400">
              <a:lnSpc>
                <a:spcPts val="1210"/>
              </a:lnSpc>
              <a:spcBef>
                <a:spcPts val="40"/>
              </a:spcBef>
              <a:buNone/>
              <a:tabLst>
                <a:tab algn="l" pos="556200"/>
              </a:tabLst>
            </a:pP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Example: For some social media apps, inconsistency may be fine (e.g., different users see different messages temporarily)</a:t>
            </a:r>
            <a:endParaRPr b="0" lang="en-US" sz="900" spc="-1" strike="noStrike">
              <a:latin typeface="Arial"/>
            </a:endParaRPr>
          </a:p>
        </p:txBody>
      </p:sp>
      <p:grpSp>
        <p:nvGrpSpPr>
          <p:cNvPr id="337" name="object 133"/>
          <p:cNvGrpSpPr/>
          <p:nvPr/>
        </p:nvGrpSpPr>
        <p:grpSpPr>
          <a:xfrm>
            <a:off x="0" y="3348360"/>
            <a:ext cx="4605840" cy="105480"/>
            <a:chOff x="0" y="3348360"/>
            <a:chExt cx="4605840" cy="105480"/>
          </a:xfrm>
        </p:grpSpPr>
        <p:sp>
          <p:nvSpPr>
            <p:cNvPr id="338" name="object 134"/>
            <p:cNvSpPr/>
            <p:nvPr/>
          </p:nvSpPr>
          <p:spPr>
            <a:xfrm>
              <a:off x="0" y="3348360"/>
              <a:ext cx="2301840" cy="10548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9" name="object 135"/>
            <p:cNvSpPr/>
            <p:nvPr/>
          </p:nvSpPr>
          <p:spPr>
            <a:xfrm>
              <a:off x="2304000" y="3348360"/>
              <a:ext cx="2301840" cy="10548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340" name="object 136"/>
          <p:cNvSpPr/>
          <p:nvPr/>
        </p:nvSpPr>
        <p:spPr>
          <a:xfrm>
            <a:off x="53640" y="3349800"/>
            <a:ext cx="308160" cy="8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360" bIns="0" anchor="t">
            <a:spAutoFit/>
          </a:bodyPr>
          <a:p>
            <a:pPr marL="12600">
              <a:lnSpc>
                <a:spcPct val="100000"/>
              </a:lnSpc>
              <a:spcBef>
                <a:spcPts val="74"/>
              </a:spcBef>
              <a:buNone/>
            </a:pP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Scalability</a:t>
            </a:r>
            <a:endParaRPr b="0" lang="en-US" sz="500" spc="-1" strike="noStrike">
              <a:latin typeface="Arial"/>
            </a:endParaRPr>
          </a:p>
        </p:txBody>
      </p:sp>
    </p:spTree>
  </p:cSld>
  <p:transition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object 137"/>
          <p:cNvSpPr/>
          <p:nvPr/>
        </p:nvSpPr>
        <p:spPr>
          <a:xfrm>
            <a:off x="53640" y="-1440"/>
            <a:ext cx="353880" cy="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Introduction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342" name="object 138"/>
          <p:cNvSpPr/>
          <p:nvPr/>
        </p:nvSpPr>
        <p:spPr>
          <a:xfrm>
            <a:off x="2304000" y="0"/>
            <a:ext cx="2301840" cy="105480"/>
          </a:xfrm>
          <a:custGeom>
            <a:avLst/>
            <a:gdLst/>
            <a:ah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43" name="object 139"/>
          <p:cNvSpPr/>
          <p:nvPr/>
        </p:nvSpPr>
        <p:spPr>
          <a:xfrm>
            <a:off x="4344840" y="-1440"/>
            <a:ext cx="207720" cy="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Pitfalls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344" name="object 140"/>
          <p:cNvSpPr/>
          <p:nvPr/>
        </p:nvSpPr>
        <p:spPr>
          <a:xfrm>
            <a:off x="95400" y="197640"/>
            <a:ext cx="4055760" cy="79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1200" spc="-12" strike="noStrike">
                <a:solidFill>
                  <a:srgbClr val="3333b2"/>
                </a:solidFill>
                <a:latin typeface="Arial"/>
                <a:ea typeface="DejaVu Sans"/>
              </a:rPr>
              <a:t>Developing</a:t>
            </a:r>
            <a:r>
              <a:rPr b="0" lang="en-US" sz="1200" spc="-52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200" spc="-1" strike="noStrike">
                <a:solidFill>
                  <a:srgbClr val="3333b2"/>
                </a:solidFill>
                <a:latin typeface="Arial"/>
                <a:ea typeface="DejaVu Sans"/>
              </a:rPr>
              <a:t>distributed</a:t>
            </a:r>
            <a:r>
              <a:rPr b="0" lang="en-US" sz="1200" spc="-52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200" spc="-1" strike="noStrike">
                <a:solidFill>
                  <a:srgbClr val="3333b2"/>
                </a:solidFill>
                <a:latin typeface="Arial"/>
                <a:ea typeface="DejaVu Sans"/>
              </a:rPr>
              <a:t>systems:</a:t>
            </a:r>
            <a:r>
              <a:rPr b="0" lang="en-US" sz="1200" spc="1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200" spc="-12" strike="noStrike">
                <a:solidFill>
                  <a:srgbClr val="3333b2"/>
                </a:solidFill>
                <a:latin typeface="Arial"/>
                <a:ea typeface="DejaVu Sans"/>
              </a:rPr>
              <a:t>Pitfalls</a:t>
            </a:r>
            <a:endParaRPr b="0" lang="en-US" sz="1200" spc="-1" strike="noStrike">
              <a:latin typeface="Arial"/>
            </a:endParaRPr>
          </a:p>
          <a:p>
            <a:pPr marL="264240">
              <a:lnSpc>
                <a:spcPct val="100000"/>
              </a:lnSpc>
              <a:spcBef>
                <a:spcPts val="1054"/>
              </a:spcBef>
              <a:buNone/>
            </a:pPr>
            <a:r>
              <a:rPr b="0" lang="en-US" sz="1000" spc="-12" strike="noStrike">
                <a:solidFill>
                  <a:srgbClr val="3333b2"/>
                </a:solidFill>
                <a:latin typeface="Arial"/>
                <a:ea typeface="DejaVu Sans"/>
              </a:rPr>
              <a:t>Observation</a:t>
            </a:r>
            <a:endParaRPr b="0" lang="en-US" sz="1000" spc="-1" strike="noStrike">
              <a:latin typeface="Arial"/>
            </a:endParaRPr>
          </a:p>
          <a:p>
            <a:pPr marL="264240">
              <a:lnSpc>
                <a:spcPts val="1210"/>
              </a:lnSpc>
              <a:spcBef>
                <a:spcPts val="40"/>
              </a:spcBef>
              <a:buNone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Many</a:t>
            </a:r>
            <a:r>
              <a:rPr b="0" lang="en-US" sz="900" spc="-4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distributed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systems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are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needlessly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complex,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caused</a:t>
            </a:r>
            <a:r>
              <a:rPr b="0" lang="en-US" sz="900" spc="-4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by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mistakes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that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required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patching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later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on.</a:t>
            </a:r>
            <a:r>
              <a:rPr b="0" lang="en-US" sz="900" spc="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Many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3333b2"/>
                </a:solidFill>
                <a:latin typeface="Arial"/>
                <a:ea typeface="DejaVu Sans"/>
              </a:rPr>
              <a:t>false</a:t>
            </a:r>
            <a:r>
              <a:rPr b="0" lang="en-US" sz="900" spc="-35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3333b2"/>
                </a:solidFill>
                <a:latin typeface="Arial"/>
                <a:ea typeface="DejaVu Sans"/>
              </a:rPr>
              <a:t>assumptions</a:t>
            </a:r>
            <a:r>
              <a:rPr b="0" lang="en-US" sz="900" spc="-32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are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often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made.</a:t>
            </a:r>
            <a:endParaRPr b="0" lang="en-US" sz="900" spc="-1" strike="noStrike">
              <a:latin typeface="Arial"/>
            </a:endParaRPr>
          </a:p>
        </p:txBody>
      </p:sp>
      <p:grpSp>
        <p:nvGrpSpPr>
          <p:cNvPr id="345" name="object 141"/>
          <p:cNvGrpSpPr/>
          <p:nvPr/>
        </p:nvGrpSpPr>
        <p:grpSpPr>
          <a:xfrm>
            <a:off x="0" y="3348360"/>
            <a:ext cx="4605840" cy="105480"/>
            <a:chOff x="0" y="3348360"/>
            <a:chExt cx="4605840" cy="105480"/>
          </a:xfrm>
        </p:grpSpPr>
        <p:sp>
          <p:nvSpPr>
            <p:cNvPr id="346" name="object 142"/>
            <p:cNvSpPr/>
            <p:nvPr/>
          </p:nvSpPr>
          <p:spPr>
            <a:xfrm>
              <a:off x="0" y="3348360"/>
              <a:ext cx="2301840" cy="10548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7" name="object 143"/>
            <p:cNvSpPr/>
            <p:nvPr/>
          </p:nvSpPr>
          <p:spPr>
            <a:xfrm>
              <a:off x="2304000" y="3348360"/>
              <a:ext cx="2301840" cy="10548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</p:spTree>
  </p:cSld>
  <p:transition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object 144"/>
          <p:cNvSpPr/>
          <p:nvPr/>
        </p:nvSpPr>
        <p:spPr>
          <a:xfrm>
            <a:off x="53640" y="-1440"/>
            <a:ext cx="353880" cy="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Introduction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349" name="object 145"/>
          <p:cNvSpPr/>
          <p:nvPr/>
        </p:nvSpPr>
        <p:spPr>
          <a:xfrm>
            <a:off x="2304000" y="0"/>
            <a:ext cx="2301840" cy="105480"/>
          </a:xfrm>
          <a:custGeom>
            <a:avLst/>
            <a:gdLst/>
            <a:ah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50" name="object 146"/>
          <p:cNvSpPr/>
          <p:nvPr/>
        </p:nvSpPr>
        <p:spPr>
          <a:xfrm>
            <a:off x="4344840" y="-1440"/>
            <a:ext cx="207720" cy="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Pitfalls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351" name="object 147"/>
          <p:cNvSpPr/>
          <p:nvPr/>
        </p:nvSpPr>
        <p:spPr>
          <a:xfrm>
            <a:off x="95400" y="197640"/>
            <a:ext cx="4055760" cy="104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1200" spc="-12" strike="noStrike">
                <a:solidFill>
                  <a:srgbClr val="3333b2"/>
                </a:solidFill>
                <a:latin typeface="Arial"/>
                <a:ea typeface="DejaVu Sans"/>
              </a:rPr>
              <a:t>Developing</a:t>
            </a:r>
            <a:r>
              <a:rPr b="0" lang="en-US" sz="1200" spc="-52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200" spc="-1" strike="noStrike">
                <a:solidFill>
                  <a:srgbClr val="3333b2"/>
                </a:solidFill>
                <a:latin typeface="Arial"/>
                <a:ea typeface="DejaVu Sans"/>
              </a:rPr>
              <a:t>distributed</a:t>
            </a:r>
            <a:r>
              <a:rPr b="0" lang="en-US" sz="1200" spc="-52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200" spc="-1" strike="noStrike">
                <a:solidFill>
                  <a:srgbClr val="3333b2"/>
                </a:solidFill>
                <a:latin typeface="Arial"/>
                <a:ea typeface="DejaVu Sans"/>
              </a:rPr>
              <a:t>systems:</a:t>
            </a:r>
            <a:r>
              <a:rPr b="0" lang="en-US" sz="1200" spc="1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200" spc="-12" strike="noStrike">
                <a:solidFill>
                  <a:srgbClr val="3333b2"/>
                </a:solidFill>
                <a:latin typeface="Arial"/>
                <a:ea typeface="DejaVu Sans"/>
              </a:rPr>
              <a:t>Pitfalls</a:t>
            </a:r>
            <a:endParaRPr b="0" lang="en-US" sz="1200" spc="-1" strike="noStrike">
              <a:latin typeface="Arial"/>
            </a:endParaRPr>
          </a:p>
          <a:p>
            <a:pPr marL="264240">
              <a:lnSpc>
                <a:spcPct val="100000"/>
              </a:lnSpc>
              <a:spcBef>
                <a:spcPts val="1054"/>
              </a:spcBef>
              <a:buNone/>
            </a:pPr>
            <a:r>
              <a:rPr b="0" lang="en-US" sz="1000" spc="-12" strike="noStrike">
                <a:solidFill>
                  <a:srgbClr val="3333b2"/>
                </a:solidFill>
                <a:latin typeface="Arial"/>
                <a:ea typeface="DejaVu Sans"/>
              </a:rPr>
              <a:t>Observation</a:t>
            </a:r>
            <a:endParaRPr b="0" lang="en-US" sz="1000" spc="-1" strike="noStrike">
              <a:latin typeface="Arial"/>
            </a:endParaRPr>
          </a:p>
          <a:p>
            <a:pPr marL="264240">
              <a:lnSpc>
                <a:spcPts val="1210"/>
              </a:lnSpc>
              <a:spcBef>
                <a:spcPts val="40"/>
              </a:spcBef>
              <a:buNone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Many</a:t>
            </a:r>
            <a:r>
              <a:rPr b="0" lang="en-US" sz="900" spc="-4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distributed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systems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are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needlessly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complex,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caused</a:t>
            </a:r>
            <a:r>
              <a:rPr b="0" lang="en-US" sz="900" spc="-4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by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mistakes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that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required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patching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later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on.</a:t>
            </a:r>
            <a:r>
              <a:rPr b="0" lang="en-US" sz="900" spc="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Many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3333b2"/>
                </a:solidFill>
                <a:latin typeface="Arial"/>
                <a:ea typeface="DejaVu Sans"/>
              </a:rPr>
              <a:t>false</a:t>
            </a:r>
            <a:r>
              <a:rPr b="0" lang="en-US" sz="900" spc="-35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3333b2"/>
                </a:solidFill>
                <a:latin typeface="Arial"/>
                <a:ea typeface="DejaVu Sans"/>
              </a:rPr>
              <a:t>assumptions</a:t>
            </a:r>
            <a:r>
              <a:rPr b="0" lang="en-US" sz="900" spc="-32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are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often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made.</a:t>
            </a:r>
            <a:endParaRPr b="0" lang="en-US" sz="900" spc="-1" strike="noStrike">
              <a:latin typeface="Arial"/>
            </a:endParaRPr>
          </a:p>
          <a:p>
            <a:pPr marL="264240">
              <a:lnSpc>
                <a:spcPct val="100000"/>
              </a:lnSpc>
              <a:spcBef>
                <a:spcPts val="746"/>
              </a:spcBef>
              <a:buNone/>
            </a:pPr>
            <a:r>
              <a:rPr b="0" lang="en-US" sz="1000" spc="-12" strike="noStrike">
                <a:solidFill>
                  <a:srgbClr val="3333b2"/>
                </a:solidFill>
                <a:latin typeface="Arial"/>
                <a:ea typeface="DejaVu Sans"/>
              </a:rPr>
              <a:t>False</a:t>
            </a:r>
            <a:r>
              <a:rPr b="0" lang="en-US" sz="1000" spc="-32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  <a:ea typeface="DejaVu Sans"/>
              </a:rPr>
              <a:t>(and</a:t>
            </a:r>
            <a:r>
              <a:rPr b="0" lang="en-US" sz="1000" spc="-32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  <a:ea typeface="DejaVu Sans"/>
              </a:rPr>
              <a:t>often</a:t>
            </a:r>
            <a:r>
              <a:rPr b="0" lang="en-US" sz="1000" spc="-35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  <a:ea typeface="DejaVu Sans"/>
              </a:rPr>
              <a:t>hidden)</a:t>
            </a:r>
            <a:r>
              <a:rPr b="0" lang="en-US" sz="1000" spc="-32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000" spc="-12" strike="noStrike">
                <a:solidFill>
                  <a:srgbClr val="3333b2"/>
                </a:solidFill>
                <a:latin typeface="Arial"/>
                <a:ea typeface="DejaVu Sans"/>
              </a:rPr>
              <a:t>assumptions</a:t>
            </a:r>
            <a:endParaRPr b="0" lang="en-US" sz="1000" spc="-1" strike="noStrike">
              <a:latin typeface="Arial"/>
            </a:endParaRPr>
          </a:p>
        </p:txBody>
      </p:sp>
      <p:grpSp>
        <p:nvGrpSpPr>
          <p:cNvPr id="352" name="object 148"/>
          <p:cNvGrpSpPr/>
          <p:nvPr/>
        </p:nvGrpSpPr>
        <p:grpSpPr>
          <a:xfrm>
            <a:off x="0" y="3348360"/>
            <a:ext cx="4605840" cy="105480"/>
            <a:chOff x="0" y="3348360"/>
            <a:chExt cx="4605840" cy="105480"/>
          </a:xfrm>
        </p:grpSpPr>
        <p:sp>
          <p:nvSpPr>
            <p:cNvPr id="353" name="object 149"/>
            <p:cNvSpPr/>
            <p:nvPr/>
          </p:nvSpPr>
          <p:spPr>
            <a:xfrm>
              <a:off x="0" y="3348360"/>
              <a:ext cx="2301840" cy="10548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54" name="object 150"/>
            <p:cNvSpPr/>
            <p:nvPr/>
          </p:nvSpPr>
          <p:spPr>
            <a:xfrm>
              <a:off x="2304000" y="3348360"/>
              <a:ext cx="2301840" cy="10548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</p:spTree>
  </p:cSld>
  <p:transition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object 151"/>
          <p:cNvSpPr/>
          <p:nvPr/>
        </p:nvSpPr>
        <p:spPr>
          <a:xfrm>
            <a:off x="53640" y="-1440"/>
            <a:ext cx="353880" cy="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Introduction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356" name="object 152"/>
          <p:cNvSpPr/>
          <p:nvPr/>
        </p:nvSpPr>
        <p:spPr>
          <a:xfrm>
            <a:off x="2304000" y="0"/>
            <a:ext cx="2301840" cy="105480"/>
          </a:xfrm>
          <a:custGeom>
            <a:avLst/>
            <a:gdLst/>
            <a:ah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57" name="object 153"/>
          <p:cNvSpPr/>
          <p:nvPr/>
        </p:nvSpPr>
        <p:spPr>
          <a:xfrm>
            <a:off x="4344840" y="-1440"/>
            <a:ext cx="207720" cy="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Pitfalls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358" name="object 154"/>
          <p:cNvSpPr/>
          <p:nvPr/>
        </p:nvSpPr>
        <p:spPr>
          <a:xfrm>
            <a:off x="69840" y="197640"/>
            <a:ext cx="4106520" cy="12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3816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1200" spc="-12" strike="noStrike">
                <a:solidFill>
                  <a:srgbClr val="3333b2"/>
                </a:solidFill>
                <a:latin typeface="Arial"/>
                <a:ea typeface="DejaVu Sans"/>
              </a:rPr>
              <a:t>Developing</a:t>
            </a:r>
            <a:r>
              <a:rPr b="0" lang="en-US" sz="1200" spc="-52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200" spc="-1" strike="noStrike">
                <a:solidFill>
                  <a:srgbClr val="3333b2"/>
                </a:solidFill>
                <a:latin typeface="Arial"/>
                <a:ea typeface="DejaVu Sans"/>
              </a:rPr>
              <a:t>distributed</a:t>
            </a:r>
            <a:r>
              <a:rPr b="0" lang="en-US" sz="1200" spc="-52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200" spc="-1" strike="noStrike">
                <a:solidFill>
                  <a:srgbClr val="3333b2"/>
                </a:solidFill>
                <a:latin typeface="Arial"/>
                <a:ea typeface="DejaVu Sans"/>
              </a:rPr>
              <a:t>systems:</a:t>
            </a:r>
            <a:r>
              <a:rPr b="0" lang="en-US" sz="1200" spc="1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200" spc="-12" strike="noStrike">
                <a:solidFill>
                  <a:srgbClr val="3333b2"/>
                </a:solidFill>
                <a:latin typeface="Arial"/>
                <a:ea typeface="DejaVu Sans"/>
              </a:rPr>
              <a:t>Pitfalls</a:t>
            </a:r>
            <a:endParaRPr b="0" lang="en-US" sz="1200" spc="-1" strike="noStrike">
              <a:latin typeface="Arial"/>
            </a:endParaRPr>
          </a:p>
          <a:p>
            <a:pPr marL="289440">
              <a:lnSpc>
                <a:spcPct val="100000"/>
              </a:lnSpc>
              <a:spcBef>
                <a:spcPts val="1054"/>
              </a:spcBef>
              <a:buNone/>
            </a:pPr>
            <a:r>
              <a:rPr b="0" lang="en-US" sz="1000" spc="-12" strike="noStrike">
                <a:solidFill>
                  <a:srgbClr val="3333b2"/>
                </a:solidFill>
                <a:latin typeface="Arial"/>
                <a:ea typeface="DejaVu Sans"/>
              </a:rPr>
              <a:t>Observation</a:t>
            </a:r>
            <a:endParaRPr b="0" lang="en-US" sz="1000" spc="-1" strike="noStrike">
              <a:latin typeface="Arial"/>
            </a:endParaRPr>
          </a:p>
          <a:p>
            <a:pPr marL="289440">
              <a:lnSpc>
                <a:spcPts val="1210"/>
              </a:lnSpc>
              <a:spcBef>
                <a:spcPts val="40"/>
              </a:spcBef>
              <a:buNone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Many</a:t>
            </a:r>
            <a:r>
              <a:rPr b="0" lang="en-US" sz="900" spc="-4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distributed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systems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are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needlessly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complex,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caused</a:t>
            </a:r>
            <a:r>
              <a:rPr b="0" lang="en-US" sz="900" spc="-4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by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mistakes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br>
              <a:rPr sz="900"/>
            </a:b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that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required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patching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later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on.</a:t>
            </a:r>
            <a:r>
              <a:rPr b="0" lang="en-US" sz="900" spc="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Many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3333b2"/>
                </a:solidFill>
                <a:latin typeface="Arial"/>
                <a:ea typeface="DejaVu Sans"/>
              </a:rPr>
              <a:t>false</a:t>
            </a:r>
            <a:r>
              <a:rPr b="0" lang="en-US" sz="900" spc="-35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3333b2"/>
                </a:solidFill>
                <a:latin typeface="Arial"/>
                <a:ea typeface="DejaVu Sans"/>
              </a:rPr>
              <a:t>assumptions</a:t>
            </a:r>
            <a:r>
              <a:rPr b="0" lang="en-US" sz="900" spc="-32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are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often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made.</a:t>
            </a:r>
            <a:endParaRPr b="0" lang="en-US" sz="900" spc="-1" strike="noStrike">
              <a:latin typeface="Arial"/>
            </a:endParaRPr>
          </a:p>
          <a:p>
            <a:pPr marL="289440">
              <a:lnSpc>
                <a:spcPct val="100000"/>
              </a:lnSpc>
              <a:spcBef>
                <a:spcPts val="746"/>
              </a:spcBef>
              <a:buNone/>
            </a:pPr>
            <a:r>
              <a:rPr b="0" lang="en-US" sz="1000" spc="-12" strike="noStrike">
                <a:solidFill>
                  <a:srgbClr val="3333b2"/>
                </a:solidFill>
                <a:latin typeface="Arial"/>
                <a:ea typeface="DejaVu Sans"/>
              </a:rPr>
              <a:t>False</a:t>
            </a:r>
            <a:r>
              <a:rPr b="0" lang="en-US" sz="1000" spc="-32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  <a:ea typeface="DejaVu Sans"/>
              </a:rPr>
              <a:t>(and</a:t>
            </a:r>
            <a:r>
              <a:rPr b="0" lang="en-US" sz="1000" spc="-32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  <a:ea typeface="DejaVu Sans"/>
              </a:rPr>
              <a:t>often</a:t>
            </a:r>
            <a:r>
              <a:rPr b="0" lang="en-US" sz="1000" spc="-35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  <a:ea typeface="DejaVu Sans"/>
              </a:rPr>
              <a:t>hidden)</a:t>
            </a:r>
            <a:r>
              <a:rPr b="0" lang="en-US" sz="1000" spc="-32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000" spc="-12" strike="noStrike">
                <a:solidFill>
                  <a:srgbClr val="3333b2"/>
                </a:solidFill>
                <a:latin typeface="Arial"/>
                <a:ea typeface="DejaVu Sans"/>
              </a:rPr>
              <a:t>assumptions</a:t>
            </a:r>
            <a:endParaRPr b="0" lang="en-US" sz="1000" spc="-1" strike="noStrike">
              <a:latin typeface="Arial"/>
            </a:endParaRPr>
          </a:p>
          <a:p>
            <a:pPr marL="539280" indent="-117000">
              <a:lnSpc>
                <a:spcPct val="100000"/>
              </a:lnSpc>
              <a:spcBef>
                <a:spcPts val="694"/>
              </a:spcBef>
              <a:buClr>
                <a:srgbClr val="3333b2"/>
              </a:buClr>
              <a:buFont typeface="Menlo"/>
              <a:buChar char="•"/>
              <a:tabLst>
                <a:tab algn="l" pos="53964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The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network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is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reliable</a:t>
            </a:r>
            <a:endParaRPr b="0" lang="en-US" sz="900" spc="-1" strike="noStrike">
              <a:latin typeface="Arial"/>
            </a:endParaRPr>
          </a:p>
        </p:txBody>
      </p:sp>
      <p:grpSp>
        <p:nvGrpSpPr>
          <p:cNvPr id="359" name="object 155"/>
          <p:cNvGrpSpPr/>
          <p:nvPr/>
        </p:nvGrpSpPr>
        <p:grpSpPr>
          <a:xfrm>
            <a:off x="0" y="3348360"/>
            <a:ext cx="4605840" cy="105480"/>
            <a:chOff x="0" y="3348360"/>
            <a:chExt cx="4605840" cy="105480"/>
          </a:xfrm>
        </p:grpSpPr>
        <p:sp>
          <p:nvSpPr>
            <p:cNvPr id="360" name="object 156"/>
            <p:cNvSpPr/>
            <p:nvPr/>
          </p:nvSpPr>
          <p:spPr>
            <a:xfrm>
              <a:off x="0" y="3348360"/>
              <a:ext cx="2301840" cy="10548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61" name="object 157"/>
            <p:cNvSpPr/>
            <p:nvPr/>
          </p:nvSpPr>
          <p:spPr>
            <a:xfrm>
              <a:off x="2304000" y="3348360"/>
              <a:ext cx="2301840" cy="10548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</p:spTree>
  </p:cSld>
  <p:transition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object 158"/>
          <p:cNvSpPr/>
          <p:nvPr/>
        </p:nvSpPr>
        <p:spPr>
          <a:xfrm>
            <a:off x="53640" y="-1440"/>
            <a:ext cx="353880" cy="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Introduction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363" name="object 159"/>
          <p:cNvSpPr/>
          <p:nvPr/>
        </p:nvSpPr>
        <p:spPr>
          <a:xfrm>
            <a:off x="2304000" y="0"/>
            <a:ext cx="2301840" cy="105480"/>
          </a:xfrm>
          <a:custGeom>
            <a:avLst/>
            <a:gdLst/>
            <a:ah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64" name="object 160"/>
          <p:cNvSpPr/>
          <p:nvPr/>
        </p:nvSpPr>
        <p:spPr>
          <a:xfrm>
            <a:off x="4344840" y="-1440"/>
            <a:ext cx="207720" cy="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Pitfalls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365" name="object 161"/>
          <p:cNvSpPr/>
          <p:nvPr/>
        </p:nvSpPr>
        <p:spPr>
          <a:xfrm>
            <a:off x="69840" y="197640"/>
            <a:ext cx="4106520" cy="147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3816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1200" spc="-12" strike="noStrike">
                <a:solidFill>
                  <a:srgbClr val="3333b2"/>
                </a:solidFill>
                <a:latin typeface="Arial"/>
                <a:ea typeface="DejaVu Sans"/>
              </a:rPr>
              <a:t>Developing</a:t>
            </a:r>
            <a:r>
              <a:rPr b="0" lang="en-US" sz="1200" spc="-52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200" spc="-1" strike="noStrike">
                <a:solidFill>
                  <a:srgbClr val="3333b2"/>
                </a:solidFill>
                <a:latin typeface="Arial"/>
                <a:ea typeface="DejaVu Sans"/>
              </a:rPr>
              <a:t>distributed</a:t>
            </a:r>
            <a:r>
              <a:rPr b="0" lang="en-US" sz="1200" spc="-52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200" spc="-1" strike="noStrike">
                <a:solidFill>
                  <a:srgbClr val="3333b2"/>
                </a:solidFill>
                <a:latin typeface="Arial"/>
                <a:ea typeface="DejaVu Sans"/>
              </a:rPr>
              <a:t>systems:</a:t>
            </a:r>
            <a:r>
              <a:rPr b="0" lang="en-US" sz="1200" spc="1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200" spc="-12" strike="noStrike">
                <a:solidFill>
                  <a:srgbClr val="3333b2"/>
                </a:solidFill>
                <a:latin typeface="Arial"/>
                <a:ea typeface="DejaVu Sans"/>
              </a:rPr>
              <a:t>Pitfalls</a:t>
            </a:r>
            <a:endParaRPr b="0" lang="en-US" sz="1200" spc="-1" strike="noStrike">
              <a:latin typeface="Arial"/>
            </a:endParaRPr>
          </a:p>
          <a:p>
            <a:pPr marL="289440">
              <a:lnSpc>
                <a:spcPct val="100000"/>
              </a:lnSpc>
              <a:spcBef>
                <a:spcPts val="1054"/>
              </a:spcBef>
              <a:buNone/>
            </a:pPr>
            <a:r>
              <a:rPr b="0" lang="en-US" sz="1000" spc="-12" strike="noStrike">
                <a:solidFill>
                  <a:srgbClr val="3333b2"/>
                </a:solidFill>
                <a:latin typeface="Arial"/>
                <a:ea typeface="DejaVu Sans"/>
              </a:rPr>
              <a:t>Observation</a:t>
            </a:r>
            <a:endParaRPr b="0" lang="en-US" sz="1000" spc="-1" strike="noStrike">
              <a:latin typeface="Arial"/>
            </a:endParaRPr>
          </a:p>
          <a:p>
            <a:pPr marL="289440">
              <a:lnSpc>
                <a:spcPts val="1210"/>
              </a:lnSpc>
              <a:spcBef>
                <a:spcPts val="40"/>
              </a:spcBef>
              <a:buNone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Many</a:t>
            </a:r>
            <a:r>
              <a:rPr b="0" lang="en-US" sz="900" spc="-4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distributed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systems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are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needlessly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complex,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caused</a:t>
            </a:r>
            <a:r>
              <a:rPr b="0" lang="en-US" sz="900" spc="-4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by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mistakes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n-US" sz="900" spc="-1" strike="noStrike">
              <a:latin typeface="Arial"/>
            </a:endParaRPr>
          </a:p>
          <a:p>
            <a:pPr marL="289440">
              <a:lnSpc>
                <a:spcPts val="1210"/>
              </a:lnSpc>
              <a:spcBef>
                <a:spcPts val="40"/>
              </a:spcBef>
              <a:buNone/>
            </a:pP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that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required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patching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later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on.</a:t>
            </a:r>
            <a:r>
              <a:rPr b="0" lang="en-US" sz="900" spc="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Many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3333b2"/>
                </a:solidFill>
                <a:latin typeface="Arial"/>
                <a:ea typeface="DejaVu Sans"/>
              </a:rPr>
              <a:t>false</a:t>
            </a:r>
            <a:r>
              <a:rPr b="0" lang="en-US" sz="900" spc="-35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3333b2"/>
                </a:solidFill>
                <a:latin typeface="Arial"/>
                <a:ea typeface="DejaVu Sans"/>
              </a:rPr>
              <a:t>assumptions</a:t>
            </a:r>
            <a:r>
              <a:rPr b="0" lang="en-US" sz="900" spc="-32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are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often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made.</a:t>
            </a:r>
            <a:endParaRPr b="0" lang="en-US" sz="900" spc="-1" strike="noStrike">
              <a:latin typeface="Arial"/>
            </a:endParaRPr>
          </a:p>
          <a:p>
            <a:pPr marL="289440">
              <a:lnSpc>
                <a:spcPct val="100000"/>
              </a:lnSpc>
              <a:spcBef>
                <a:spcPts val="746"/>
              </a:spcBef>
              <a:buNone/>
            </a:pPr>
            <a:r>
              <a:rPr b="0" lang="en-US" sz="1000" spc="-12" strike="noStrike">
                <a:solidFill>
                  <a:srgbClr val="3333b2"/>
                </a:solidFill>
                <a:latin typeface="Arial"/>
                <a:ea typeface="DejaVu Sans"/>
              </a:rPr>
              <a:t>False</a:t>
            </a:r>
            <a:r>
              <a:rPr b="0" lang="en-US" sz="1000" spc="-32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  <a:ea typeface="DejaVu Sans"/>
              </a:rPr>
              <a:t>(and</a:t>
            </a:r>
            <a:r>
              <a:rPr b="0" lang="en-US" sz="1000" spc="-32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  <a:ea typeface="DejaVu Sans"/>
              </a:rPr>
              <a:t>often</a:t>
            </a:r>
            <a:r>
              <a:rPr b="0" lang="en-US" sz="1000" spc="-35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  <a:ea typeface="DejaVu Sans"/>
              </a:rPr>
              <a:t>hidden)</a:t>
            </a:r>
            <a:r>
              <a:rPr b="0" lang="en-US" sz="1000" spc="-32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000" spc="-12" strike="noStrike">
                <a:solidFill>
                  <a:srgbClr val="3333b2"/>
                </a:solidFill>
                <a:latin typeface="Arial"/>
                <a:ea typeface="DejaVu Sans"/>
              </a:rPr>
              <a:t>assumptions</a:t>
            </a:r>
            <a:endParaRPr b="0" lang="en-US" sz="1000" spc="-1" strike="noStrike">
              <a:latin typeface="Arial"/>
            </a:endParaRPr>
          </a:p>
          <a:p>
            <a:pPr marL="539280" indent="-117000">
              <a:lnSpc>
                <a:spcPct val="100000"/>
              </a:lnSpc>
              <a:spcBef>
                <a:spcPts val="694"/>
              </a:spcBef>
              <a:buClr>
                <a:srgbClr val="3333b2"/>
              </a:buClr>
              <a:buFont typeface="Menlo"/>
              <a:buChar char="•"/>
              <a:tabLst>
                <a:tab algn="l" pos="53964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The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network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is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reliable</a:t>
            </a:r>
            <a:endParaRPr b="0" lang="en-US" sz="900" spc="-1" strike="noStrike">
              <a:latin typeface="Arial"/>
            </a:endParaRPr>
          </a:p>
          <a:p>
            <a:pPr marL="539280" indent="-117000">
              <a:lnSpc>
                <a:spcPct val="100000"/>
              </a:lnSpc>
              <a:spcBef>
                <a:spcPts val="519"/>
              </a:spcBef>
              <a:buClr>
                <a:srgbClr val="3333b2"/>
              </a:buClr>
              <a:buFont typeface="Menlo"/>
              <a:buChar char="•"/>
              <a:tabLst>
                <a:tab algn="l" pos="53964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The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network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is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secure</a:t>
            </a:r>
            <a:endParaRPr b="0" lang="en-US" sz="900" spc="-1" strike="noStrike">
              <a:latin typeface="Arial"/>
            </a:endParaRPr>
          </a:p>
        </p:txBody>
      </p:sp>
      <p:grpSp>
        <p:nvGrpSpPr>
          <p:cNvPr id="366" name="object 162"/>
          <p:cNvGrpSpPr/>
          <p:nvPr/>
        </p:nvGrpSpPr>
        <p:grpSpPr>
          <a:xfrm>
            <a:off x="0" y="3348360"/>
            <a:ext cx="4605840" cy="105480"/>
            <a:chOff x="0" y="3348360"/>
            <a:chExt cx="4605840" cy="105480"/>
          </a:xfrm>
        </p:grpSpPr>
        <p:sp>
          <p:nvSpPr>
            <p:cNvPr id="367" name="object 163"/>
            <p:cNvSpPr/>
            <p:nvPr/>
          </p:nvSpPr>
          <p:spPr>
            <a:xfrm>
              <a:off x="0" y="3348360"/>
              <a:ext cx="2301840" cy="10548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68" name="object 164"/>
            <p:cNvSpPr/>
            <p:nvPr/>
          </p:nvSpPr>
          <p:spPr>
            <a:xfrm>
              <a:off x="2304000" y="3348360"/>
              <a:ext cx="2301840" cy="10548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</p:spTree>
  </p:cSld>
  <p:transition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object 165"/>
          <p:cNvSpPr/>
          <p:nvPr/>
        </p:nvSpPr>
        <p:spPr>
          <a:xfrm>
            <a:off x="53640" y="-1440"/>
            <a:ext cx="353880" cy="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Introduction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370" name="object 166"/>
          <p:cNvSpPr/>
          <p:nvPr/>
        </p:nvSpPr>
        <p:spPr>
          <a:xfrm>
            <a:off x="2304000" y="0"/>
            <a:ext cx="2301840" cy="105480"/>
          </a:xfrm>
          <a:custGeom>
            <a:avLst/>
            <a:gdLst/>
            <a:ah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71" name="object 167"/>
          <p:cNvSpPr/>
          <p:nvPr/>
        </p:nvSpPr>
        <p:spPr>
          <a:xfrm>
            <a:off x="4344840" y="-1440"/>
            <a:ext cx="207720" cy="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Pitfalls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372" name="object 168"/>
          <p:cNvSpPr/>
          <p:nvPr/>
        </p:nvSpPr>
        <p:spPr>
          <a:xfrm>
            <a:off x="69840" y="197640"/>
            <a:ext cx="4106520" cy="167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3816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1200" spc="-12" strike="noStrike">
                <a:solidFill>
                  <a:srgbClr val="3333b2"/>
                </a:solidFill>
                <a:latin typeface="Arial"/>
                <a:ea typeface="DejaVu Sans"/>
              </a:rPr>
              <a:t>Developing</a:t>
            </a:r>
            <a:r>
              <a:rPr b="0" lang="en-US" sz="1200" spc="-52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200" spc="-1" strike="noStrike">
                <a:solidFill>
                  <a:srgbClr val="3333b2"/>
                </a:solidFill>
                <a:latin typeface="Arial"/>
                <a:ea typeface="DejaVu Sans"/>
              </a:rPr>
              <a:t>distributed</a:t>
            </a:r>
            <a:r>
              <a:rPr b="0" lang="en-US" sz="1200" spc="-52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200" spc="-1" strike="noStrike">
                <a:solidFill>
                  <a:srgbClr val="3333b2"/>
                </a:solidFill>
                <a:latin typeface="Arial"/>
                <a:ea typeface="DejaVu Sans"/>
              </a:rPr>
              <a:t>systems:</a:t>
            </a:r>
            <a:r>
              <a:rPr b="0" lang="en-US" sz="1200" spc="1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200" spc="-12" strike="noStrike">
                <a:solidFill>
                  <a:srgbClr val="3333b2"/>
                </a:solidFill>
                <a:latin typeface="Arial"/>
                <a:ea typeface="DejaVu Sans"/>
              </a:rPr>
              <a:t>Pitfalls</a:t>
            </a:r>
            <a:endParaRPr b="0" lang="en-US" sz="1200" spc="-1" strike="noStrike">
              <a:latin typeface="Arial"/>
            </a:endParaRPr>
          </a:p>
          <a:p>
            <a:pPr marL="289440">
              <a:lnSpc>
                <a:spcPct val="100000"/>
              </a:lnSpc>
              <a:spcBef>
                <a:spcPts val="1054"/>
              </a:spcBef>
              <a:buNone/>
            </a:pPr>
            <a:r>
              <a:rPr b="0" lang="en-US" sz="1000" spc="-12" strike="noStrike">
                <a:solidFill>
                  <a:srgbClr val="3333b2"/>
                </a:solidFill>
                <a:latin typeface="Arial"/>
                <a:ea typeface="DejaVu Sans"/>
              </a:rPr>
              <a:t>Observation</a:t>
            </a:r>
            <a:endParaRPr b="0" lang="en-US" sz="1000" spc="-1" strike="noStrike">
              <a:latin typeface="Arial"/>
            </a:endParaRPr>
          </a:p>
          <a:p>
            <a:pPr marL="289440">
              <a:lnSpc>
                <a:spcPts val="1210"/>
              </a:lnSpc>
              <a:spcBef>
                <a:spcPts val="40"/>
              </a:spcBef>
              <a:buNone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Many</a:t>
            </a:r>
            <a:r>
              <a:rPr b="0" lang="en-US" sz="900" spc="-4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distributed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systems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are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needlessly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complex,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caused</a:t>
            </a:r>
            <a:r>
              <a:rPr b="0" lang="en-US" sz="900" spc="-4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by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mistakes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n-US" sz="900" spc="-1" strike="noStrike">
              <a:latin typeface="Arial"/>
            </a:endParaRPr>
          </a:p>
          <a:p>
            <a:pPr marL="289440">
              <a:lnSpc>
                <a:spcPts val="1210"/>
              </a:lnSpc>
              <a:spcBef>
                <a:spcPts val="40"/>
              </a:spcBef>
              <a:buNone/>
            </a:pP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that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required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patching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later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on.</a:t>
            </a:r>
            <a:r>
              <a:rPr b="0" lang="en-US" sz="900" spc="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Many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3333b2"/>
                </a:solidFill>
                <a:latin typeface="Arial"/>
                <a:ea typeface="DejaVu Sans"/>
              </a:rPr>
              <a:t>false</a:t>
            </a:r>
            <a:r>
              <a:rPr b="0" lang="en-US" sz="900" spc="-35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3333b2"/>
                </a:solidFill>
                <a:latin typeface="Arial"/>
                <a:ea typeface="DejaVu Sans"/>
              </a:rPr>
              <a:t>assumptions</a:t>
            </a:r>
            <a:r>
              <a:rPr b="0" lang="en-US" sz="900" spc="-32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are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often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made.</a:t>
            </a:r>
            <a:endParaRPr b="0" lang="en-US" sz="900" spc="-1" strike="noStrike">
              <a:latin typeface="Arial"/>
            </a:endParaRPr>
          </a:p>
          <a:p>
            <a:pPr marL="289440">
              <a:lnSpc>
                <a:spcPct val="100000"/>
              </a:lnSpc>
              <a:spcBef>
                <a:spcPts val="746"/>
              </a:spcBef>
              <a:buNone/>
            </a:pPr>
            <a:r>
              <a:rPr b="0" lang="en-US" sz="1000" spc="-12" strike="noStrike">
                <a:solidFill>
                  <a:srgbClr val="3333b2"/>
                </a:solidFill>
                <a:latin typeface="Arial"/>
                <a:ea typeface="DejaVu Sans"/>
              </a:rPr>
              <a:t>False</a:t>
            </a:r>
            <a:r>
              <a:rPr b="0" lang="en-US" sz="1000" spc="-32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  <a:ea typeface="DejaVu Sans"/>
              </a:rPr>
              <a:t>(and</a:t>
            </a:r>
            <a:r>
              <a:rPr b="0" lang="en-US" sz="1000" spc="-32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  <a:ea typeface="DejaVu Sans"/>
              </a:rPr>
              <a:t>often</a:t>
            </a:r>
            <a:r>
              <a:rPr b="0" lang="en-US" sz="1000" spc="-35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  <a:ea typeface="DejaVu Sans"/>
              </a:rPr>
              <a:t>hidden)</a:t>
            </a:r>
            <a:r>
              <a:rPr b="0" lang="en-US" sz="1000" spc="-32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000" spc="-12" strike="noStrike">
                <a:solidFill>
                  <a:srgbClr val="3333b2"/>
                </a:solidFill>
                <a:latin typeface="Arial"/>
                <a:ea typeface="DejaVu Sans"/>
              </a:rPr>
              <a:t>assumptions</a:t>
            </a:r>
            <a:endParaRPr b="0" lang="en-US" sz="1000" spc="-1" strike="noStrike">
              <a:latin typeface="Arial"/>
            </a:endParaRPr>
          </a:p>
          <a:p>
            <a:pPr marL="539280" indent="-117000">
              <a:lnSpc>
                <a:spcPct val="100000"/>
              </a:lnSpc>
              <a:spcBef>
                <a:spcPts val="694"/>
              </a:spcBef>
              <a:buClr>
                <a:srgbClr val="3333b2"/>
              </a:buClr>
              <a:buFont typeface="Menlo"/>
              <a:buChar char="•"/>
              <a:tabLst>
                <a:tab algn="l" pos="53964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The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network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is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reliable</a:t>
            </a:r>
            <a:endParaRPr b="0" lang="en-US" sz="900" spc="-1" strike="noStrike">
              <a:latin typeface="Arial"/>
            </a:endParaRPr>
          </a:p>
          <a:p>
            <a:pPr marL="539280" indent="-117000">
              <a:lnSpc>
                <a:spcPct val="100000"/>
              </a:lnSpc>
              <a:spcBef>
                <a:spcPts val="519"/>
              </a:spcBef>
              <a:buClr>
                <a:srgbClr val="3333b2"/>
              </a:buClr>
              <a:buFont typeface="Menlo"/>
              <a:buChar char="•"/>
              <a:tabLst>
                <a:tab algn="l" pos="53964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The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network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is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secure</a:t>
            </a:r>
            <a:endParaRPr b="0" lang="en-US" sz="900" spc="-1" strike="noStrike">
              <a:latin typeface="Arial"/>
            </a:endParaRPr>
          </a:p>
          <a:p>
            <a:pPr marL="539280" indent="-117000">
              <a:lnSpc>
                <a:spcPct val="100000"/>
              </a:lnSpc>
              <a:spcBef>
                <a:spcPts val="524"/>
              </a:spcBef>
              <a:buClr>
                <a:srgbClr val="3333b2"/>
              </a:buClr>
              <a:buFont typeface="Menlo"/>
              <a:buChar char="•"/>
              <a:tabLst>
                <a:tab algn="l" pos="53964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The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network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is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homogeneous</a:t>
            </a:r>
            <a:endParaRPr b="0" lang="en-US" sz="900" spc="-1" strike="noStrike">
              <a:latin typeface="Arial"/>
            </a:endParaRPr>
          </a:p>
        </p:txBody>
      </p:sp>
      <p:grpSp>
        <p:nvGrpSpPr>
          <p:cNvPr id="373" name="object 169"/>
          <p:cNvGrpSpPr/>
          <p:nvPr/>
        </p:nvGrpSpPr>
        <p:grpSpPr>
          <a:xfrm>
            <a:off x="0" y="3348360"/>
            <a:ext cx="4605840" cy="105480"/>
            <a:chOff x="0" y="3348360"/>
            <a:chExt cx="4605840" cy="105480"/>
          </a:xfrm>
        </p:grpSpPr>
        <p:sp>
          <p:nvSpPr>
            <p:cNvPr id="374" name="object 170"/>
            <p:cNvSpPr/>
            <p:nvPr/>
          </p:nvSpPr>
          <p:spPr>
            <a:xfrm>
              <a:off x="0" y="3348360"/>
              <a:ext cx="2301840" cy="10548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75" name="object 171"/>
            <p:cNvSpPr/>
            <p:nvPr/>
          </p:nvSpPr>
          <p:spPr>
            <a:xfrm>
              <a:off x="2304000" y="3348360"/>
              <a:ext cx="2301840" cy="10548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</p:spTree>
  </p:cSld>
  <p:transition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object 172"/>
          <p:cNvSpPr/>
          <p:nvPr/>
        </p:nvSpPr>
        <p:spPr>
          <a:xfrm>
            <a:off x="53640" y="-1440"/>
            <a:ext cx="353880" cy="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Introduction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377" name="object 173"/>
          <p:cNvSpPr/>
          <p:nvPr/>
        </p:nvSpPr>
        <p:spPr>
          <a:xfrm>
            <a:off x="2304000" y="0"/>
            <a:ext cx="2301840" cy="105480"/>
          </a:xfrm>
          <a:custGeom>
            <a:avLst/>
            <a:gdLst/>
            <a:ah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78" name="object 174"/>
          <p:cNvSpPr/>
          <p:nvPr/>
        </p:nvSpPr>
        <p:spPr>
          <a:xfrm>
            <a:off x="4344840" y="-1440"/>
            <a:ext cx="207720" cy="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Pitfalls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379" name="object 175"/>
          <p:cNvSpPr/>
          <p:nvPr/>
        </p:nvSpPr>
        <p:spPr>
          <a:xfrm>
            <a:off x="69840" y="197640"/>
            <a:ext cx="4106520" cy="188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3816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1200" spc="-12" strike="noStrike">
                <a:solidFill>
                  <a:srgbClr val="3333b2"/>
                </a:solidFill>
                <a:latin typeface="Arial"/>
                <a:ea typeface="DejaVu Sans"/>
              </a:rPr>
              <a:t>Developing</a:t>
            </a:r>
            <a:r>
              <a:rPr b="0" lang="en-US" sz="1200" spc="-52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200" spc="-1" strike="noStrike">
                <a:solidFill>
                  <a:srgbClr val="3333b2"/>
                </a:solidFill>
                <a:latin typeface="Arial"/>
                <a:ea typeface="DejaVu Sans"/>
              </a:rPr>
              <a:t>distributed</a:t>
            </a:r>
            <a:r>
              <a:rPr b="0" lang="en-US" sz="1200" spc="-52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200" spc="-1" strike="noStrike">
                <a:solidFill>
                  <a:srgbClr val="3333b2"/>
                </a:solidFill>
                <a:latin typeface="Arial"/>
                <a:ea typeface="DejaVu Sans"/>
              </a:rPr>
              <a:t>systems:</a:t>
            </a:r>
            <a:r>
              <a:rPr b="0" lang="en-US" sz="1200" spc="1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200" spc="-12" strike="noStrike">
                <a:solidFill>
                  <a:srgbClr val="3333b2"/>
                </a:solidFill>
                <a:latin typeface="Arial"/>
                <a:ea typeface="DejaVu Sans"/>
              </a:rPr>
              <a:t>Pitfalls</a:t>
            </a:r>
            <a:endParaRPr b="0" lang="en-US" sz="1200" spc="-1" strike="noStrike">
              <a:latin typeface="Arial"/>
            </a:endParaRPr>
          </a:p>
          <a:p>
            <a:pPr marL="289440">
              <a:lnSpc>
                <a:spcPct val="100000"/>
              </a:lnSpc>
              <a:spcBef>
                <a:spcPts val="1054"/>
              </a:spcBef>
              <a:buNone/>
            </a:pPr>
            <a:r>
              <a:rPr b="0" lang="en-US" sz="1000" spc="-12" strike="noStrike">
                <a:solidFill>
                  <a:srgbClr val="3333b2"/>
                </a:solidFill>
                <a:latin typeface="Arial"/>
                <a:ea typeface="DejaVu Sans"/>
              </a:rPr>
              <a:t>Observation</a:t>
            </a:r>
            <a:endParaRPr b="0" lang="en-US" sz="1000" spc="-1" strike="noStrike">
              <a:latin typeface="Arial"/>
            </a:endParaRPr>
          </a:p>
          <a:p>
            <a:pPr marL="289440">
              <a:lnSpc>
                <a:spcPts val="1210"/>
              </a:lnSpc>
              <a:spcBef>
                <a:spcPts val="40"/>
              </a:spcBef>
              <a:buNone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Many</a:t>
            </a:r>
            <a:r>
              <a:rPr b="0" lang="en-US" sz="900" spc="-4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distributed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systems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are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needlessly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complex,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caused</a:t>
            </a:r>
            <a:r>
              <a:rPr b="0" lang="en-US" sz="900" spc="-4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by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mistakes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n-US" sz="900" spc="-1" strike="noStrike">
              <a:latin typeface="Arial"/>
            </a:endParaRPr>
          </a:p>
          <a:p>
            <a:pPr marL="289440">
              <a:lnSpc>
                <a:spcPts val="1210"/>
              </a:lnSpc>
              <a:spcBef>
                <a:spcPts val="40"/>
              </a:spcBef>
              <a:buNone/>
            </a:pP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that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required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patching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later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on.</a:t>
            </a:r>
            <a:r>
              <a:rPr b="0" lang="en-US" sz="900" spc="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Many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3333b2"/>
                </a:solidFill>
                <a:latin typeface="Arial"/>
                <a:ea typeface="DejaVu Sans"/>
              </a:rPr>
              <a:t>false</a:t>
            </a:r>
            <a:r>
              <a:rPr b="0" lang="en-US" sz="900" spc="-35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3333b2"/>
                </a:solidFill>
                <a:latin typeface="Arial"/>
                <a:ea typeface="DejaVu Sans"/>
              </a:rPr>
              <a:t>assumptions</a:t>
            </a:r>
            <a:r>
              <a:rPr b="0" lang="en-US" sz="900" spc="-32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are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often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made.</a:t>
            </a:r>
            <a:endParaRPr b="0" lang="en-US" sz="900" spc="-1" strike="noStrike">
              <a:latin typeface="Arial"/>
            </a:endParaRPr>
          </a:p>
          <a:p>
            <a:pPr marL="289440">
              <a:lnSpc>
                <a:spcPct val="100000"/>
              </a:lnSpc>
              <a:spcBef>
                <a:spcPts val="746"/>
              </a:spcBef>
              <a:buNone/>
            </a:pPr>
            <a:r>
              <a:rPr b="0" lang="en-US" sz="1000" spc="-12" strike="noStrike">
                <a:solidFill>
                  <a:srgbClr val="3333b2"/>
                </a:solidFill>
                <a:latin typeface="Arial"/>
                <a:ea typeface="DejaVu Sans"/>
              </a:rPr>
              <a:t>False</a:t>
            </a:r>
            <a:r>
              <a:rPr b="0" lang="en-US" sz="1000" spc="-32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  <a:ea typeface="DejaVu Sans"/>
              </a:rPr>
              <a:t>(and</a:t>
            </a:r>
            <a:r>
              <a:rPr b="0" lang="en-US" sz="1000" spc="-32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  <a:ea typeface="DejaVu Sans"/>
              </a:rPr>
              <a:t>often</a:t>
            </a:r>
            <a:r>
              <a:rPr b="0" lang="en-US" sz="1000" spc="-35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  <a:ea typeface="DejaVu Sans"/>
              </a:rPr>
              <a:t>hidden)</a:t>
            </a:r>
            <a:r>
              <a:rPr b="0" lang="en-US" sz="1000" spc="-32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000" spc="-12" strike="noStrike">
                <a:solidFill>
                  <a:srgbClr val="3333b2"/>
                </a:solidFill>
                <a:latin typeface="Arial"/>
                <a:ea typeface="DejaVu Sans"/>
              </a:rPr>
              <a:t>assumptions</a:t>
            </a:r>
            <a:endParaRPr b="0" lang="en-US" sz="1000" spc="-1" strike="noStrike">
              <a:latin typeface="Arial"/>
            </a:endParaRPr>
          </a:p>
          <a:p>
            <a:pPr marL="539280" indent="-117000">
              <a:lnSpc>
                <a:spcPct val="100000"/>
              </a:lnSpc>
              <a:spcBef>
                <a:spcPts val="694"/>
              </a:spcBef>
              <a:buClr>
                <a:srgbClr val="3333b2"/>
              </a:buClr>
              <a:buFont typeface="Menlo"/>
              <a:buChar char="•"/>
              <a:tabLst>
                <a:tab algn="l" pos="53964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The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network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is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reliable</a:t>
            </a:r>
            <a:endParaRPr b="0" lang="en-US" sz="900" spc="-1" strike="noStrike">
              <a:latin typeface="Arial"/>
            </a:endParaRPr>
          </a:p>
          <a:p>
            <a:pPr marL="539280" indent="-117000">
              <a:lnSpc>
                <a:spcPct val="100000"/>
              </a:lnSpc>
              <a:spcBef>
                <a:spcPts val="519"/>
              </a:spcBef>
              <a:buClr>
                <a:srgbClr val="3333b2"/>
              </a:buClr>
              <a:buFont typeface="Menlo"/>
              <a:buChar char="•"/>
              <a:tabLst>
                <a:tab algn="l" pos="53964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The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network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is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secure</a:t>
            </a:r>
            <a:endParaRPr b="0" lang="en-US" sz="900" spc="-1" strike="noStrike">
              <a:latin typeface="Arial"/>
            </a:endParaRPr>
          </a:p>
          <a:p>
            <a:pPr marL="539280" indent="-117000">
              <a:lnSpc>
                <a:spcPct val="100000"/>
              </a:lnSpc>
              <a:spcBef>
                <a:spcPts val="524"/>
              </a:spcBef>
              <a:buClr>
                <a:srgbClr val="3333b2"/>
              </a:buClr>
              <a:buFont typeface="Menlo"/>
              <a:buChar char="•"/>
              <a:tabLst>
                <a:tab algn="l" pos="53964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The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network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is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homogeneous</a:t>
            </a:r>
            <a:endParaRPr b="0" lang="en-US" sz="900" spc="-1" strike="noStrike">
              <a:latin typeface="Arial"/>
            </a:endParaRPr>
          </a:p>
          <a:p>
            <a:pPr marL="539280" indent="-117000">
              <a:lnSpc>
                <a:spcPct val="100000"/>
              </a:lnSpc>
              <a:spcBef>
                <a:spcPts val="524"/>
              </a:spcBef>
              <a:buClr>
                <a:srgbClr val="3333b2"/>
              </a:buClr>
              <a:buFont typeface="Menlo"/>
              <a:buChar char="•"/>
              <a:tabLst>
                <a:tab algn="l" pos="53964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The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topology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does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not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change</a:t>
            </a:r>
            <a:endParaRPr b="0" lang="en-US" sz="900" spc="-1" strike="noStrike">
              <a:latin typeface="Arial"/>
            </a:endParaRPr>
          </a:p>
        </p:txBody>
      </p:sp>
      <p:grpSp>
        <p:nvGrpSpPr>
          <p:cNvPr id="380" name="object 176"/>
          <p:cNvGrpSpPr/>
          <p:nvPr/>
        </p:nvGrpSpPr>
        <p:grpSpPr>
          <a:xfrm>
            <a:off x="0" y="3348360"/>
            <a:ext cx="4605840" cy="105480"/>
            <a:chOff x="0" y="3348360"/>
            <a:chExt cx="4605840" cy="105480"/>
          </a:xfrm>
        </p:grpSpPr>
        <p:sp>
          <p:nvSpPr>
            <p:cNvPr id="381" name="object 177"/>
            <p:cNvSpPr/>
            <p:nvPr/>
          </p:nvSpPr>
          <p:spPr>
            <a:xfrm>
              <a:off x="0" y="3348360"/>
              <a:ext cx="2301840" cy="10548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82" name="object 178"/>
            <p:cNvSpPr/>
            <p:nvPr/>
          </p:nvSpPr>
          <p:spPr>
            <a:xfrm>
              <a:off x="2304000" y="3348360"/>
              <a:ext cx="2301840" cy="10548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</p:spTree>
  </p:cSld>
  <p:transition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object 179"/>
          <p:cNvSpPr/>
          <p:nvPr/>
        </p:nvSpPr>
        <p:spPr>
          <a:xfrm>
            <a:off x="53640" y="-1440"/>
            <a:ext cx="353880" cy="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Introduction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384" name="object 180"/>
          <p:cNvSpPr/>
          <p:nvPr/>
        </p:nvSpPr>
        <p:spPr>
          <a:xfrm>
            <a:off x="2304000" y="0"/>
            <a:ext cx="2301840" cy="105480"/>
          </a:xfrm>
          <a:custGeom>
            <a:avLst/>
            <a:gdLst/>
            <a:ah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85" name="object 181"/>
          <p:cNvSpPr/>
          <p:nvPr/>
        </p:nvSpPr>
        <p:spPr>
          <a:xfrm>
            <a:off x="4344840" y="-1440"/>
            <a:ext cx="207720" cy="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Pitfalls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386" name="object 182"/>
          <p:cNvSpPr/>
          <p:nvPr/>
        </p:nvSpPr>
        <p:spPr>
          <a:xfrm>
            <a:off x="69840" y="197640"/>
            <a:ext cx="4106520" cy="208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3816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1200" spc="-12" strike="noStrike">
                <a:solidFill>
                  <a:srgbClr val="3333b2"/>
                </a:solidFill>
                <a:latin typeface="Arial"/>
                <a:ea typeface="DejaVu Sans"/>
              </a:rPr>
              <a:t>Developing</a:t>
            </a:r>
            <a:r>
              <a:rPr b="0" lang="en-US" sz="1200" spc="-52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200" spc="-1" strike="noStrike">
                <a:solidFill>
                  <a:srgbClr val="3333b2"/>
                </a:solidFill>
                <a:latin typeface="Arial"/>
                <a:ea typeface="DejaVu Sans"/>
              </a:rPr>
              <a:t>distributed</a:t>
            </a:r>
            <a:r>
              <a:rPr b="0" lang="en-US" sz="1200" spc="-52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200" spc="-1" strike="noStrike">
                <a:solidFill>
                  <a:srgbClr val="3333b2"/>
                </a:solidFill>
                <a:latin typeface="Arial"/>
                <a:ea typeface="DejaVu Sans"/>
              </a:rPr>
              <a:t>systems:</a:t>
            </a:r>
            <a:r>
              <a:rPr b="0" lang="en-US" sz="1200" spc="1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200" spc="-12" strike="noStrike">
                <a:solidFill>
                  <a:srgbClr val="3333b2"/>
                </a:solidFill>
                <a:latin typeface="Arial"/>
                <a:ea typeface="DejaVu Sans"/>
              </a:rPr>
              <a:t>Pitfalls</a:t>
            </a:r>
            <a:endParaRPr b="0" lang="en-US" sz="1200" spc="-1" strike="noStrike">
              <a:latin typeface="Arial"/>
            </a:endParaRPr>
          </a:p>
          <a:p>
            <a:pPr marL="289440">
              <a:lnSpc>
                <a:spcPct val="100000"/>
              </a:lnSpc>
              <a:spcBef>
                <a:spcPts val="1054"/>
              </a:spcBef>
              <a:buNone/>
            </a:pPr>
            <a:r>
              <a:rPr b="0" lang="en-US" sz="1000" spc="-12" strike="noStrike">
                <a:solidFill>
                  <a:srgbClr val="3333b2"/>
                </a:solidFill>
                <a:latin typeface="Arial"/>
                <a:ea typeface="DejaVu Sans"/>
              </a:rPr>
              <a:t>Observation</a:t>
            </a:r>
            <a:endParaRPr b="0" lang="en-US" sz="1000" spc="-1" strike="noStrike">
              <a:latin typeface="Arial"/>
            </a:endParaRPr>
          </a:p>
          <a:p>
            <a:pPr marL="289440">
              <a:lnSpc>
                <a:spcPts val="1210"/>
              </a:lnSpc>
              <a:spcBef>
                <a:spcPts val="40"/>
              </a:spcBef>
              <a:buNone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Many</a:t>
            </a:r>
            <a:r>
              <a:rPr b="0" lang="en-US" sz="900" spc="-4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distributed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systems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are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needlessly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complex,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caused</a:t>
            </a:r>
            <a:r>
              <a:rPr b="0" lang="en-US" sz="900" spc="-4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by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mistakes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n-US" sz="900" spc="-1" strike="noStrike">
              <a:latin typeface="Arial"/>
            </a:endParaRPr>
          </a:p>
          <a:p>
            <a:pPr marL="289440">
              <a:lnSpc>
                <a:spcPts val="1210"/>
              </a:lnSpc>
              <a:spcBef>
                <a:spcPts val="40"/>
              </a:spcBef>
              <a:buNone/>
            </a:pP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that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required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patching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later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on.</a:t>
            </a:r>
            <a:r>
              <a:rPr b="0" lang="en-US" sz="900" spc="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Many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3333b2"/>
                </a:solidFill>
                <a:latin typeface="Arial"/>
                <a:ea typeface="DejaVu Sans"/>
              </a:rPr>
              <a:t>false</a:t>
            </a:r>
            <a:r>
              <a:rPr b="0" lang="en-US" sz="900" spc="-35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3333b2"/>
                </a:solidFill>
                <a:latin typeface="Arial"/>
                <a:ea typeface="DejaVu Sans"/>
              </a:rPr>
              <a:t>assumptions</a:t>
            </a:r>
            <a:r>
              <a:rPr b="0" lang="en-US" sz="900" spc="-32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are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often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made.</a:t>
            </a:r>
            <a:endParaRPr b="0" lang="en-US" sz="900" spc="-1" strike="noStrike">
              <a:latin typeface="Arial"/>
            </a:endParaRPr>
          </a:p>
          <a:p>
            <a:pPr marL="289440">
              <a:lnSpc>
                <a:spcPct val="100000"/>
              </a:lnSpc>
              <a:spcBef>
                <a:spcPts val="746"/>
              </a:spcBef>
              <a:buNone/>
            </a:pPr>
            <a:r>
              <a:rPr b="0" lang="en-US" sz="1000" spc="-12" strike="noStrike">
                <a:solidFill>
                  <a:srgbClr val="3333b2"/>
                </a:solidFill>
                <a:latin typeface="Arial"/>
                <a:ea typeface="DejaVu Sans"/>
              </a:rPr>
              <a:t>False</a:t>
            </a:r>
            <a:r>
              <a:rPr b="0" lang="en-US" sz="1000" spc="-32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  <a:ea typeface="DejaVu Sans"/>
              </a:rPr>
              <a:t>(and</a:t>
            </a:r>
            <a:r>
              <a:rPr b="0" lang="en-US" sz="1000" spc="-32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  <a:ea typeface="DejaVu Sans"/>
              </a:rPr>
              <a:t>often</a:t>
            </a:r>
            <a:r>
              <a:rPr b="0" lang="en-US" sz="1000" spc="-35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  <a:ea typeface="DejaVu Sans"/>
              </a:rPr>
              <a:t>hidden)</a:t>
            </a:r>
            <a:r>
              <a:rPr b="0" lang="en-US" sz="1000" spc="-32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000" spc="-12" strike="noStrike">
                <a:solidFill>
                  <a:srgbClr val="3333b2"/>
                </a:solidFill>
                <a:latin typeface="Arial"/>
                <a:ea typeface="DejaVu Sans"/>
              </a:rPr>
              <a:t>assumptions</a:t>
            </a:r>
            <a:endParaRPr b="0" lang="en-US" sz="1000" spc="-1" strike="noStrike">
              <a:latin typeface="Arial"/>
            </a:endParaRPr>
          </a:p>
          <a:p>
            <a:pPr marL="539280" indent="-117000">
              <a:lnSpc>
                <a:spcPct val="100000"/>
              </a:lnSpc>
              <a:spcBef>
                <a:spcPts val="694"/>
              </a:spcBef>
              <a:buClr>
                <a:srgbClr val="3333b2"/>
              </a:buClr>
              <a:buFont typeface="Menlo"/>
              <a:buChar char="•"/>
              <a:tabLst>
                <a:tab algn="l" pos="53964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The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network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is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reliable</a:t>
            </a:r>
            <a:endParaRPr b="0" lang="en-US" sz="900" spc="-1" strike="noStrike">
              <a:latin typeface="Arial"/>
            </a:endParaRPr>
          </a:p>
          <a:p>
            <a:pPr marL="539280" indent="-117000">
              <a:lnSpc>
                <a:spcPct val="100000"/>
              </a:lnSpc>
              <a:spcBef>
                <a:spcPts val="519"/>
              </a:spcBef>
              <a:buClr>
                <a:srgbClr val="3333b2"/>
              </a:buClr>
              <a:buFont typeface="Menlo"/>
              <a:buChar char="•"/>
              <a:tabLst>
                <a:tab algn="l" pos="53964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The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network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is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secure</a:t>
            </a:r>
            <a:endParaRPr b="0" lang="en-US" sz="900" spc="-1" strike="noStrike">
              <a:latin typeface="Arial"/>
            </a:endParaRPr>
          </a:p>
          <a:p>
            <a:pPr marL="539280" indent="-117000">
              <a:lnSpc>
                <a:spcPct val="100000"/>
              </a:lnSpc>
              <a:spcBef>
                <a:spcPts val="524"/>
              </a:spcBef>
              <a:buClr>
                <a:srgbClr val="3333b2"/>
              </a:buClr>
              <a:buFont typeface="Menlo"/>
              <a:buChar char="•"/>
              <a:tabLst>
                <a:tab algn="l" pos="53964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The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network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is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homogeneous</a:t>
            </a:r>
            <a:endParaRPr b="0" lang="en-US" sz="900" spc="-1" strike="noStrike">
              <a:latin typeface="Arial"/>
            </a:endParaRPr>
          </a:p>
          <a:p>
            <a:pPr marL="539280" indent="-117000">
              <a:lnSpc>
                <a:spcPct val="100000"/>
              </a:lnSpc>
              <a:spcBef>
                <a:spcPts val="524"/>
              </a:spcBef>
              <a:buClr>
                <a:srgbClr val="3333b2"/>
              </a:buClr>
              <a:buFont typeface="Menlo"/>
              <a:buChar char="•"/>
              <a:tabLst>
                <a:tab algn="l" pos="53964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The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topology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does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not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change</a:t>
            </a:r>
            <a:endParaRPr b="0" lang="en-US" sz="900" spc="-1" strike="noStrike">
              <a:latin typeface="Arial"/>
            </a:endParaRPr>
          </a:p>
          <a:p>
            <a:pPr marL="542880" indent="-120600">
              <a:lnSpc>
                <a:spcPct val="100000"/>
              </a:lnSpc>
              <a:spcBef>
                <a:spcPts val="524"/>
              </a:spcBef>
              <a:buClr>
                <a:srgbClr val="3333b2"/>
              </a:buClr>
              <a:buFont typeface="Menlo"/>
              <a:buChar char="•"/>
              <a:tabLst>
                <a:tab algn="l" pos="5436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Latency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is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zero</a:t>
            </a:r>
            <a:endParaRPr b="0" lang="en-US" sz="900" spc="-1" strike="noStrike">
              <a:latin typeface="Arial"/>
            </a:endParaRPr>
          </a:p>
        </p:txBody>
      </p:sp>
      <p:grpSp>
        <p:nvGrpSpPr>
          <p:cNvPr id="387" name="object 183"/>
          <p:cNvGrpSpPr/>
          <p:nvPr/>
        </p:nvGrpSpPr>
        <p:grpSpPr>
          <a:xfrm>
            <a:off x="0" y="3348360"/>
            <a:ext cx="4605840" cy="105480"/>
            <a:chOff x="0" y="3348360"/>
            <a:chExt cx="4605840" cy="105480"/>
          </a:xfrm>
        </p:grpSpPr>
        <p:sp>
          <p:nvSpPr>
            <p:cNvPr id="388" name="object 184"/>
            <p:cNvSpPr/>
            <p:nvPr/>
          </p:nvSpPr>
          <p:spPr>
            <a:xfrm>
              <a:off x="0" y="3348360"/>
              <a:ext cx="2301840" cy="10548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89" name="object 185"/>
            <p:cNvSpPr/>
            <p:nvPr/>
          </p:nvSpPr>
          <p:spPr>
            <a:xfrm>
              <a:off x="2304000" y="3348360"/>
              <a:ext cx="2301840" cy="10548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</p:spTree>
  </p:cSld>
  <p:transition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object 186"/>
          <p:cNvSpPr/>
          <p:nvPr/>
        </p:nvSpPr>
        <p:spPr>
          <a:xfrm>
            <a:off x="53640" y="-1440"/>
            <a:ext cx="353880" cy="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Introduction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391" name="object 187"/>
          <p:cNvSpPr/>
          <p:nvPr/>
        </p:nvSpPr>
        <p:spPr>
          <a:xfrm>
            <a:off x="2304000" y="0"/>
            <a:ext cx="2301840" cy="105480"/>
          </a:xfrm>
          <a:custGeom>
            <a:avLst/>
            <a:gdLst/>
            <a:ah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92" name="object 188"/>
          <p:cNvSpPr/>
          <p:nvPr/>
        </p:nvSpPr>
        <p:spPr>
          <a:xfrm>
            <a:off x="4344840" y="-1440"/>
            <a:ext cx="207720" cy="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Pitfalls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393" name="object 189"/>
          <p:cNvSpPr/>
          <p:nvPr/>
        </p:nvSpPr>
        <p:spPr>
          <a:xfrm>
            <a:off x="69840" y="197640"/>
            <a:ext cx="4106520" cy="228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3816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1200" spc="-12" strike="noStrike">
                <a:solidFill>
                  <a:srgbClr val="3333b2"/>
                </a:solidFill>
                <a:latin typeface="Arial"/>
                <a:ea typeface="DejaVu Sans"/>
              </a:rPr>
              <a:t>Developing</a:t>
            </a:r>
            <a:r>
              <a:rPr b="0" lang="en-US" sz="1200" spc="-52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200" spc="-1" strike="noStrike">
                <a:solidFill>
                  <a:srgbClr val="3333b2"/>
                </a:solidFill>
                <a:latin typeface="Arial"/>
                <a:ea typeface="DejaVu Sans"/>
              </a:rPr>
              <a:t>distributed</a:t>
            </a:r>
            <a:r>
              <a:rPr b="0" lang="en-US" sz="1200" spc="-52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200" spc="-1" strike="noStrike">
                <a:solidFill>
                  <a:srgbClr val="3333b2"/>
                </a:solidFill>
                <a:latin typeface="Arial"/>
                <a:ea typeface="DejaVu Sans"/>
              </a:rPr>
              <a:t>systems:</a:t>
            </a:r>
            <a:r>
              <a:rPr b="0" lang="en-US" sz="1200" spc="1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200" spc="-12" strike="noStrike">
                <a:solidFill>
                  <a:srgbClr val="3333b2"/>
                </a:solidFill>
                <a:latin typeface="Arial"/>
                <a:ea typeface="DejaVu Sans"/>
              </a:rPr>
              <a:t>Pitfalls</a:t>
            </a:r>
            <a:endParaRPr b="0" lang="en-US" sz="1200" spc="-1" strike="noStrike">
              <a:latin typeface="Arial"/>
            </a:endParaRPr>
          </a:p>
          <a:p>
            <a:pPr marL="289440">
              <a:lnSpc>
                <a:spcPct val="100000"/>
              </a:lnSpc>
              <a:spcBef>
                <a:spcPts val="1054"/>
              </a:spcBef>
              <a:buNone/>
            </a:pPr>
            <a:r>
              <a:rPr b="0" lang="en-US" sz="1000" spc="-12" strike="noStrike">
                <a:solidFill>
                  <a:srgbClr val="3333b2"/>
                </a:solidFill>
                <a:latin typeface="Arial"/>
                <a:ea typeface="DejaVu Sans"/>
              </a:rPr>
              <a:t>Observation</a:t>
            </a:r>
            <a:endParaRPr b="0" lang="en-US" sz="1000" spc="-1" strike="noStrike">
              <a:latin typeface="Arial"/>
            </a:endParaRPr>
          </a:p>
          <a:p>
            <a:pPr marL="289440">
              <a:lnSpc>
                <a:spcPts val="1210"/>
              </a:lnSpc>
              <a:spcBef>
                <a:spcPts val="40"/>
              </a:spcBef>
              <a:buNone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Many</a:t>
            </a:r>
            <a:r>
              <a:rPr b="0" lang="en-US" sz="900" spc="-4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distributed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systems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are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needlessly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complex,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caused</a:t>
            </a:r>
            <a:r>
              <a:rPr b="0" lang="en-US" sz="900" spc="-4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by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mistakes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n-US" sz="900" spc="-1" strike="noStrike">
              <a:latin typeface="Arial"/>
            </a:endParaRPr>
          </a:p>
          <a:p>
            <a:pPr marL="289440">
              <a:lnSpc>
                <a:spcPts val="1210"/>
              </a:lnSpc>
              <a:spcBef>
                <a:spcPts val="40"/>
              </a:spcBef>
              <a:buNone/>
            </a:pP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that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required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patching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later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on.</a:t>
            </a:r>
            <a:r>
              <a:rPr b="0" lang="en-US" sz="900" spc="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Many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3333b2"/>
                </a:solidFill>
                <a:latin typeface="Arial"/>
                <a:ea typeface="DejaVu Sans"/>
              </a:rPr>
              <a:t>false</a:t>
            </a:r>
            <a:r>
              <a:rPr b="0" lang="en-US" sz="900" spc="-35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3333b2"/>
                </a:solidFill>
                <a:latin typeface="Arial"/>
                <a:ea typeface="DejaVu Sans"/>
              </a:rPr>
              <a:t>assumptions</a:t>
            </a:r>
            <a:r>
              <a:rPr b="0" lang="en-US" sz="900" spc="-32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are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often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made.</a:t>
            </a:r>
            <a:endParaRPr b="0" lang="en-US" sz="900" spc="-1" strike="noStrike">
              <a:latin typeface="Arial"/>
            </a:endParaRPr>
          </a:p>
          <a:p>
            <a:pPr marL="289440">
              <a:lnSpc>
                <a:spcPct val="100000"/>
              </a:lnSpc>
              <a:spcBef>
                <a:spcPts val="746"/>
              </a:spcBef>
              <a:buNone/>
            </a:pPr>
            <a:r>
              <a:rPr b="0" lang="en-US" sz="1000" spc="-12" strike="noStrike">
                <a:solidFill>
                  <a:srgbClr val="3333b2"/>
                </a:solidFill>
                <a:latin typeface="Arial"/>
                <a:ea typeface="DejaVu Sans"/>
              </a:rPr>
              <a:t>False</a:t>
            </a:r>
            <a:r>
              <a:rPr b="0" lang="en-US" sz="1000" spc="-32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  <a:ea typeface="DejaVu Sans"/>
              </a:rPr>
              <a:t>(and</a:t>
            </a:r>
            <a:r>
              <a:rPr b="0" lang="en-US" sz="1000" spc="-32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  <a:ea typeface="DejaVu Sans"/>
              </a:rPr>
              <a:t>often</a:t>
            </a:r>
            <a:r>
              <a:rPr b="0" lang="en-US" sz="1000" spc="-35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  <a:ea typeface="DejaVu Sans"/>
              </a:rPr>
              <a:t>hidden)</a:t>
            </a:r>
            <a:r>
              <a:rPr b="0" lang="en-US" sz="1000" spc="-32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000" spc="-12" strike="noStrike">
                <a:solidFill>
                  <a:srgbClr val="3333b2"/>
                </a:solidFill>
                <a:latin typeface="Arial"/>
                <a:ea typeface="DejaVu Sans"/>
              </a:rPr>
              <a:t>assumptions</a:t>
            </a:r>
            <a:endParaRPr b="0" lang="en-US" sz="1000" spc="-1" strike="noStrike">
              <a:latin typeface="Arial"/>
            </a:endParaRPr>
          </a:p>
          <a:p>
            <a:pPr marL="539280" indent="-117000">
              <a:lnSpc>
                <a:spcPct val="100000"/>
              </a:lnSpc>
              <a:spcBef>
                <a:spcPts val="694"/>
              </a:spcBef>
              <a:buClr>
                <a:srgbClr val="3333b2"/>
              </a:buClr>
              <a:buFont typeface="Menlo"/>
              <a:buChar char="•"/>
              <a:tabLst>
                <a:tab algn="l" pos="53964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The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network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is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reliable</a:t>
            </a:r>
            <a:endParaRPr b="0" lang="en-US" sz="900" spc="-1" strike="noStrike">
              <a:latin typeface="Arial"/>
            </a:endParaRPr>
          </a:p>
          <a:p>
            <a:pPr marL="539280" indent="-117000">
              <a:lnSpc>
                <a:spcPct val="100000"/>
              </a:lnSpc>
              <a:spcBef>
                <a:spcPts val="519"/>
              </a:spcBef>
              <a:buClr>
                <a:srgbClr val="3333b2"/>
              </a:buClr>
              <a:buFont typeface="Menlo"/>
              <a:buChar char="•"/>
              <a:tabLst>
                <a:tab algn="l" pos="53964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The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network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is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secure</a:t>
            </a:r>
            <a:endParaRPr b="0" lang="en-US" sz="900" spc="-1" strike="noStrike">
              <a:latin typeface="Arial"/>
            </a:endParaRPr>
          </a:p>
          <a:p>
            <a:pPr marL="539280" indent="-117000">
              <a:lnSpc>
                <a:spcPct val="100000"/>
              </a:lnSpc>
              <a:spcBef>
                <a:spcPts val="524"/>
              </a:spcBef>
              <a:buClr>
                <a:srgbClr val="3333b2"/>
              </a:buClr>
              <a:buFont typeface="Menlo"/>
              <a:buChar char="•"/>
              <a:tabLst>
                <a:tab algn="l" pos="53964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The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network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is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homogeneous</a:t>
            </a:r>
            <a:endParaRPr b="0" lang="en-US" sz="900" spc="-1" strike="noStrike">
              <a:latin typeface="Arial"/>
            </a:endParaRPr>
          </a:p>
          <a:p>
            <a:pPr marL="539280" indent="-117000">
              <a:lnSpc>
                <a:spcPct val="100000"/>
              </a:lnSpc>
              <a:spcBef>
                <a:spcPts val="524"/>
              </a:spcBef>
              <a:buClr>
                <a:srgbClr val="3333b2"/>
              </a:buClr>
              <a:buFont typeface="Menlo"/>
              <a:buChar char="•"/>
              <a:tabLst>
                <a:tab algn="l" pos="53964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The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topology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does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not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change</a:t>
            </a:r>
            <a:endParaRPr b="0" lang="en-US" sz="900" spc="-1" strike="noStrike">
              <a:latin typeface="Arial"/>
            </a:endParaRPr>
          </a:p>
          <a:p>
            <a:pPr marL="542880" indent="-120600">
              <a:lnSpc>
                <a:spcPct val="100000"/>
              </a:lnSpc>
              <a:spcBef>
                <a:spcPts val="524"/>
              </a:spcBef>
              <a:buClr>
                <a:srgbClr val="3333b2"/>
              </a:buClr>
              <a:buFont typeface="Menlo"/>
              <a:buChar char="•"/>
              <a:tabLst>
                <a:tab algn="l" pos="5436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Latency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is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zero</a:t>
            </a:r>
            <a:endParaRPr b="0" lang="en-US" sz="900" spc="-1" strike="noStrike">
              <a:latin typeface="Arial"/>
            </a:endParaRPr>
          </a:p>
          <a:p>
            <a:pPr marL="542880" indent="-120600">
              <a:lnSpc>
                <a:spcPct val="100000"/>
              </a:lnSpc>
              <a:spcBef>
                <a:spcPts val="524"/>
              </a:spcBef>
              <a:buClr>
                <a:srgbClr val="3333b2"/>
              </a:buClr>
              <a:buFont typeface="Menlo"/>
              <a:buChar char="•"/>
              <a:tabLst>
                <a:tab algn="l" pos="5436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Bandwidth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is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infinite</a:t>
            </a:r>
            <a:endParaRPr b="0" lang="en-US" sz="900" spc="-1" strike="noStrike">
              <a:latin typeface="Arial"/>
            </a:endParaRPr>
          </a:p>
        </p:txBody>
      </p:sp>
      <p:grpSp>
        <p:nvGrpSpPr>
          <p:cNvPr id="394" name="object 190"/>
          <p:cNvGrpSpPr/>
          <p:nvPr/>
        </p:nvGrpSpPr>
        <p:grpSpPr>
          <a:xfrm>
            <a:off x="0" y="3348360"/>
            <a:ext cx="4605840" cy="105480"/>
            <a:chOff x="0" y="3348360"/>
            <a:chExt cx="4605840" cy="105480"/>
          </a:xfrm>
        </p:grpSpPr>
        <p:sp>
          <p:nvSpPr>
            <p:cNvPr id="395" name="object 191"/>
            <p:cNvSpPr/>
            <p:nvPr/>
          </p:nvSpPr>
          <p:spPr>
            <a:xfrm>
              <a:off x="0" y="3348360"/>
              <a:ext cx="2301840" cy="10548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96" name="object 192"/>
            <p:cNvSpPr/>
            <p:nvPr/>
          </p:nvSpPr>
          <p:spPr>
            <a:xfrm>
              <a:off x="2304000" y="3348360"/>
              <a:ext cx="2301840" cy="10548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</p:spTree>
  </p:cSld>
  <p:transition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object 193"/>
          <p:cNvSpPr/>
          <p:nvPr/>
        </p:nvSpPr>
        <p:spPr>
          <a:xfrm>
            <a:off x="53640" y="-1440"/>
            <a:ext cx="353880" cy="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Introduction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398" name="object 194"/>
          <p:cNvSpPr/>
          <p:nvPr/>
        </p:nvSpPr>
        <p:spPr>
          <a:xfrm>
            <a:off x="2304000" y="0"/>
            <a:ext cx="2301840" cy="105480"/>
          </a:xfrm>
          <a:custGeom>
            <a:avLst/>
            <a:gdLst/>
            <a:ah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99" name="object 195"/>
          <p:cNvSpPr/>
          <p:nvPr/>
        </p:nvSpPr>
        <p:spPr>
          <a:xfrm>
            <a:off x="4344840" y="-1440"/>
            <a:ext cx="207720" cy="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Pitfalls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400" name="object 196"/>
          <p:cNvSpPr/>
          <p:nvPr/>
        </p:nvSpPr>
        <p:spPr>
          <a:xfrm>
            <a:off x="69840" y="197640"/>
            <a:ext cx="4106520" cy="249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3816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1200" spc="-12" strike="noStrike">
                <a:solidFill>
                  <a:srgbClr val="3333b2"/>
                </a:solidFill>
                <a:latin typeface="Arial"/>
                <a:ea typeface="DejaVu Sans"/>
              </a:rPr>
              <a:t>Developing</a:t>
            </a:r>
            <a:r>
              <a:rPr b="0" lang="en-US" sz="1200" spc="-52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200" spc="-1" strike="noStrike">
                <a:solidFill>
                  <a:srgbClr val="3333b2"/>
                </a:solidFill>
                <a:latin typeface="Arial"/>
                <a:ea typeface="DejaVu Sans"/>
              </a:rPr>
              <a:t>distributed</a:t>
            </a:r>
            <a:r>
              <a:rPr b="0" lang="en-US" sz="1200" spc="-52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200" spc="-1" strike="noStrike">
                <a:solidFill>
                  <a:srgbClr val="3333b2"/>
                </a:solidFill>
                <a:latin typeface="Arial"/>
                <a:ea typeface="DejaVu Sans"/>
              </a:rPr>
              <a:t>systems:</a:t>
            </a:r>
            <a:r>
              <a:rPr b="0" lang="en-US" sz="1200" spc="1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200" spc="-12" strike="noStrike">
                <a:solidFill>
                  <a:srgbClr val="3333b2"/>
                </a:solidFill>
                <a:latin typeface="Arial"/>
                <a:ea typeface="DejaVu Sans"/>
              </a:rPr>
              <a:t>Pitfalls</a:t>
            </a:r>
            <a:endParaRPr b="0" lang="en-US" sz="1200" spc="-1" strike="noStrike">
              <a:latin typeface="Arial"/>
            </a:endParaRPr>
          </a:p>
          <a:p>
            <a:pPr marL="289440">
              <a:lnSpc>
                <a:spcPct val="100000"/>
              </a:lnSpc>
              <a:spcBef>
                <a:spcPts val="1054"/>
              </a:spcBef>
              <a:buNone/>
            </a:pPr>
            <a:r>
              <a:rPr b="0" lang="en-US" sz="1000" spc="-12" strike="noStrike">
                <a:solidFill>
                  <a:srgbClr val="3333b2"/>
                </a:solidFill>
                <a:latin typeface="Arial"/>
                <a:ea typeface="DejaVu Sans"/>
              </a:rPr>
              <a:t>Observation</a:t>
            </a:r>
            <a:endParaRPr b="0" lang="en-US" sz="1000" spc="-1" strike="noStrike">
              <a:latin typeface="Arial"/>
            </a:endParaRPr>
          </a:p>
          <a:p>
            <a:pPr marL="289440">
              <a:lnSpc>
                <a:spcPts val="1210"/>
              </a:lnSpc>
              <a:spcBef>
                <a:spcPts val="40"/>
              </a:spcBef>
              <a:buNone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Many</a:t>
            </a:r>
            <a:r>
              <a:rPr b="0" lang="en-US" sz="900" spc="-4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distributed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systems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are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needlessly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complex,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caused</a:t>
            </a:r>
            <a:r>
              <a:rPr b="0" lang="en-US" sz="900" spc="-4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by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mistakes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n-US" sz="900" spc="-1" strike="noStrike">
              <a:latin typeface="Arial"/>
            </a:endParaRPr>
          </a:p>
          <a:p>
            <a:pPr marL="289440">
              <a:lnSpc>
                <a:spcPts val="1210"/>
              </a:lnSpc>
              <a:spcBef>
                <a:spcPts val="40"/>
              </a:spcBef>
              <a:buNone/>
            </a:pP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that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required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patching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later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on.</a:t>
            </a:r>
            <a:r>
              <a:rPr b="0" lang="en-US" sz="900" spc="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Many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3333b2"/>
                </a:solidFill>
                <a:latin typeface="Arial"/>
                <a:ea typeface="DejaVu Sans"/>
              </a:rPr>
              <a:t>false</a:t>
            </a:r>
            <a:r>
              <a:rPr b="0" lang="en-US" sz="900" spc="-35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3333b2"/>
                </a:solidFill>
                <a:latin typeface="Arial"/>
                <a:ea typeface="DejaVu Sans"/>
              </a:rPr>
              <a:t>assumptions</a:t>
            </a:r>
            <a:r>
              <a:rPr b="0" lang="en-US" sz="900" spc="-32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are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often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made.</a:t>
            </a:r>
            <a:endParaRPr b="0" lang="en-US" sz="900" spc="-1" strike="noStrike">
              <a:latin typeface="Arial"/>
            </a:endParaRPr>
          </a:p>
          <a:p>
            <a:pPr marL="289440">
              <a:lnSpc>
                <a:spcPct val="100000"/>
              </a:lnSpc>
              <a:spcBef>
                <a:spcPts val="746"/>
              </a:spcBef>
              <a:buNone/>
            </a:pPr>
            <a:r>
              <a:rPr b="0" lang="en-US" sz="1000" spc="-12" strike="noStrike">
                <a:solidFill>
                  <a:srgbClr val="3333b2"/>
                </a:solidFill>
                <a:latin typeface="Arial"/>
                <a:ea typeface="DejaVu Sans"/>
              </a:rPr>
              <a:t>False</a:t>
            </a:r>
            <a:r>
              <a:rPr b="0" lang="en-US" sz="1000" spc="-32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  <a:ea typeface="DejaVu Sans"/>
              </a:rPr>
              <a:t>(and</a:t>
            </a:r>
            <a:r>
              <a:rPr b="0" lang="en-US" sz="1000" spc="-32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  <a:ea typeface="DejaVu Sans"/>
              </a:rPr>
              <a:t>often</a:t>
            </a:r>
            <a:r>
              <a:rPr b="0" lang="en-US" sz="1000" spc="-35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  <a:ea typeface="DejaVu Sans"/>
              </a:rPr>
              <a:t>hidden)</a:t>
            </a:r>
            <a:r>
              <a:rPr b="0" lang="en-US" sz="1000" spc="-32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000" spc="-12" strike="noStrike">
                <a:solidFill>
                  <a:srgbClr val="3333b2"/>
                </a:solidFill>
                <a:latin typeface="Arial"/>
                <a:ea typeface="DejaVu Sans"/>
              </a:rPr>
              <a:t>assumptions</a:t>
            </a:r>
            <a:endParaRPr b="0" lang="en-US" sz="1000" spc="-1" strike="noStrike">
              <a:latin typeface="Arial"/>
            </a:endParaRPr>
          </a:p>
          <a:p>
            <a:pPr marL="539280" indent="-117000">
              <a:lnSpc>
                <a:spcPct val="100000"/>
              </a:lnSpc>
              <a:spcBef>
                <a:spcPts val="694"/>
              </a:spcBef>
              <a:buClr>
                <a:srgbClr val="3333b2"/>
              </a:buClr>
              <a:buFont typeface="Menlo"/>
              <a:buChar char="•"/>
              <a:tabLst>
                <a:tab algn="l" pos="53964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The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network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is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reliable</a:t>
            </a:r>
            <a:endParaRPr b="0" lang="en-US" sz="900" spc="-1" strike="noStrike">
              <a:latin typeface="Arial"/>
            </a:endParaRPr>
          </a:p>
          <a:p>
            <a:pPr marL="539280" indent="-117000">
              <a:lnSpc>
                <a:spcPct val="100000"/>
              </a:lnSpc>
              <a:spcBef>
                <a:spcPts val="519"/>
              </a:spcBef>
              <a:buClr>
                <a:srgbClr val="3333b2"/>
              </a:buClr>
              <a:buFont typeface="Menlo"/>
              <a:buChar char="•"/>
              <a:tabLst>
                <a:tab algn="l" pos="53964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The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network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is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secure</a:t>
            </a:r>
            <a:endParaRPr b="0" lang="en-US" sz="900" spc="-1" strike="noStrike">
              <a:latin typeface="Arial"/>
            </a:endParaRPr>
          </a:p>
          <a:p>
            <a:pPr marL="539280" indent="-117000">
              <a:lnSpc>
                <a:spcPct val="100000"/>
              </a:lnSpc>
              <a:spcBef>
                <a:spcPts val="524"/>
              </a:spcBef>
              <a:buClr>
                <a:srgbClr val="3333b2"/>
              </a:buClr>
              <a:buFont typeface="Menlo"/>
              <a:buChar char="•"/>
              <a:tabLst>
                <a:tab algn="l" pos="53964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The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network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is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homogeneous</a:t>
            </a:r>
            <a:endParaRPr b="0" lang="en-US" sz="900" spc="-1" strike="noStrike">
              <a:latin typeface="Arial"/>
            </a:endParaRPr>
          </a:p>
          <a:p>
            <a:pPr marL="539280" indent="-117000">
              <a:lnSpc>
                <a:spcPct val="100000"/>
              </a:lnSpc>
              <a:spcBef>
                <a:spcPts val="524"/>
              </a:spcBef>
              <a:buClr>
                <a:srgbClr val="3333b2"/>
              </a:buClr>
              <a:buFont typeface="Menlo"/>
              <a:buChar char="•"/>
              <a:tabLst>
                <a:tab algn="l" pos="53964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The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topology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does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not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change</a:t>
            </a:r>
            <a:endParaRPr b="0" lang="en-US" sz="900" spc="-1" strike="noStrike">
              <a:latin typeface="Arial"/>
            </a:endParaRPr>
          </a:p>
          <a:p>
            <a:pPr marL="542880" indent="-120600">
              <a:lnSpc>
                <a:spcPct val="100000"/>
              </a:lnSpc>
              <a:spcBef>
                <a:spcPts val="524"/>
              </a:spcBef>
              <a:buClr>
                <a:srgbClr val="3333b2"/>
              </a:buClr>
              <a:buFont typeface="Menlo"/>
              <a:buChar char="•"/>
              <a:tabLst>
                <a:tab algn="l" pos="5436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Latency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is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zero</a:t>
            </a:r>
            <a:endParaRPr b="0" lang="en-US" sz="900" spc="-1" strike="noStrike">
              <a:latin typeface="Arial"/>
            </a:endParaRPr>
          </a:p>
          <a:p>
            <a:pPr marL="542880" indent="-120600">
              <a:lnSpc>
                <a:spcPct val="100000"/>
              </a:lnSpc>
              <a:spcBef>
                <a:spcPts val="524"/>
              </a:spcBef>
              <a:buClr>
                <a:srgbClr val="3333b2"/>
              </a:buClr>
              <a:buFont typeface="Menlo"/>
              <a:buChar char="•"/>
              <a:tabLst>
                <a:tab algn="l" pos="5436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Bandwidth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is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infinite</a:t>
            </a:r>
            <a:endParaRPr b="0" lang="en-US" sz="900" spc="-1" strike="noStrike">
              <a:latin typeface="Arial"/>
            </a:endParaRPr>
          </a:p>
          <a:p>
            <a:pPr marL="539280" indent="-117000">
              <a:lnSpc>
                <a:spcPct val="100000"/>
              </a:lnSpc>
              <a:spcBef>
                <a:spcPts val="519"/>
              </a:spcBef>
              <a:buClr>
                <a:srgbClr val="3333b2"/>
              </a:buClr>
              <a:buFont typeface="Menlo"/>
              <a:buChar char="•"/>
              <a:tabLst>
                <a:tab algn="l" pos="539640"/>
              </a:tabLst>
            </a:pP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Transport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cost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is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zero</a:t>
            </a:r>
            <a:endParaRPr b="0" lang="en-US" sz="900" spc="-1" strike="noStrike">
              <a:latin typeface="Arial"/>
            </a:endParaRPr>
          </a:p>
        </p:txBody>
      </p:sp>
      <p:grpSp>
        <p:nvGrpSpPr>
          <p:cNvPr id="401" name="object 197"/>
          <p:cNvGrpSpPr/>
          <p:nvPr/>
        </p:nvGrpSpPr>
        <p:grpSpPr>
          <a:xfrm>
            <a:off x="0" y="3348360"/>
            <a:ext cx="4605840" cy="105480"/>
            <a:chOff x="0" y="3348360"/>
            <a:chExt cx="4605840" cy="105480"/>
          </a:xfrm>
        </p:grpSpPr>
        <p:sp>
          <p:nvSpPr>
            <p:cNvPr id="402" name="object 198"/>
            <p:cNvSpPr/>
            <p:nvPr/>
          </p:nvSpPr>
          <p:spPr>
            <a:xfrm>
              <a:off x="0" y="3348360"/>
              <a:ext cx="2301840" cy="10548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03" name="object 199"/>
            <p:cNvSpPr/>
            <p:nvPr/>
          </p:nvSpPr>
          <p:spPr>
            <a:xfrm>
              <a:off x="2304000" y="3348360"/>
              <a:ext cx="2301840" cy="10548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</p:spTree>
  </p:cSld>
  <p:transition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object 200"/>
          <p:cNvSpPr/>
          <p:nvPr/>
        </p:nvSpPr>
        <p:spPr>
          <a:xfrm>
            <a:off x="53640" y="-1440"/>
            <a:ext cx="353880" cy="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Introduction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405" name="object 201"/>
          <p:cNvSpPr/>
          <p:nvPr/>
        </p:nvSpPr>
        <p:spPr>
          <a:xfrm>
            <a:off x="2304000" y="0"/>
            <a:ext cx="2301840" cy="105480"/>
          </a:xfrm>
          <a:custGeom>
            <a:avLst/>
            <a:gdLst/>
            <a:ah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06" name="object 202"/>
          <p:cNvSpPr/>
          <p:nvPr/>
        </p:nvSpPr>
        <p:spPr>
          <a:xfrm>
            <a:off x="4344840" y="-1440"/>
            <a:ext cx="207720" cy="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Pitfalls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407" name="object 203"/>
          <p:cNvSpPr/>
          <p:nvPr/>
        </p:nvSpPr>
        <p:spPr>
          <a:xfrm>
            <a:off x="69840" y="197640"/>
            <a:ext cx="4106520" cy="269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3816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1200" spc="-12" strike="noStrike">
                <a:solidFill>
                  <a:srgbClr val="3333b2"/>
                </a:solidFill>
                <a:latin typeface="Arial"/>
                <a:ea typeface="DejaVu Sans"/>
              </a:rPr>
              <a:t>Developing</a:t>
            </a:r>
            <a:r>
              <a:rPr b="0" lang="en-US" sz="1200" spc="-52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200" spc="-1" strike="noStrike">
                <a:solidFill>
                  <a:srgbClr val="3333b2"/>
                </a:solidFill>
                <a:latin typeface="Arial"/>
                <a:ea typeface="DejaVu Sans"/>
              </a:rPr>
              <a:t>distributed</a:t>
            </a:r>
            <a:r>
              <a:rPr b="0" lang="en-US" sz="1200" spc="-52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200" spc="-1" strike="noStrike">
                <a:solidFill>
                  <a:srgbClr val="3333b2"/>
                </a:solidFill>
                <a:latin typeface="Arial"/>
                <a:ea typeface="DejaVu Sans"/>
              </a:rPr>
              <a:t>systems:</a:t>
            </a:r>
            <a:r>
              <a:rPr b="0" lang="en-US" sz="1200" spc="1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200" spc="-12" strike="noStrike">
                <a:solidFill>
                  <a:srgbClr val="3333b2"/>
                </a:solidFill>
                <a:latin typeface="Arial"/>
                <a:ea typeface="DejaVu Sans"/>
              </a:rPr>
              <a:t>Pitfalls</a:t>
            </a:r>
            <a:endParaRPr b="0" lang="en-US" sz="1200" spc="-1" strike="noStrike">
              <a:latin typeface="Arial"/>
            </a:endParaRPr>
          </a:p>
          <a:p>
            <a:pPr marL="289440">
              <a:lnSpc>
                <a:spcPct val="100000"/>
              </a:lnSpc>
              <a:spcBef>
                <a:spcPts val="1054"/>
              </a:spcBef>
              <a:buNone/>
            </a:pPr>
            <a:r>
              <a:rPr b="0" lang="en-US" sz="1000" spc="-12" strike="noStrike">
                <a:solidFill>
                  <a:srgbClr val="3333b2"/>
                </a:solidFill>
                <a:latin typeface="Arial"/>
                <a:ea typeface="DejaVu Sans"/>
              </a:rPr>
              <a:t>Observation</a:t>
            </a:r>
            <a:endParaRPr b="0" lang="en-US" sz="1000" spc="-1" strike="noStrike">
              <a:latin typeface="Arial"/>
            </a:endParaRPr>
          </a:p>
          <a:p>
            <a:pPr marL="289440">
              <a:lnSpc>
                <a:spcPts val="1210"/>
              </a:lnSpc>
              <a:spcBef>
                <a:spcPts val="40"/>
              </a:spcBef>
              <a:buNone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Many</a:t>
            </a:r>
            <a:r>
              <a:rPr b="0" lang="en-US" sz="900" spc="-4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distributed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systems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are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needlessly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complex,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caused</a:t>
            </a:r>
            <a:r>
              <a:rPr b="0" lang="en-US" sz="900" spc="-4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by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mistakes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n-US" sz="900" spc="-1" strike="noStrike">
              <a:latin typeface="Arial"/>
            </a:endParaRPr>
          </a:p>
          <a:p>
            <a:pPr marL="289440">
              <a:lnSpc>
                <a:spcPts val="1210"/>
              </a:lnSpc>
              <a:spcBef>
                <a:spcPts val="40"/>
              </a:spcBef>
              <a:buNone/>
            </a:pP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that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required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patching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later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on.</a:t>
            </a:r>
            <a:r>
              <a:rPr b="0" lang="en-US" sz="900" spc="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Many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3333b2"/>
                </a:solidFill>
                <a:latin typeface="Arial"/>
                <a:ea typeface="DejaVu Sans"/>
              </a:rPr>
              <a:t>false</a:t>
            </a:r>
            <a:r>
              <a:rPr b="0" lang="en-US" sz="900" spc="-35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3333b2"/>
                </a:solidFill>
                <a:latin typeface="Arial"/>
                <a:ea typeface="DejaVu Sans"/>
              </a:rPr>
              <a:t>assumptions</a:t>
            </a:r>
            <a:r>
              <a:rPr b="0" lang="en-US" sz="900" spc="-32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are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often</a:t>
            </a:r>
            <a:r>
              <a:rPr b="0" lang="en-US" sz="900" spc="-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made.</a:t>
            </a:r>
            <a:endParaRPr b="0" lang="en-US" sz="900" spc="-1" strike="noStrike">
              <a:latin typeface="Arial"/>
            </a:endParaRPr>
          </a:p>
          <a:p>
            <a:pPr marL="289440">
              <a:lnSpc>
                <a:spcPct val="100000"/>
              </a:lnSpc>
              <a:spcBef>
                <a:spcPts val="746"/>
              </a:spcBef>
              <a:buNone/>
            </a:pPr>
            <a:r>
              <a:rPr b="0" lang="en-US" sz="1000" spc="-12" strike="noStrike">
                <a:solidFill>
                  <a:srgbClr val="3333b2"/>
                </a:solidFill>
                <a:latin typeface="Arial"/>
                <a:ea typeface="DejaVu Sans"/>
              </a:rPr>
              <a:t>False</a:t>
            </a:r>
            <a:r>
              <a:rPr b="0" lang="en-US" sz="1000" spc="-32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  <a:ea typeface="DejaVu Sans"/>
              </a:rPr>
              <a:t>(and</a:t>
            </a:r>
            <a:r>
              <a:rPr b="0" lang="en-US" sz="1000" spc="-32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  <a:ea typeface="DejaVu Sans"/>
              </a:rPr>
              <a:t>often</a:t>
            </a:r>
            <a:r>
              <a:rPr b="0" lang="en-US" sz="1000" spc="-35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000" spc="-1" strike="noStrike">
                <a:solidFill>
                  <a:srgbClr val="3333b2"/>
                </a:solidFill>
                <a:latin typeface="Arial"/>
                <a:ea typeface="DejaVu Sans"/>
              </a:rPr>
              <a:t>hidden)</a:t>
            </a:r>
            <a:r>
              <a:rPr b="0" lang="en-US" sz="1000" spc="-32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1000" spc="-12" strike="noStrike">
                <a:solidFill>
                  <a:srgbClr val="3333b2"/>
                </a:solidFill>
                <a:latin typeface="Arial"/>
                <a:ea typeface="DejaVu Sans"/>
              </a:rPr>
              <a:t>assumptions</a:t>
            </a:r>
            <a:endParaRPr b="0" lang="en-US" sz="1000" spc="-1" strike="noStrike">
              <a:latin typeface="Arial"/>
            </a:endParaRPr>
          </a:p>
          <a:p>
            <a:pPr marL="539280" indent="-117000">
              <a:lnSpc>
                <a:spcPct val="100000"/>
              </a:lnSpc>
              <a:spcBef>
                <a:spcPts val="694"/>
              </a:spcBef>
              <a:buClr>
                <a:srgbClr val="3333b2"/>
              </a:buClr>
              <a:buFont typeface="Menlo"/>
              <a:buChar char="•"/>
              <a:tabLst>
                <a:tab algn="l" pos="53964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The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network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is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reliable</a:t>
            </a:r>
            <a:endParaRPr b="0" lang="en-US" sz="900" spc="-1" strike="noStrike">
              <a:latin typeface="Arial"/>
            </a:endParaRPr>
          </a:p>
          <a:p>
            <a:pPr marL="539280" indent="-117000">
              <a:lnSpc>
                <a:spcPct val="100000"/>
              </a:lnSpc>
              <a:spcBef>
                <a:spcPts val="519"/>
              </a:spcBef>
              <a:buClr>
                <a:srgbClr val="3333b2"/>
              </a:buClr>
              <a:buFont typeface="Menlo"/>
              <a:buChar char="•"/>
              <a:tabLst>
                <a:tab algn="l" pos="53964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The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network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is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secure</a:t>
            </a:r>
            <a:endParaRPr b="0" lang="en-US" sz="900" spc="-1" strike="noStrike">
              <a:latin typeface="Arial"/>
            </a:endParaRPr>
          </a:p>
          <a:p>
            <a:pPr marL="539280" indent="-117000">
              <a:lnSpc>
                <a:spcPct val="100000"/>
              </a:lnSpc>
              <a:spcBef>
                <a:spcPts val="524"/>
              </a:spcBef>
              <a:buClr>
                <a:srgbClr val="3333b2"/>
              </a:buClr>
              <a:buFont typeface="Menlo"/>
              <a:buChar char="•"/>
              <a:tabLst>
                <a:tab algn="l" pos="53964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The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network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is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homogeneous</a:t>
            </a:r>
            <a:endParaRPr b="0" lang="en-US" sz="900" spc="-1" strike="noStrike">
              <a:latin typeface="Arial"/>
            </a:endParaRPr>
          </a:p>
          <a:p>
            <a:pPr marL="539280" indent="-117000">
              <a:lnSpc>
                <a:spcPct val="100000"/>
              </a:lnSpc>
              <a:spcBef>
                <a:spcPts val="524"/>
              </a:spcBef>
              <a:buClr>
                <a:srgbClr val="3333b2"/>
              </a:buClr>
              <a:buFont typeface="Menlo"/>
              <a:buChar char="•"/>
              <a:tabLst>
                <a:tab algn="l" pos="53964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The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topology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does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not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change</a:t>
            </a:r>
            <a:endParaRPr b="0" lang="en-US" sz="900" spc="-1" strike="noStrike">
              <a:latin typeface="Arial"/>
            </a:endParaRPr>
          </a:p>
          <a:p>
            <a:pPr marL="542880" indent="-120600">
              <a:lnSpc>
                <a:spcPct val="100000"/>
              </a:lnSpc>
              <a:spcBef>
                <a:spcPts val="524"/>
              </a:spcBef>
              <a:buClr>
                <a:srgbClr val="3333b2"/>
              </a:buClr>
              <a:buFont typeface="Menlo"/>
              <a:buChar char="•"/>
              <a:tabLst>
                <a:tab algn="l" pos="5436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Latency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is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zero</a:t>
            </a:r>
            <a:endParaRPr b="0" lang="en-US" sz="900" spc="-1" strike="noStrike">
              <a:latin typeface="Arial"/>
            </a:endParaRPr>
          </a:p>
          <a:p>
            <a:pPr marL="542880" indent="-120600">
              <a:lnSpc>
                <a:spcPct val="100000"/>
              </a:lnSpc>
              <a:spcBef>
                <a:spcPts val="524"/>
              </a:spcBef>
              <a:buClr>
                <a:srgbClr val="3333b2"/>
              </a:buClr>
              <a:buFont typeface="Menlo"/>
              <a:buChar char="•"/>
              <a:tabLst>
                <a:tab algn="l" pos="5436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Bandwidth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is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infinite</a:t>
            </a:r>
            <a:endParaRPr b="0" lang="en-US" sz="900" spc="-1" strike="noStrike">
              <a:latin typeface="Arial"/>
            </a:endParaRPr>
          </a:p>
          <a:p>
            <a:pPr marL="539280" indent="-117000">
              <a:lnSpc>
                <a:spcPct val="100000"/>
              </a:lnSpc>
              <a:spcBef>
                <a:spcPts val="519"/>
              </a:spcBef>
              <a:buClr>
                <a:srgbClr val="3333b2"/>
              </a:buClr>
              <a:buFont typeface="Menlo"/>
              <a:buChar char="•"/>
              <a:tabLst>
                <a:tab algn="l" pos="539640"/>
              </a:tabLst>
            </a:pP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Transport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cost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is</a:t>
            </a:r>
            <a:r>
              <a:rPr b="0" lang="en-US" sz="900" spc="-26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zero</a:t>
            </a:r>
            <a:endParaRPr b="0" lang="en-US" sz="900" spc="-1" strike="noStrike">
              <a:latin typeface="Arial"/>
            </a:endParaRPr>
          </a:p>
          <a:p>
            <a:pPr marL="539280" indent="-117000">
              <a:lnSpc>
                <a:spcPct val="100000"/>
              </a:lnSpc>
              <a:spcBef>
                <a:spcPts val="524"/>
              </a:spcBef>
              <a:buClr>
                <a:srgbClr val="3333b2"/>
              </a:buClr>
              <a:buFont typeface="Menlo"/>
              <a:buChar char="•"/>
              <a:tabLst>
                <a:tab algn="l" pos="53964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There</a:t>
            </a:r>
            <a:r>
              <a:rPr b="0" lang="en-US" sz="900" spc="-32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is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one</a:t>
            </a:r>
            <a:r>
              <a:rPr b="0" lang="en-US" sz="900" spc="-2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900" spc="-12" strike="noStrike">
                <a:solidFill>
                  <a:srgbClr val="000000"/>
                </a:solidFill>
                <a:latin typeface="Arial"/>
                <a:ea typeface="DejaVu Sans"/>
              </a:rPr>
              <a:t>administrator</a:t>
            </a:r>
            <a:endParaRPr b="0" lang="en-US" sz="900" spc="-1" strike="noStrike">
              <a:latin typeface="Arial"/>
            </a:endParaRPr>
          </a:p>
        </p:txBody>
      </p:sp>
      <p:grpSp>
        <p:nvGrpSpPr>
          <p:cNvPr id="408" name="object 204"/>
          <p:cNvGrpSpPr/>
          <p:nvPr/>
        </p:nvGrpSpPr>
        <p:grpSpPr>
          <a:xfrm>
            <a:off x="0" y="3348360"/>
            <a:ext cx="4605840" cy="105480"/>
            <a:chOff x="0" y="3348360"/>
            <a:chExt cx="4605840" cy="105480"/>
          </a:xfrm>
        </p:grpSpPr>
        <p:sp>
          <p:nvSpPr>
            <p:cNvPr id="409" name="object 205"/>
            <p:cNvSpPr/>
            <p:nvPr/>
          </p:nvSpPr>
          <p:spPr>
            <a:xfrm>
              <a:off x="0" y="3348360"/>
              <a:ext cx="2301840" cy="10548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10" name="object 206"/>
            <p:cNvSpPr/>
            <p:nvPr/>
          </p:nvSpPr>
          <p:spPr>
            <a:xfrm>
              <a:off x="2304000" y="3348360"/>
              <a:ext cx="2301840" cy="10548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</p:spTree>
  </p:cSld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373</TotalTime>
  <Application>LibreOffice/7.3.4.2$Windows_X86_64 LibreOffice_project/728fec16bd5f605073805c3c9e7c4212a0120dc5</Application>
  <AppVersion>15.0000</AppVersion>
  <Words>5292</Words>
  <Paragraphs>819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2023-04-27T05:42:13Z</dcterms:created>
  <dc:creator/>
  <dc:description/>
  <dc:language>en-US</dc:language>
  <cp:lastModifiedBy>Adam Tashman</cp:lastModifiedBy>
  <dcterms:modified xsi:type="dcterms:W3CDTF">2026-08-27T11:06:18Z</dcterms:modified>
  <cp:revision>55</cp:revision>
  <dc:subject/>
  <dc:title>Distributed Systems   (4th edition, version 01)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2023-04-27T00:00:00Z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2023-04-27T00:00:00Z</vt:filetime>
  </property>
  <property fmtid="{D5CDD505-2E9C-101B-9397-08002B2CF9AE}" pid="5" name="PTEX.Fullbanner">
    <vt:lpwstr>This is pdfTeX, Version 3.141592653-2.6-1.40.24 (TeX Live 2022) kpathsea version 6.3.4</vt:lpwstr>
  </property>
  <property fmtid="{D5CDD505-2E9C-101B-9397-08002B2CF9AE}" pid="6" name="PresentationFormat">
    <vt:lpwstr>Custom</vt:lpwstr>
  </property>
  <property fmtid="{D5CDD505-2E9C-101B-9397-08002B2CF9AE}" pid="7" name="Producer">
    <vt:lpwstr>pdfTeX-1.40.24</vt:lpwstr>
  </property>
  <property fmtid="{D5CDD505-2E9C-101B-9397-08002B2CF9AE}" pid="8" name="Slides">
    <vt:i4>87</vt:i4>
  </property>
</Properties>
</file>