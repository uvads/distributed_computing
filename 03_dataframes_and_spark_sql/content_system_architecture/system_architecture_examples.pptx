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4610100" cy="34607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DF766D8-94A0-4D70-A540-1C08A7F4FA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99D2B2E-4720-4AE6-B925-1045CAE9F7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B94D78D-79B0-480C-B796-A84351206F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A13A795-D240-4494-A819-C6ABFCDBAB0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207095D-7B7C-427F-A05A-3052E5B96E4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230400" y="137880"/>
            <a:ext cx="4148640" cy="267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1F8573A-FEBE-4BB2-8317-BFD0E010055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2304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3BE2E60-FFF1-46AC-8E13-C553E235E43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23562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391F209-ED41-4CAF-A37D-6257C5A29C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230400" y="1857960"/>
            <a:ext cx="414864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2FCED55-D10E-433F-B26D-88A58D2A1C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414864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230400" y="1857960"/>
            <a:ext cx="414864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1BDDB21-8161-4DBC-AAF8-532EC39437A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2304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23562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1BB5A26-964A-4970-95EC-52F17FE53FA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1633320" y="80964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3035880" y="80964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230400" y="185796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1633320" y="185796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3035880" y="185796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CA4A963-E7EE-4613-A9FC-09B1404DD0D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7B04A3F-778E-477B-AAC3-F4E9C2B90F2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0CC2118-AC34-43C2-B2D9-29F99DA9E9D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2B9AA45-59D2-4DA1-914D-1C50EFD3F0B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626E6ED-D015-4D1D-92A2-3CA0B2F3F84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B863C39-D797-485D-957E-887B2F5CC8C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230400" y="137880"/>
            <a:ext cx="4148640" cy="267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C866C5D-1E32-4EE7-AD83-51D0A49AE98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2304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D9B251E-9BCD-4BEF-8044-1904D17920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23562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7386E31-938D-40C2-8E36-166A631A90B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230400" y="1857960"/>
            <a:ext cx="414864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3EEACCB-4912-4F35-82CD-C0207265B13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414864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230400" y="1857960"/>
            <a:ext cx="414864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2D9366F-5A5F-499F-BC3B-F80FFE12B04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2304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23562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798CFFF-3299-407B-8E53-F891B6D72C1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1633320" y="80964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3035880" y="80964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230400" y="185796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1633320" y="185796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3035880" y="185796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29398F2-FAAE-427F-A852-B1106A73550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696C1F1-66E5-4919-B86F-1CBD275E7D3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ubTitle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B2A175E-48AC-4ED8-83CB-E414155B4C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F9E9F86-AFCD-45B4-A599-5679521270C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6241F36-BB27-4158-A5AA-7417B9FEA17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6C72AD5-8778-498D-A211-00CF1F41F06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ubTitle"/>
          </p:nvPr>
        </p:nvSpPr>
        <p:spPr>
          <a:xfrm>
            <a:off x="230400" y="137880"/>
            <a:ext cx="4148640" cy="267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8ACCF60-D6B4-4707-A778-6FD640B4093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/>
          </p:nvPr>
        </p:nvSpPr>
        <p:spPr>
          <a:xfrm>
            <a:off x="2304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88DB821-7222-4EA9-B041-650D38BCEA1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/>
          </p:nvPr>
        </p:nvSpPr>
        <p:spPr>
          <a:xfrm>
            <a:off x="23562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397AC63-BDC5-44E6-8812-1C4E2CA250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/>
          </p:nvPr>
        </p:nvSpPr>
        <p:spPr>
          <a:xfrm>
            <a:off x="230400" y="1857960"/>
            <a:ext cx="414864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126C9EC-8085-4D78-A9BB-B0C90BFE35A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414864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230400" y="1857960"/>
            <a:ext cx="414864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D6A6340-57A7-48F9-85FA-1B00EB1EB85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2304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23562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89933C7-5958-4208-902A-1391C44DD3F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/>
          </p:nvPr>
        </p:nvSpPr>
        <p:spPr>
          <a:xfrm>
            <a:off x="1633320" y="80964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/>
          </p:nvPr>
        </p:nvSpPr>
        <p:spPr>
          <a:xfrm>
            <a:off x="3035880" y="80964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5" name="PlaceHolder 5"/>
          <p:cNvSpPr>
            <a:spLocks noGrp="1"/>
          </p:cNvSpPr>
          <p:nvPr>
            <p:ph/>
          </p:nvPr>
        </p:nvSpPr>
        <p:spPr>
          <a:xfrm>
            <a:off x="230400" y="185796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6" name="PlaceHolder 6"/>
          <p:cNvSpPr>
            <a:spLocks noGrp="1"/>
          </p:cNvSpPr>
          <p:nvPr>
            <p:ph/>
          </p:nvPr>
        </p:nvSpPr>
        <p:spPr>
          <a:xfrm>
            <a:off x="1633320" y="185796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7" name="PlaceHolder 7"/>
          <p:cNvSpPr>
            <a:spLocks noGrp="1"/>
          </p:cNvSpPr>
          <p:nvPr>
            <p:ph/>
          </p:nvPr>
        </p:nvSpPr>
        <p:spPr>
          <a:xfrm>
            <a:off x="3035880" y="185796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001D797-4742-4475-AF36-39143D1BFA3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8BD4287-C752-42B9-B6F2-5265EF1B7B1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subTitle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77E4F77-0D34-4FEF-ACCD-8BEDD160A3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F867BEA-A5ED-4CEA-BB79-9ACDCF9778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CBE3517-9B80-4CB9-BA21-0DBEEBCECB8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9907D6B-402F-4A67-B47B-BDA023170E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ubTitle"/>
          </p:nvPr>
        </p:nvSpPr>
        <p:spPr>
          <a:xfrm>
            <a:off x="230400" y="137880"/>
            <a:ext cx="4148640" cy="267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D993FF4-C9D2-4089-8CD4-52686CD71A7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/>
          </p:nvPr>
        </p:nvSpPr>
        <p:spPr>
          <a:xfrm>
            <a:off x="2304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D193ABB-8CF1-4696-86A5-9F32A9B8A9E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/>
          </p:nvPr>
        </p:nvSpPr>
        <p:spPr>
          <a:xfrm>
            <a:off x="23562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0C8938B-4F1D-452C-A2FC-BBD9C1666DA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/>
          </p:nvPr>
        </p:nvSpPr>
        <p:spPr>
          <a:xfrm>
            <a:off x="230400" y="1857960"/>
            <a:ext cx="414864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D59D49D-3C93-4235-B5D6-6488EE71BC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414864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230400" y="1857960"/>
            <a:ext cx="414864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6A2086F-B99B-49BD-9107-B88755224D0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/>
          </p:nvPr>
        </p:nvSpPr>
        <p:spPr>
          <a:xfrm>
            <a:off x="2304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2" name="PlaceHolder 5"/>
          <p:cNvSpPr>
            <a:spLocks noGrp="1"/>
          </p:cNvSpPr>
          <p:nvPr>
            <p:ph/>
          </p:nvPr>
        </p:nvSpPr>
        <p:spPr>
          <a:xfrm>
            <a:off x="23562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E7E317D-8CF0-476C-A359-C1E82882971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/>
          </p:nvPr>
        </p:nvSpPr>
        <p:spPr>
          <a:xfrm>
            <a:off x="1633320" y="80964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/>
          </p:nvPr>
        </p:nvSpPr>
        <p:spPr>
          <a:xfrm>
            <a:off x="3035880" y="80964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7" name="PlaceHolder 5"/>
          <p:cNvSpPr>
            <a:spLocks noGrp="1"/>
          </p:cNvSpPr>
          <p:nvPr>
            <p:ph/>
          </p:nvPr>
        </p:nvSpPr>
        <p:spPr>
          <a:xfrm>
            <a:off x="230400" y="185796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8" name="PlaceHolder 6"/>
          <p:cNvSpPr>
            <a:spLocks noGrp="1"/>
          </p:cNvSpPr>
          <p:nvPr>
            <p:ph/>
          </p:nvPr>
        </p:nvSpPr>
        <p:spPr>
          <a:xfrm>
            <a:off x="1633320" y="185796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9" name="PlaceHolder 7"/>
          <p:cNvSpPr>
            <a:spLocks noGrp="1"/>
          </p:cNvSpPr>
          <p:nvPr>
            <p:ph/>
          </p:nvPr>
        </p:nvSpPr>
        <p:spPr>
          <a:xfrm>
            <a:off x="3035880" y="185796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4FCB0B4-0B98-4D00-9C44-CB86380EC0C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bg object 16"/>
          <p:cNvSpPr/>
          <p:nvPr/>
        </p:nvSpPr>
        <p:spPr>
          <a:xfrm>
            <a:off x="0" y="0"/>
            <a:ext cx="2300760" cy="10440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ftr" idx="1"/>
          </p:nvPr>
        </p:nvSpPr>
        <p:spPr>
          <a:xfrm>
            <a:off x="1567440" y="3218400"/>
            <a:ext cx="1471680" cy="16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sldNum" idx="2"/>
          </p:nvPr>
        </p:nvSpPr>
        <p:spPr>
          <a:xfrm>
            <a:off x="3319200" y="3218400"/>
            <a:ext cx="1056600" cy="16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D1344D3-76E2-4D82-ADC9-A6A5B695BDB7}" type="slidenum">
              <a:rPr b="0" lang="en-US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3"/>
          </p:nvPr>
        </p:nvSpPr>
        <p:spPr>
          <a:xfrm>
            <a:off x="230400" y="3218400"/>
            <a:ext cx="1056600" cy="16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title"/>
          </p:nvPr>
        </p:nvSpPr>
        <p:spPr>
          <a:xfrm>
            <a:off x="230400" y="137880"/>
            <a:ext cx="4148640" cy="57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3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g object 16" hidden="1"/>
          <p:cNvSpPr/>
          <p:nvPr/>
        </p:nvSpPr>
        <p:spPr>
          <a:xfrm>
            <a:off x="0" y="0"/>
            <a:ext cx="2300760" cy="10440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bg object 16"/>
          <p:cNvSpPr/>
          <p:nvPr/>
        </p:nvSpPr>
        <p:spPr>
          <a:xfrm>
            <a:off x="0" y="0"/>
            <a:ext cx="2300760" cy="10440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bg object 17"/>
          <p:cNvSpPr/>
          <p:nvPr/>
        </p:nvSpPr>
        <p:spPr>
          <a:xfrm>
            <a:off x="2304000" y="0"/>
            <a:ext cx="2300760" cy="10440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PlaceHolder 1"/>
          <p:cNvSpPr>
            <a:spLocks noGrp="1"/>
          </p:cNvSpPr>
          <p:nvPr>
            <p:ph type="ftr" idx="4"/>
          </p:nvPr>
        </p:nvSpPr>
        <p:spPr>
          <a:xfrm>
            <a:off x="1567440" y="3218400"/>
            <a:ext cx="1471680" cy="16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ldNum" idx="5"/>
          </p:nvPr>
        </p:nvSpPr>
        <p:spPr>
          <a:xfrm>
            <a:off x="3319200" y="3218400"/>
            <a:ext cx="1056600" cy="16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BFCC2EE-701A-47B9-B47C-5B9A2785045D}" type="slidenum">
              <a:rPr b="0" lang="en-US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6"/>
          </p:nvPr>
        </p:nvSpPr>
        <p:spPr>
          <a:xfrm>
            <a:off x="230400" y="3218400"/>
            <a:ext cx="1056600" cy="16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title"/>
          </p:nvPr>
        </p:nvSpPr>
        <p:spPr>
          <a:xfrm>
            <a:off x="230400" y="137880"/>
            <a:ext cx="4148640" cy="57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3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bg object 16"/>
          <p:cNvSpPr/>
          <p:nvPr/>
        </p:nvSpPr>
        <p:spPr>
          <a:xfrm>
            <a:off x="0" y="0"/>
            <a:ext cx="2303280" cy="10692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PlaceHolder 1"/>
          <p:cNvSpPr>
            <a:spLocks noGrp="1"/>
          </p:cNvSpPr>
          <p:nvPr>
            <p:ph type="ftr" idx="7"/>
          </p:nvPr>
        </p:nvSpPr>
        <p:spPr>
          <a:xfrm>
            <a:off x="1567440" y="3218400"/>
            <a:ext cx="1474200" cy="17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ldNum" idx="8"/>
          </p:nvPr>
        </p:nvSpPr>
        <p:spPr>
          <a:xfrm>
            <a:off x="3319200" y="3218400"/>
            <a:ext cx="1059120" cy="17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DA49BC1-B2DC-4D0E-AD58-CCBB3CD5C9EC}" type="slidenum">
              <a:rPr b="0" lang="en-US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dt" idx="9"/>
          </p:nvPr>
        </p:nvSpPr>
        <p:spPr>
          <a:xfrm>
            <a:off x="230400" y="3218400"/>
            <a:ext cx="1059120" cy="17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title"/>
          </p:nvPr>
        </p:nvSpPr>
        <p:spPr>
          <a:xfrm>
            <a:off x="230400" y="137880"/>
            <a:ext cx="4148640" cy="57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body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3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bg object 16"/>
          <p:cNvSpPr/>
          <p:nvPr/>
        </p:nvSpPr>
        <p:spPr>
          <a:xfrm>
            <a:off x="0" y="0"/>
            <a:ext cx="2303280" cy="10692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PlaceHolder 1"/>
          <p:cNvSpPr>
            <a:spLocks noGrp="1"/>
          </p:cNvSpPr>
          <p:nvPr>
            <p:ph type="ftr" idx="10"/>
          </p:nvPr>
        </p:nvSpPr>
        <p:spPr>
          <a:xfrm>
            <a:off x="1567440" y="3218400"/>
            <a:ext cx="1474200" cy="17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sldNum" idx="11"/>
          </p:nvPr>
        </p:nvSpPr>
        <p:spPr>
          <a:xfrm>
            <a:off x="3319200" y="3218400"/>
            <a:ext cx="1059120" cy="17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D1D70AC-9776-4CA1-81E6-CE00C603A093}" type="slidenum">
              <a:rPr b="0" lang="en-US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dt" idx="12"/>
          </p:nvPr>
        </p:nvSpPr>
        <p:spPr>
          <a:xfrm>
            <a:off x="230400" y="3218400"/>
            <a:ext cx="1059120" cy="17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title"/>
          </p:nvPr>
        </p:nvSpPr>
        <p:spPr>
          <a:xfrm>
            <a:off x="230400" y="137880"/>
            <a:ext cx="4148640" cy="57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3" name="PlaceHolder 5"/>
          <p:cNvSpPr>
            <a:spLocks noGrp="1"/>
          </p:cNvSpPr>
          <p:nvPr>
            <p:ph type="body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3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object 2"/>
          <p:cNvSpPr/>
          <p:nvPr/>
        </p:nvSpPr>
        <p:spPr>
          <a:xfrm>
            <a:off x="1412280" y="626760"/>
            <a:ext cx="178020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1120" bIns="0" anchor="t">
            <a:spAutoFit/>
          </a:bodyPr>
          <a:p>
            <a:pPr algn="ctr">
              <a:lnSpc>
                <a:spcPct val="100000"/>
              </a:lnSpc>
              <a:spcBef>
                <a:spcPts val="1111"/>
              </a:spcBef>
              <a:buNone/>
            </a:pPr>
            <a:r>
              <a:rPr b="1" lang="en-US" sz="1400" spc="-1" strike="noStrike">
                <a:solidFill>
                  <a:srgbClr val="3333b2"/>
                </a:solidFill>
                <a:latin typeface="Arial"/>
                <a:ea typeface="DejaVu Sans"/>
              </a:rPr>
              <a:t>Distributed</a:t>
            </a:r>
            <a:r>
              <a:rPr b="1" lang="en-US" sz="1400" spc="9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1" lang="en-US" sz="1400" spc="-12" strike="noStrike">
                <a:solidFill>
                  <a:srgbClr val="3333b2"/>
                </a:solidFill>
                <a:latin typeface="Arial"/>
                <a:ea typeface="DejaVu Sans"/>
              </a:rPr>
              <a:t>Systems</a:t>
            </a:r>
            <a:endParaRPr b="0" lang="en-US" sz="1400" spc="-1" strike="noStrike">
              <a:latin typeface="Arial"/>
            </a:endParaRPr>
          </a:p>
          <a:p>
            <a:pPr marL="3960" algn="ctr">
              <a:lnSpc>
                <a:spcPct val="100000"/>
              </a:lnSpc>
              <a:spcBef>
                <a:spcPts val="609"/>
              </a:spcBef>
              <a:buNone/>
            </a:pP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(4th</a:t>
            </a:r>
            <a:r>
              <a:rPr b="0" lang="en-US" sz="9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edition,</a:t>
            </a:r>
            <a:r>
              <a:rPr b="0" lang="en-US" sz="9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version</a:t>
            </a:r>
            <a:r>
              <a:rPr b="0" lang="en-US" sz="9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900" spc="-26" strike="noStrike">
                <a:solidFill>
                  <a:srgbClr val="3333b2"/>
                </a:solidFill>
                <a:latin typeface="Arial"/>
                <a:ea typeface="DejaVu Sans"/>
              </a:rPr>
              <a:t>01)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71" name="object 3"/>
          <p:cNvSpPr/>
          <p:nvPr/>
        </p:nvSpPr>
        <p:spPr>
          <a:xfrm>
            <a:off x="1307880" y="1653480"/>
            <a:ext cx="2806920" cy="68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 anchor="t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Chapter</a:t>
            </a:r>
            <a:r>
              <a:rPr b="1" lang="en-US" sz="1400" spc="38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02:</a:t>
            </a:r>
            <a:r>
              <a:rPr b="1" lang="en-US" sz="1400" spc="148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US" sz="1400" spc="-12" strike="noStrike">
                <a:solidFill>
                  <a:srgbClr val="000000"/>
                </a:solidFill>
                <a:latin typeface="Arial"/>
                <a:ea typeface="DejaVu Sans"/>
              </a:rPr>
              <a:t>Architecture</a:t>
            </a:r>
            <a:endParaRPr b="0" lang="en-US" sz="1400" spc="-1" strike="noStrike">
              <a:latin typeface="Arial"/>
            </a:endParaRPr>
          </a:p>
          <a:p>
            <a:endParaRPr b="0" lang="en-US" sz="1000" spc="-1" strike="noStrike">
              <a:latin typeface="Arial"/>
            </a:endParaRPr>
          </a:p>
          <a:p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Last updated: September 9, 2026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1222920" y="1287720"/>
            <a:ext cx="234576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https://www.distributed-systems.net/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object 134"/>
          <p:cNvSpPr/>
          <p:nvPr/>
        </p:nvSpPr>
        <p:spPr>
          <a:xfrm>
            <a:off x="53640" y="-1440"/>
            <a:ext cx="449784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  <a:tabLst>
                <a:tab algn="l" pos="3156120"/>
              </a:tabLst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From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networked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systems to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95400" y="773640"/>
            <a:ext cx="4248000" cy="5868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1200" spc="-1" strike="noStrike">
                <a:latin typeface="Arial"/>
              </a:rPr>
              <a:t>Objective</a:t>
            </a:r>
            <a:r>
              <a:rPr b="0" lang="en-US" sz="1200" spc="-1" strike="noStrike">
                <a:latin typeface="Arial"/>
              </a:rPr>
              <a:t>: </a:t>
            </a:r>
            <a:br>
              <a:rPr sz="1200"/>
            </a:br>
            <a:r>
              <a:rPr b="0" lang="en-US" sz="1200" spc="-1" strike="noStrike">
                <a:latin typeface="Arial"/>
              </a:rPr>
              <a:t>We look at three examples of distributed system architectures. Each is very powerful and common.</a:t>
            </a:r>
            <a:br>
              <a:rPr sz="1200"/>
            </a:br>
            <a:br>
              <a:rPr sz="1200"/>
            </a:br>
            <a:br>
              <a:rPr sz="1200"/>
            </a:br>
            <a:r>
              <a:rPr b="0" lang="en-US" sz="1200" spc="-1" strike="noStrike">
                <a:latin typeface="Arial"/>
              </a:rPr>
              <a:t>1 | Three-tier architecture</a:t>
            </a:r>
            <a:br>
              <a:rPr sz="1200"/>
            </a:br>
            <a:br>
              <a:rPr sz="1200"/>
            </a:br>
            <a:r>
              <a:rPr b="0" lang="en-US" sz="1200" spc="-1" strike="noStrike">
                <a:latin typeface="Arial"/>
              </a:rPr>
              <a:t>2 | Client-server architecture </a:t>
            </a:r>
            <a:br>
              <a:rPr sz="1200"/>
            </a:br>
            <a:br>
              <a:rPr sz="1200"/>
            </a:br>
            <a:r>
              <a:rPr b="0" lang="en-US" sz="1200" spc="-1" strike="noStrike">
                <a:latin typeface="Arial"/>
              </a:rPr>
              <a:t>3 | Cloud computing </a:t>
            </a:r>
            <a:endParaRPr b="0" lang="en-US" sz="1200" spc="-1" strike="noStrike">
              <a:latin typeface="Arial"/>
            </a:endParaRPr>
          </a:p>
        </p:txBody>
      </p:sp>
    </p:spTree>
  </p:cSld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object 135"/>
          <p:cNvSpPr/>
          <p:nvPr/>
        </p:nvSpPr>
        <p:spPr>
          <a:xfrm>
            <a:off x="53640" y="-1440"/>
            <a:ext cx="449784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  <a:tabLst>
                <a:tab algn="l" pos="3156120"/>
              </a:tabLst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From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networked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systems to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95400" y="1493640"/>
            <a:ext cx="3789720" cy="5868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 u="sng">
                <a:solidFill>
                  <a:srgbClr val="3333b2"/>
                </a:solidFill>
                <a:uFillTx/>
                <a:latin typeface="Arial"/>
              </a:rPr>
              <a:t>I. Three-Tier Architecture Diagram</a:t>
            </a:r>
            <a:br>
              <a:rPr sz="1200"/>
            </a:br>
            <a:br>
              <a:rPr sz="1200"/>
            </a:br>
            <a:br>
              <a:rPr sz="1200"/>
            </a:br>
            <a:br>
              <a:rPr sz="1200"/>
            </a:br>
            <a:br>
              <a:rPr sz="1200"/>
            </a:br>
            <a:endParaRPr b="0" lang="en-US" sz="1200" spc="-1" strike="noStrike">
              <a:latin typeface="Arial"/>
            </a:endParaRPr>
          </a:p>
        </p:txBody>
      </p:sp>
    </p:spTree>
  </p:cSld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object 10"/>
          <p:cNvSpPr/>
          <p:nvPr/>
        </p:nvSpPr>
        <p:spPr>
          <a:xfrm>
            <a:off x="53640" y="-1440"/>
            <a:ext cx="449784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  <a:tabLst>
                <a:tab algn="l" pos="3156120"/>
              </a:tabLst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From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networked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systems to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95400" y="197640"/>
            <a:ext cx="2447640" cy="5868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</a:rPr>
              <a:t>I. Three-Tier Architecture Diagram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179" name="object 11"/>
          <p:cNvGrpSpPr/>
          <p:nvPr/>
        </p:nvGrpSpPr>
        <p:grpSpPr>
          <a:xfrm>
            <a:off x="0" y="3348360"/>
            <a:ext cx="4604760" cy="104400"/>
            <a:chOff x="0" y="3348360"/>
            <a:chExt cx="4604760" cy="104400"/>
          </a:xfrm>
        </p:grpSpPr>
        <p:sp>
          <p:nvSpPr>
            <p:cNvPr id="180" name="object 12"/>
            <p:cNvSpPr/>
            <p:nvPr/>
          </p:nvSpPr>
          <p:spPr>
            <a:xfrm>
              <a:off x="0" y="3348360"/>
              <a:ext cx="2300760" cy="10440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1" name="object 13"/>
            <p:cNvSpPr/>
            <p:nvPr/>
          </p:nvSpPr>
          <p:spPr>
            <a:xfrm>
              <a:off x="2304000" y="3348360"/>
              <a:ext cx="2300760" cy="10440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82" name="object 14"/>
          <p:cNvSpPr/>
          <p:nvPr/>
        </p:nvSpPr>
        <p:spPr>
          <a:xfrm>
            <a:off x="53640" y="3349800"/>
            <a:ext cx="116784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Distributed versus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decentralized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pic>
        <p:nvPicPr>
          <p:cNvPr id="183" name="" descr=""/>
          <p:cNvPicPr/>
          <p:nvPr/>
        </p:nvPicPr>
        <p:blipFill>
          <a:blip r:embed="rId1"/>
          <a:stretch/>
        </p:blipFill>
        <p:spPr>
          <a:xfrm>
            <a:off x="299520" y="671760"/>
            <a:ext cx="3790440" cy="2118600"/>
          </a:xfrm>
          <a:prstGeom prst="rect">
            <a:avLst/>
          </a:prstGeom>
          <a:ln w="0">
            <a:noFill/>
          </a:ln>
        </p:spPr>
      </p:pic>
    </p:spTree>
  </p:cSld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object 53"/>
          <p:cNvSpPr/>
          <p:nvPr/>
        </p:nvSpPr>
        <p:spPr>
          <a:xfrm>
            <a:off x="53640" y="-1440"/>
            <a:ext cx="449784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  <a:tabLst>
                <a:tab algn="l" pos="3156120"/>
              </a:tabLst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From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networked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systems to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95400" y="1493640"/>
            <a:ext cx="3789720" cy="5868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 u="sng">
                <a:solidFill>
                  <a:srgbClr val="3333b2"/>
                </a:solidFill>
                <a:uFillTx/>
                <a:latin typeface="Arial"/>
              </a:rPr>
              <a:t>II. Simple Client-Server Architecture</a:t>
            </a:r>
            <a:br>
              <a:rPr sz="1200"/>
            </a:br>
            <a:br>
              <a:rPr sz="1200"/>
            </a:br>
            <a:br>
              <a:rPr sz="1200"/>
            </a:br>
            <a:br>
              <a:rPr sz="1200"/>
            </a:br>
            <a:br>
              <a:rPr sz="1200"/>
            </a:br>
            <a:endParaRPr b="0" lang="en-US" sz="1200" spc="-1" strike="noStrike">
              <a:latin typeface="Arial"/>
            </a:endParaRPr>
          </a:p>
        </p:txBody>
      </p:sp>
    </p:spTree>
  </p:cSld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object 20"/>
          <p:cNvSpPr/>
          <p:nvPr/>
        </p:nvSpPr>
        <p:spPr>
          <a:xfrm>
            <a:off x="53640" y="-1440"/>
            <a:ext cx="449784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  <a:tabLst>
                <a:tab algn="l" pos="3156120"/>
              </a:tabLst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From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networked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systems to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203400" y="197640"/>
            <a:ext cx="3789720" cy="5868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</a:rPr>
              <a:t>II. Background: Connection-Oriented Protocol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188" name="object 21"/>
          <p:cNvGrpSpPr/>
          <p:nvPr/>
        </p:nvGrpSpPr>
        <p:grpSpPr>
          <a:xfrm>
            <a:off x="0" y="3348360"/>
            <a:ext cx="4604760" cy="104400"/>
            <a:chOff x="0" y="3348360"/>
            <a:chExt cx="4604760" cy="104400"/>
          </a:xfrm>
        </p:grpSpPr>
        <p:sp>
          <p:nvSpPr>
            <p:cNvPr id="189" name="object 22"/>
            <p:cNvSpPr/>
            <p:nvPr/>
          </p:nvSpPr>
          <p:spPr>
            <a:xfrm>
              <a:off x="0" y="3348360"/>
              <a:ext cx="2300760" cy="10440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0" name="object 23"/>
            <p:cNvSpPr/>
            <p:nvPr/>
          </p:nvSpPr>
          <p:spPr>
            <a:xfrm>
              <a:off x="2304000" y="3348360"/>
              <a:ext cx="2300760" cy="10440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91" name="object 24"/>
          <p:cNvSpPr/>
          <p:nvPr/>
        </p:nvSpPr>
        <p:spPr>
          <a:xfrm>
            <a:off x="53640" y="3349800"/>
            <a:ext cx="116784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Distributed versus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decentralized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129960" y="1045800"/>
            <a:ext cx="4670280" cy="168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Most common is </a:t>
            </a:r>
            <a:r>
              <a:rPr b="1" lang="en-US" sz="9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TCP/IP</a:t>
            </a:r>
            <a:r>
              <a:rPr b="0" lang="en-US" sz="9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 = Transmission Control Protocol / Internet Protocol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Standard “language” of the internet and most modern networks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Defines how devices connect, send, and receive data reliably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Nearly all internet application protocols use TCP/IP connections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900" spc="-1" strike="noStrike">
              <a:latin typeface="Arial"/>
            </a:endParaRPr>
          </a:p>
        </p:txBody>
      </p:sp>
      <p:pic>
        <p:nvPicPr>
          <p:cNvPr id="193" name="" descr=""/>
          <p:cNvPicPr/>
          <p:nvPr/>
        </p:nvPicPr>
        <p:blipFill>
          <a:blip r:embed="rId1"/>
          <a:stretch/>
        </p:blipFill>
        <p:spPr>
          <a:xfrm>
            <a:off x="3284280" y="2189160"/>
            <a:ext cx="1059480" cy="962640"/>
          </a:xfrm>
          <a:prstGeom prst="rect">
            <a:avLst/>
          </a:prstGeom>
          <a:ln w="0">
            <a:noFill/>
          </a:ln>
        </p:spPr>
      </p:pic>
    </p:spTree>
  </p:cSld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object 129"/>
          <p:cNvSpPr/>
          <p:nvPr/>
        </p:nvSpPr>
        <p:spPr>
          <a:xfrm>
            <a:off x="53640" y="-1440"/>
            <a:ext cx="449784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  <a:tabLst>
                <a:tab algn="l" pos="3156120"/>
              </a:tabLst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From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networked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systems to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203400" y="197640"/>
            <a:ext cx="3789720" cy="5868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</a:rPr>
              <a:t>II. Background: Connection-Oriented Protocol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196" name="object 130"/>
          <p:cNvGrpSpPr/>
          <p:nvPr/>
        </p:nvGrpSpPr>
        <p:grpSpPr>
          <a:xfrm>
            <a:off x="0" y="3348360"/>
            <a:ext cx="4604760" cy="104400"/>
            <a:chOff x="0" y="3348360"/>
            <a:chExt cx="4604760" cy="104400"/>
          </a:xfrm>
        </p:grpSpPr>
        <p:sp>
          <p:nvSpPr>
            <p:cNvPr id="197" name="object 131"/>
            <p:cNvSpPr/>
            <p:nvPr/>
          </p:nvSpPr>
          <p:spPr>
            <a:xfrm>
              <a:off x="0" y="3348360"/>
              <a:ext cx="2300760" cy="10440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8" name="object 132"/>
            <p:cNvSpPr/>
            <p:nvPr/>
          </p:nvSpPr>
          <p:spPr>
            <a:xfrm>
              <a:off x="2304000" y="3348360"/>
              <a:ext cx="2300760" cy="10440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99" name="object 133"/>
          <p:cNvSpPr/>
          <p:nvPr/>
        </p:nvSpPr>
        <p:spPr>
          <a:xfrm>
            <a:off x="53640" y="3349800"/>
            <a:ext cx="116784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Distributed versus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decentralized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129960" y="685800"/>
            <a:ext cx="4670280" cy="168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900" spc="-1" strike="noStrike">
              <a:latin typeface="Arial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228600" y="819000"/>
            <a:ext cx="4275720" cy="153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A </a:t>
            </a:r>
            <a:r>
              <a:rPr b="1" lang="en-US" sz="9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frame</a:t>
            </a:r>
            <a:r>
              <a:rPr b="0" lang="en-US" sz="9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 is unit of data used to move information across local network</a:t>
            </a:r>
            <a:endParaRPr b="0" lang="en-US" sz="900" spc="-1" strike="noStrike">
              <a:solidFill>
                <a:srgbClr val="000000"/>
              </a:solidFill>
              <a:latin typeface="URWPalladioL-Roma"/>
              <a:ea typeface="URWPalladioL-Roma"/>
            </a:endParaRPr>
          </a:p>
          <a:p>
            <a:endParaRPr b="0" lang="en-US" sz="900" spc="-1" strike="noStrike">
              <a:solidFill>
                <a:srgbClr val="000000"/>
              </a:solidFill>
              <a:latin typeface="URWPalladioL-Roma"/>
              <a:ea typeface="URWPalladioL-Roma"/>
            </a:endParaRPr>
          </a:p>
          <a:p>
            <a:r>
              <a:rPr b="0" lang="en-US" sz="900" spc="-1" strike="noStrike">
                <a:solidFill>
                  <a:srgbClr val="000000"/>
                </a:solidFill>
                <a:latin typeface="URWPalladioL-Roma"/>
              </a:rPr>
              <a:t>Typically consists of:</a:t>
            </a:r>
            <a:br>
              <a:rPr sz="900"/>
            </a:br>
            <a:endParaRPr b="0" lang="en-US" sz="900" spc="-1" strike="noStrike">
              <a:solidFill>
                <a:srgbClr val="000000"/>
              </a:solidFill>
              <a:latin typeface="URWPalladioL-Roma"/>
              <a:ea typeface="URWPalladioL-Roma"/>
            </a:endParaRPr>
          </a:p>
          <a:p>
            <a:r>
              <a:rPr b="0" lang="en-US" sz="900" spc="-1" strike="noStrike">
                <a:solidFill>
                  <a:srgbClr val="000000"/>
                </a:solidFill>
                <a:latin typeface="URWPalladioL-Roma"/>
              </a:rPr>
              <a:t>&gt; Source MAC address - who sent the data</a:t>
            </a:r>
            <a:br>
              <a:rPr sz="900"/>
            </a:br>
            <a:endParaRPr b="0" lang="en-US" sz="900" spc="-1" strike="noStrike">
              <a:solidFill>
                <a:srgbClr val="000000"/>
              </a:solidFill>
              <a:latin typeface="URWPalladioL-Roma"/>
              <a:ea typeface="URWPalladioL-Roma"/>
            </a:endParaRPr>
          </a:p>
          <a:p>
            <a:r>
              <a:rPr b="0" lang="en-US" sz="9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&gt; Destination MAC address </a:t>
            </a:r>
            <a:r>
              <a:rPr b="0" lang="en-US" sz="9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- who should receive it on local network</a:t>
            </a:r>
            <a:br>
              <a:rPr sz="900"/>
            </a:br>
            <a:endParaRPr b="0" lang="en-US" sz="900" spc="-1" strike="noStrike">
              <a:solidFill>
                <a:srgbClr val="000000"/>
              </a:solidFill>
              <a:latin typeface="URWPalladioL-Roma"/>
              <a:ea typeface="URWPalladioL-Roma"/>
            </a:endParaRPr>
          </a:p>
          <a:p>
            <a:r>
              <a:rPr b="0" lang="en-US" sz="9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&gt; Payload </a:t>
            </a:r>
            <a:r>
              <a:rPr b="0" lang="en-US" sz="9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- usually an IP </a:t>
            </a:r>
            <a:r>
              <a:rPr b="1" lang="en-US" sz="9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packet</a:t>
            </a:r>
            <a:br>
              <a:rPr sz="900"/>
            </a:br>
            <a:endParaRPr b="0" lang="en-US" sz="900" spc="-1" strike="noStrike">
              <a:solidFill>
                <a:srgbClr val="000000"/>
              </a:solidFill>
              <a:latin typeface="URWPalladioL-Roma"/>
              <a:ea typeface="URWPalladioL-Roma"/>
            </a:endParaRPr>
          </a:p>
          <a:p>
            <a:r>
              <a:rPr b="0" lang="en-US" sz="900" spc="-1" strike="noStrike">
                <a:solidFill>
                  <a:srgbClr val="000000"/>
                </a:solidFill>
                <a:latin typeface="URWPalladioL-Roma"/>
              </a:rPr>
              <a:t>&gt; Error-checking information</a:t>
            </a:r>
            <a:endParaRPr b="0" lang="en-US" sz="900" spc="-1" strike="noStrike">
              <a:solidFill>
                <a:srgbClr val="000000"/>
              </a:solidFill>
              <a:latin typeface="URWPalladioL-Roma"/>
              <a:ea typeface="URWPalladioL-Roma"/>
            </a:endParaRPr>
          </a:p>
        </p:txBody>
      </p:sp>
      <p:pic>
        <p:nvPicPr>
          <p:cNvPr id="202" name="" descr=""/>
          <p:cNvPicPr/>
          <p:nvPr/>
        </p:nvPicPr>
        <p:blipFill>
          <a:blip r:embed="rId1"/>
          <a:stretch/>
        </p:blipFill>
        <p:spPr>
          <a:xfrm>
            <a:off x="3200400" y="1987200"/>
            <a:ext cx="1263600" cy="1249200"/>
          </a:xfrm>
          <a:prstGeom prst="rect">
            <a:avLst/>
          </a:prstGeom>
          <a:ln w="0">
            <a:noFill/>
          </a:ln>
        </p:spPr>
      </p:pic>
    </p:spTree>
  </p:cSld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object 124"/>
          <p:cNvSpPr/>
          <p:nvPr/>
        </p:nvSpPr>
        <p:spPr>
          <a:xfrm>
            <a:off x="53640" y="-1440"/>
            <a:ext cx="449784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  <a:tabLst>
                <a:tab algn="l" pos="3156120"/>
              </a:tabLst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From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networked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systems to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203400" y="197640"/>
            <a:ext cx="3789720" cy="5868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</a:rPr>
              <a:t>II. Background: Connection-Oriented Protocol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205" name="object 125"/>
          <p:cNvGrpSpPr/>
          <p:nvPr/>
        </p:nvGrpSpPr>
        <p:grpSpPr>
          <a:xfrm>
            <a:off x="0" y="3348360"/>
            <a:ext cx="4604760" cy="104400"/>
            <a:chOff x="0" y="3348360"/>
            <a:chExt cx="4604760" cy="104400"/>
          </a:xfrm>
        </p:grpSpPr>
        <p:sp>
          <p:nvSpPr>
            <p:cNvPr id="206" name="object 126"/>
            <p:cNvSpPr/>
            <p:nvPr/>
          </p:nvSpPr>
          <p:spPr>
            <a:xfrm>
              <a:off x="0" y="3348360"/>
              <a:ext cx="2300760" cy="10440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7" name="object 127"/>
            <p:cNvSpPr/>
            <p:nvPr/>
          </p:nvSpPr>
          <p:spPr>
            <a:xfrm>
              <a:off x="2304000" y="3348360"/>
              <a:ext cx="2300760" cy="10440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08" name="object 128"/>
          <p:cNvSpPr/>
          <p:nvPr/>
        </p:nvSpPr>
        <p:spPr>
          <a:xfrm>
            <a:off x="53640" y="3349800"/>
            <a:ext cx="116784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Distributed versus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decentralized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129960" y="685800"/>
            <a:ext cx="4670280" cy="168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900" spc="-1" strike="noStrike" u="sng">
                <a:solidFill>
                  <a:srgbClr val="000000"/>
                </a:solidFill>
                <a:uFillTx/>
                <a:latin typeface="URWPalladioL-Roma"/>
                <a:ea typeface="URWPalladioL-Roma"/>
              </a:rPr>
              <a:t>Function of each Layer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Application</a:t>
            </a:r>
            <a:r>
              <a:rPr b="0" lang="en-US" sz="9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: Provides network services to applications </a:t>
            </a:r>
            <a:br>
              <a:rPr sz="900"/>
            </a:br>
            <a:r>
              <a:rPr b="0" lang="en-US" sz="9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                     (HTTP, DNS, email, etc.).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Transport</a:t>
            </a:r>
            <a:r>
              <a:rPr b="0" lang="en-US" sz="9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: Provides end-to-end communication between applications; handles ports, reliability, ordering, and flow control (TCP/UDP).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Internet</a:t>
            </a:r>
            <a:r>
              <a:rPr b="0" lang="en-US" sz="9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: Handles IP addressing and routing packets between networks.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Network Access</a:t>
            </a:r>
            <a:r>
              <a:rPr b="0" lang="en-US" sz="9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: Moves frames across the local network/link using technologies such as Ethernet and Wi-Fi.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900" spc="-1" strike="noStrike">
              <a:latin typeface="Arial"/>
            </a:endParaRPr>
          </a:p>
        </p:txBody>
      </p:sp>
      <p:pic>
        <p:nvPicPr>
          <p:cNvPr id="210" name="" descr=""/>
          <p:cNvPicPr/>
          <p:nvPr/>
        </p:nvPicPr>
        <p:blipFill>
          <a:blip r:embed="rId1"/>
          <a:stretch/>
        </p:blipFill>
        <p:spPr>
          <a:xfrm>
            <a:off x="3283920" y="2333160"/>
            <a:ext cx="1059480" cy="962640"/>
          </a:xfrm>
          <a:prstGeom prst="rect">
            <a:avLst/>
          </a:prstGeom>
          <a:ln w="0">
            <a:noFill/>
          </a:ln>
        </p:spPr>
      </p:pic>
    </p:spTree>
  </p:cSld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object 48"/>
          <p:cNvSpPr/>
          <p:nvPr/>
        </p:nvSpPr>
        <p:spPr>
          <a:xfrm>
            <a:off x="53640" y="-1440"/>
            <a:ext cx="449784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  <a:tabLst>
                <a:tab algn="l" pos="3156120"/>
              </a:tabLst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From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networked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systems to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203400" y="197640"/>
            <a:ext cx="3789720" cy="5868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</a:rPr>
              <a:t>II. Connection-Oriented Protocol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213" name="object 49"/>
          <p:cNvGrpSpPr/>
          <p:nvPr/>
        </p:nvGrpSpPr>
        <p:grpSpPr>
          <a:xfrm>
            <a:off x="0" y="3348360"/>
            <a:ext cx="4604760" cy="104400"/>
            <a:chOff x="0" y="3348360"/>
            <a:chExt cx="4604760" cy="104400"/>
          </a:xfrm>
        </p:grpSpPr>
        <p:sp>
          <p:nvSpPr>
            <p:cNvPr id="214" name="object 50"/>
            <p:cNvSpPr/>
            <p:nvPr/>
          </p:nvSpPr>
          <p:spPr>
            <a:xfrm>
              <a:off x="0" y="3348360"/>
              <a:ext cx="2300760" cy="10440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5" name="object 51"/>
            <p:cNvSpPr/>
            <p:nvPr/>
          </p:nvSpPr>
          <p:spPr>
            <a:xfrm>
              <a:off x="2304000" y="3348360"/>
              <a:ext cx="2300760" cy="10440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16" name="object 52"/>
          <p:cNvSpPr/>
          <p:nvPr/>
        </p:nvSpPr>
        <p:spPr>
          <a:xfrm>
            <a:off x="53640" y="3349800"/>
            <a:ext cx="116784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Distributed versus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decentralized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129960" y="588240"/>
            <a:ext cx="4440960" cy="15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Benefits of TCP/IP: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Reliability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  </a:t>
            </a: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- TCP breaks data into packets, numbers them, and ensures all 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    arrive in order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  </a:t>
            </a: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- Lost or corrupted packets get retransmitted automatically.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</p:txBody>
      </p:sp>
    </p:spTree>
  </p:cSld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object 54"/>
          <p:cNvSpPr/>
          <p:nvPr/>
        </p:nvSpPr>
        <p:spPr>
          <a:xfrm>
            <a:off x="53640" y="-1440"/>
            <a:ext cx="449784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  <a:tabLst>
                <a:tab algn="l" pos="3156120"/>
              </a:tabLst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From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networked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systems to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203400" y="197640"/>
            <a:ext cx="3789720" cy="5868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</a:rPr>
              <a:t>II. Connection-Oriented Protocol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220" name="object 55"/>
          <p:cNvGrpSpPr/>
          <p:nvPr/>
        </p:nvGrpSpPr>
        <p:grpSpPr>
          <a:xfrm>
            <a:off x="0" y="3348360"/>
            <a:ext cx="4604760" cy="104400"/>
            <a:chOff x="0" y="3348360"/>
            <a:chExt cx="4604760" cy="104400"/>
          </a:xfrm>
        </p:grpSpPr>
        <p:sp>
          <p:nvSpPr>
            <p:cNvPr id="221" name="object 56"/>
            <p:cNvSpPr/>
            <p:nvPr/>
          </p:nvSpPr>
          <p:spPr>
            <a:xfrm>
              <a:off x="0" y="3348360"/>
              <a:ext cx="2300760" cy="10440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2" name="object 57"/>
            <p:cNvSpPr/>
            <p:nvPr/>
          </p:nvSpPr>
          <p:spPr>
            <a:xfrm>
              <a:off x="2304000" y="3348360"/>
              <a:ext cx="2300760" cy="10440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23" name="object 58"/>
          <p:cNvSpPr/>
          <p:nvPr/>
        </p:nvSpPr>
        <p:spPr>
          <a:xfrm>
            <a:off x="53640" y="3349800"/>
            <a:ext cx="116784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Distributed versus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decentralized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129960" y="588240"/>
            <a:ext cx="4440960" cy="15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Benefits of TCP/IP: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Reliability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  </a:t>
            </a: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- TCP breaks data into packets, numbers them, and ensures all 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    arrive in order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  </a:t>
            </a: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- Lost or corrupted packets get retransmitted automatically.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Interoperability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  - Every major OS, router, and application supports TCP/IP.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</p:txBody>
      </p:sp>
    </p:spTree>
  </p:cSld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object 59"/>
          <p:cNvSpPr/>
          <p:nvPr/>
        </p:nvSpPr>
        <p:spPr>
          <a:xfrm>
            <a:off x="53640" y="-1440"/>
            <a:ext cx="449784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  <a:tabLst>
                <a:tab algn="l" pos="3156120"/>
              </a:tabLst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From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networked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systems to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203400" y="197640"/>
            <a:ext cx="3789720" cy="5868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</a:rPr>
              <a:t>II. Connection-Oriented Protocol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227" name="object 60"/>
          <p:cNvGrpSpPr/>
          <p:nvPr/>
        </p:nvGrpSpPr>
        <p:grpSpPr>
          <a:xfrm>
            <a:off x="0" y="3348360"/>
            <a:ext cx="4604760" cy="104400"/>
            <a:chOff x="0" y="3348360"/>
            <a:chExt cx="4604760" cy="104400"/>
          </a:xfrm>
        </p:grpSpPr>
        <p:sp>
          <p:nvSpPr>
            <p:cNvPr id="228" name="object 61"/>
            <p:cNvSpPr/>
            <p:nvPr/>
          </p:nvSpPr>
          <p:spPr>
            <a:xfrm>
              <a:off x="0" y="3348360"/>
              <a:ext cx="2300760" cy="10440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9" name="object 62"/>
            <p:cNvSpPr/>
            <p:nvPr/>
          </p:nvSpPr>
          <p:spPr>
            <a:xfrm>
              <a:off x="2304000" y="3348360"/>
              <a:ext cx="2300760" cy="10440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30" name="object 63"/>
          <p:cNvSpPr/>
          <p:nvPr/>
        </p:nvSpPr>
        <p:spPr>
          <a:xfrm>
            <a:off x="53640" y="3349800"/>
            <a:ext cx="116784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Distributed versus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decentralized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129960" y="588240"/>
            <a:ext cx="4440960" cy="15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Benefits of TCP/IP: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Reliability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  </a:t>
            </a: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- TCP breaks data into packets, numbers them, and ensures all 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    arrive in order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  </a:t>
            </a: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- Lost or corrupted packets get retransmitted automatically.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Interoperability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  - Every major OS, router, and application supports TCP/IP.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Scalability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  - Scales to billions of devices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br>
              <a:rPr sz="1000"/>
            </a:b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</p:txBody>
      </p:sp>
    </p:spTree>
  </p:cSld>
  <p:transition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object 64"/>
          <p:cNvSpPr/>
          <p:nvPr/>
        </p:nvSpPr>
        <p:spPr>
          <a:xfrm>
            <a:off x="53640" y="-1440"/>
            <a:ext cx="449784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  <a:tabLst>
                <a:tab algn="l" pos="3156120"/>
              </a:tabLst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From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networked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systems to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203400" y="197640"/>
            <a:ext cx="3789720" cy="5868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</a:rPr>
              <a:t>II. Connection-Oriented Protocol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234" name="object 65"/>
          <p:cNvGrpSpPr/>
          <p:nvPr/>
        </p:nvGrpSpPr>
        <p:grpSpPr>
          <a:xfrm>
            <a:off x="0" y="3348360"/>
            <a:ext cx="4604760" cy="104400"/>
            <a:chOff x="0" y="3348360"/>
            <a:chExt cx="4604760" cy="104400"/>
          </a:xfrm>
        </p:grpSpPr>
        <p:sp>
          <p:nvSpPr>
            <p:cNvPr id="235" name="object 66"/>
            <p:cNvSpPr/>
            <p:nvPr/>
          </p:nvSpPr>
          <p:spPr>
            <a:xfrm>
              <a:off x="0" y="3348360"/>
              <a:ext cx="2300760" cy="10440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6" name="object 67"/>
            <p:cNvSpPr/>
            <p:nvPr/>
          </p:nvSpPr>
          <p:spPr>
            <a:xfrm>
              <a:off x="2304000" y="3348360"/>
              <a:ext cx="2300760" cy="10440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37" name="object 68"/>
          <p:cNvSpPr/>
          <p:nvPr/>
        </p:nvSpPr>
        <p:spPr>
          <a:xfrm>
            <a:off x="53640" y="3349800"/>
            <a:ext cx="116784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Distributed versus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decentralized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129960" y="588240"/>
            <a:ext cx="4440960" cy="15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Benefits of TCP/IP: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Reliability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  </a:t>
            </a: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- TCP breaks data into packets, numbers them, and ensures all 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    arrive in order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  </a:t>
            </a: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- Lost or corrupted packets get retransmitted automatically.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Interoperability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  - Every major OS, router, and application supports TCP/IP.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Scalability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  - Scales to billions of devices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br>
              <a:rPr sz="1000"/>
            </a:br>
            <a:r>
              <a:rPr b="0" i="1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Flexibility</a:t>
            </a:r>
            <a:br>
              <a:rPr sz="1000"/>
            </a:br>
            <a:r>
              <a:rPr b="0" i="1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  - </a:t>
            </a: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Supports multiple application protocols: HTTP(S), FTP, SSH, email, streaming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</p:txBody>
      </p:sp>
    </p:spTree>
  </p:cSld>
  <p:transition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object 38"/>
          <p:cNvSpPr/>
          <p:nvPr/>
        </p:nvSpPr>
        <p:spPr>
          <a:xfrm>
            <a:off x="53640" y="-1440"/>
            <a:ext cx="449784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  <a:tabLst>
                <a:tab algn="l" pos="3156120"/>
              </a:tabLst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From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networked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systems to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203400" y="197640"/>
            <a:ext cx="3789720" cy="5868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</a:rPr>
              <a:t>II. Connection-Oriented Protocol, contd.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241" name="object 44"/>
          <p:cNvGrpSpPr/>
          <p:nvPr/>
        </p:nvGrpSpPr>
        <p:grpSpPr>
          <a:xfrm>
            <a:off x="0" y="3348360"/>
            <a:ext cx="4604760" cy="104400"/>
            <a:chOff x="0" y="3348360"/>
            <a:chExt cx="4604760" cy="104400"/>
          </a:xfrm>
        </p:grpSpPr>
        <p:sp>
          <p:nvSpPr>
            <p:cNvPr id="242" name="object 45"/>
            <p:cNvSpPr/>
            <p:nvPr/>
          </p:nvSpPr>
          <p:spPr>
            <a:xfrm>
              <a:off x="0" y="3348360"/>
              <a:ext cx="2300760" cy="10440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3" name="object 46"/>
            <p:cNvSpPr/>
            <p:nvPr/>
          </p:nvSpPr>
          <p:spPr>
            <a:xfrm>
              <a:off x="2304000" y="3348360"/>
              <a:ext cx="2300760" cy="10440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44" name="object 47"/>
          <p:cNvSpPr/>
          <p:nvPr/>
        </p:nvSpPr>
        <p:spPr>
          <a:xfrm>
            <a:off x="53640" y="3349800"/>
            <a:ext cx="116784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Distributed versus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decentralized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129960" y="588240"/>
            <a:ext cx="4440960" cy="15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Mechanics of TCP/IP: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Before client requests service, connection set up w/server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Server uses same connection to send reply message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When communication finished, connection torn down</a:t>
            </a:r>
            <a:endParaRPr b="0" lang="en-US" sz="1000" spc="-1" strike="noStrike">
              <a:latin typeface="Arial"/>
            </a:endParaRPr>
          </a:p>
        </p:txBody>
      </p:sp>
    </p:spTree>
  </p:cSld>
  <p:transition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object 69"/>
          <p:cNvSpPr/>
          <p:nvPr/>
        </p:nvSpPr>
        <p:spPr>
          <a:xfrm>
            <a:off x="53640" y="-1440"/>
            <a:ext cx="449784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  <a:tabLst>
                <a:tab algn="l" pos="3156120"/>
              </a:tabLst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From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networked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systems to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203400" y="197640"/>
            <a:ext cx="3789720" cy="5868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</a:rPr>
              <a:t>II. Connection-Oriented Protocol, contd.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248" name="object 70"/>
          <p:cNvGrpSpPr/>
          <p:nvPr/>
        </p:nvGrpSpPr>
        <p:grpSpPr>
          <a:xfrm>
            <a:off x="0" y="3348360"/>
            <a:ext cx="4604760" cy="104400"/>
            <a:chOff x="0" y="3348360"/>
            <a:chExt cx="4604760" cy="104400"/>
          </a:xfrm>
        </p:grpSpPr>
        <p:sp>
          <p:nvSpPr>
            <p:cNvPr id="249" name="object 71"/>
            <p:cNvSpPr/>
            <p:nvPr/>
          </p:nvSpPr>
          <p:spPr>
            <a:xfrm>
              <a:off x="0" y="3348360"/>
              <a:ext cx="2300760" cy="10440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0" name="object 72"/>
            <p:cNvSpPr/>
            <p:nvPr/>
          </p:nvSpPr>
          <p:spPr>
            <a:xfrm>
              <a:off x="2304000" y="3348360"/>
              <a:ext cx="2300760" cy="10440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51" name="object 73"/>
          <p:cNvSpPr/>
          <p:nvPr/>
        </p:nvSpPr>
        <p:spPr>
          <a:xfrm>
            <a:off x="53640" y="3349800"/>
            <a:ext cx="116784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Distributed versus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decentralized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129960" y="588240"/>
            <a:ext cx="4440960" cy="15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What happens if we don’t use a connection?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</p:txBody>
      </p:sp>
    </p:spTree>
  </p:cSld>
  <p:transition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object 9"/>
          <p:cNvSpPr/>
          <p:nvPr/>
        </p:nvSpPr>
        <p:spPr>
          <a:xfrm>
            <a:off x="53640" y="-1440"/>
            <a:ext cx="449784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  <a:tabLst>
                <a:tab algn="l" pos="3156120"/>
              </a:tabLst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From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networked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systems to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95400" y="197640"/>
            <a:ext cx="3789720" cy="5868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</a:rPr>
              <a:t>II. Simple Client-Server Architecture (No connection)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255" name="object 15"/>
          <p:cNvGrpSpPr/>
          <p:nvPr/>
        </p:nvGrpSpPr>
        <p:grpSpPr>
          <a:xfrm>
            <a:off x="0" y="3348360"/>
            <a:ext cx="4604760" cy="104400"/>
            <a:chOff x="0" y="3348360"/>
            <a:chExt cx="4604760" cy="104400"/>
          </a:xfrm>
        </p:grpSpPr>
        <p:sp>
          <p:nvSpPr>
            <p:cNvPr id="256" name="object 16"/>
            <p:cNvSpPr/>
            <p:nvPr/>
          </p:nvSpPr>
          <p:spPr>
            <a:xfrm>
              <a:off x="0" y="3348360"/>
              <a:ext cx="2300760" cy="10440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7" name="object 17"/>
            <p:cNvSpPr/>
            <p:nvPr/>
          </p:nvSpPr>
          <p:spPr>
            <a:xfrm>
              <a:off x="2304000" y="3348360"/>
              <a:ext cx="2300760" cy="10440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58" name="object 18"/>
          <p:cNvSpPr/>
          <p:nvPr/>
        </p:nvSpPr>
        <p:spPr>
          <a:xfrm>
            <a:off x="53640" y="3349800"/>
            <a:ext cx="116784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Distributed versus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decentralized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pic>
        <p:nvPicPr>
          <p:cNvPr id="259" name="" descr=""/>
          <p:cNvPicPr/>
          <p:nvPr/>
        </p:nvPicPr>
        <p:blipFill>
          <a:blip r:embed="rId1"/>
          <a:stretch/>
        </p:blipFill>
        <p:spPr>
          <a:xfrm>
            <a:off x="3600" y="564120"/>
            <a:ext cx="4608720" cy="1181160"/>
          </a:xfrm>
          <a:prstGeom prst="rect">
            <a:avLst/>
          </a:prstGeom>
          <a:ln w="0">
            <a:noFill/>
          </a:ln>
        </p:spPr>
      </p:pic>
      <p:sp>
        <p:nvSpPr>
          <p:cNvPr id="260" name=""/>
          <p:cNvSpPr/>
          <p:nvPr/>
        </p:nvSpPr>
        <p:spPr>
          <a:xfrm>
            <a:off x="129960" y="1812240"/>
            <a:ext cx="3706560" cy="14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DejaVu Sans"/>
              </a:rPr>
              <a:t>1) Client packages message for server, 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DejaVu Sans"/>
              </a:rPr>
              <a:t>identifying the service it wants,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DejaVu Sans"/>
              </a:rPr>
              <a:t>along with necessary input data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2) Message sent to server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3) Server will wait for incoming request, process it, 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and package results in a reply message  sent to client</a:t>
            </a:r>
            <a:endParaRPr b="0" lang="en-US" sz="1000" spc="-1" strike="noStrike">
              <a:latin typeface="Arial"/>
            </a:endParaRPr>
          </a:p>
        </p:txBody>
      </p:sp>
    </p:spTree>
  </p:cSld>
  <p:transition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object 5"/>
          <p:cNvSpPr/>
          <p:nvPr/>
        </p:nvSpPr>
        <p:spPr>
          <a:xfrm>
            <a:off x="53640" y="-1440"/>
            <a:ext cx="449784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  <a:tabLst>
                <a:tab algn="l" pos="3156120"/>
              </a:tabLst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From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networked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systems to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95400" y="197640"/>
            <a:ext cx="4246920" cy="5868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</a:rPr>
              <a:t>II. Simple Client-Server Architecture (No connection), contd.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263" name="object 6"/>
          <p:cNvGrpSpPr/>
          <p:nvPr/>
        </p:nvGrpSpPr>
        <p:grpSpPr>
          <a:xfrm>
            <a:off x="0" y="3348360"/>
            <a:ext cx="4604760" cy="104400"/>
            <a:chOff x="0" y="3348360"/>
            <a:chExt cx="4604760" cy="104400"/>
          </a:xfrm>
        </p:grpSpPr>
        <p:sp>
          <p:nvSpPr>
            <p:cNvPr id="264" name="object 7"/>
            <p:cNvSpPr/>
            <p:nvPr/>
          </p:nvSpPr>
          <p:spPr>
            <a:xfrm>
              <a:off x="0" y="3348360"/>
              <a:ext cx="2300760" cy="10440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5" name="object 8"/>
            <p:cNvSpPr/>
            <p:nvPr/>
          </p:nvSpPr>
          <p:spPr>
            <a:xfrm>
              <a:off x="2304000" y="3348360"/>
              <a:ext cx="2300760" cy="10440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66" name="object 19"/>
          <p:cNvSpPr/>
          <p:nvPr/>
        </p:nvSpPr>
        <p:spPr>
          <a:xfrm>
            <a:off x="53640" y="3349800"/>
            <a:ext cx="116784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Distributed versus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decentralized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129960" y="876240"/>
            <a:ext cx="4440960" cy="171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URWPalladioL-Roma"/>
                <a:ea typeface="DejaVu Sans"/>
              </a:rPr>
              <a:t>When it works, this is efficient …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… </a:t>
            </a: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but what if the result doesn’t come back?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</p:txBody>
      </p:sp>
    </p:spTree>
  </p:cSld>
  <p:transition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object 74"/>
          <p:cNvSpPr/>
          <p:nvPr/>
        </p:nvSpPr>
        <p:spPr>
          <a:xfrm>
            <a:off x="53640" y="-1440"/>
            <a:ext cx="449784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  <a:tabLst>
                <a:tab algn="l" pos="3156120"/>
              </a:tabLst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From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networked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systems to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95400" y="197640"/>
            <a:ext cx="4246920" cy="5868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</a:rPr>
              <a:t>II. Simple Client-Server Architecture (No connection), contd.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270" name="object 75"/>
          <p:cNvGrpSpPr/>
          <p:nvPr/>
        </p:nvGrpSpPr>
        <p:grpSpPr>
          <a:xfrm>
            <a:off x="0" y="3348360"/>
            <a:ext cx="4604760" cy="104400"/>
            <a:chOff x="0" y="3348360"/>
            <a:chExt cx="4604760" cy="104400"/>
          </a:xfrm>
        </p:grpSpPr>
        <p:sp>
          <p:nvSpPr>
            <p:cNvPr id="271" name="object 76"/>
            <p:cNvSpPr/>
            <p:nvPr/>
          </p:nvSpPr>
          <p:spPr>
            <a:xfrm>
              <a:off x="0" y="3348360"/>
              <a:ext cx="2300760" cy="10440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2" name="object 77"/>
            <p:cNvSpPr/>
            <p:nvPr/>
          </p:nvSpPr>
          <p:spPr>
            <a:xfrm>
              <a:off x="2304000" y="3348360"/>
              <a:ext cx="2300760" cy="10440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73" name="object 78"/>
          <p:cNvSpPr/>
          <p:nvPr/>
        </p:nvSpPr>
        <p:spPr>
          <a:xfrm>
            <a:off x="53640" y="3349800"/>
            <a:ext cx="116784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Distributed versus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decentralized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129960" y="876240"/>
            <a:ext cx="4440960" cy="171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URWPalladioL-Roma"/>
                <a:ea typeface="DejaVu Sans"/>
              </a:rPr>
              <a:t>When it works, this is efficient …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… </a:t>
            </a: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but what if the result doesn’t come back?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1) Was original request lost?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2) Did transmission of response fail?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We won’t know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</p:txBody>
      </p:sp>
    </p:spTree>
  </p:cSld>
  <p:transition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object 79"/>
          <p:cNvSpPr/>
          <p:nvPr/>
        </p:nvSpPr>
        <p:spPr>
          <a:xfrm>
            <a:off x="53640" y="-1440"/>
            <a:ext cx="449784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  <a:tabLst>
                <a:tab algn="l" pos="3156120"/>
              </a:tabLst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From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networked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systems to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95400" y="197640"/>
            <a:ext cx="4246920" cy="5868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</a:rPr>
              <a:t>II. Simple Client-Server Architecture (No connection), contd.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277" name="object 80"/>
          <p:cNvGrpSpPr/>
          <p:nvPr/>
        </p:nvGrpSpPr>
        <p:grpSpPr>
          <a:xfrm>
            <a:off x="0" y="3348360"/>
            <a:ext cx="4604760" cy="104400"/>
            <a:chOff x="0" y="3348360"/>
            <a:chExt cx="4604760" cy="104400"/>
          </a:xfrm>
        </p:grpSpPr>
        <p:sp>
          <p:nvSpPr>
            <p:cNvPr id="278" name="object 81"/>
            <p:cNvSpPr/>
            <p:nvPr/>
          </p:nvSpPr>
          <p:spPr>
            <a:xfrm>
              <a:off x="0" y="3348360"/>
              <a:ext cx="2300760" cy="10440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9" name="object 82"/>
            <p:cNvSpPr/>
            <p:nvPr/>
          </p:nvSpPr>
          <p:spPr>
            <a:xfrm>
              <a:off x="2304000" y="3348360"/>
              <a:ext cx="2300760" cy="10440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80" name="object 83"/>
          <p:cNvSpPr/>
          <p:nvPr/>
        </p:nvSpPr>
        <p:spPr>
          <a:xfrm>
            <a:off x="53640" y="3349800"/>
            <a:ext cx="116784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Distributed versus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decentralized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129960" y="876240"/>
            <a:ext cx="4440960" cy="171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URWPalladioL-Roma"/>
                <a:ea typeface="DejaVu Sans"/>
              </a:rPr>
              <a:t>When it works, this is efficient …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… </a:t>
            </a: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but what if the result doesn’t come back?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1) Was original request lost?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2) Did transmission of response fail?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We won’t know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In first case, might resend. In second case, don’t want to resend.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Transaction that can safely be repeated is called </a:t>
            </a:r>
            <a:r>
              <a:rPr b="0" i="1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idempotent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</p:txBody>
      </p:sp>
    </p:spTree>
  </p:cSld>
  <p:transition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object 25"/>
          <p:cNvSpPr/>
          <p:nvPr/>
        </p:nvSpPr>
        <p:spPr>
          <a:xfrm>
            <a:off x="53640" y="-1440"/>
            <a:ext cx="449784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  <a:tabLst>
                <a:tab algn="l" pos="3156120"/>
              </a:tabLst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From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networked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systems to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95400" y="197640"/>
            <a:ext cx="4246920" cy="5868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</a:rPr>
              <a:t>II. Simple Client-Server Architecture (No connection), contd.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284" name="object 26"/>
          <p:cNvGrpSpPr/>
          <p:nvPr/>
        </p:nvGrpSpPr>
        <p:grpSpPr>
          <a:xfrm>
            <a:off x="0" y="3348360"/>
            <a:ext cx="4604760" cy="104400"/>
            <a:chOff x="0" y="3348360"/>
            <a:chExt cx="4604760" cy="104400"/>
          </a:xfrm>
        </p:grpSpPr>
        <p:sp>
          <p:nvSpPr>
            <p:cNvPr id="285" name="object 27"/>
            <p:cNvSpPr/>
            <p:nvPr/>
          </p:nvSpPr>
          <p:spPr>
            <a:xfrm>
              <a:off x="0" y="3348360"/>
              <a:ext cx="2300760" cy="10440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6" name="object 28"/>
            <p:cNvSpPr/>
            <p:nvPr/>
          </p:nvSpPr>
          <p:spPr>
            <a:xfrm>
              <a:off x="2304000" y="3348360"/>
              <a:ext cx="2300760" cy="10440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87" name="object 29"/>
          <p:cNvSpPr/>
          <p:nvPr/>
        </p:nvSpPr>
        <p:spPr>
          <a:xfrm>
            <a:off x="53640" y="3349800"/>
            <a:ext cx="116784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Distributed versus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decentralized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129960" y="552240"/>
            <a:ext cx="4440960" cy="14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Examples</a:t>
            </a: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: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Request 1: transfer $10K from bank account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Not safe to resend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Request 2: Tell me bank account balance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URWPalladioL-Roma"/>
                <a:ea typeface="URWPalladioL-Roma"/>
              </a:rPr>
              <a:t>Safe to resend</a:t>
            </a:r>
            <a:endParaRPr b="0" lang="en-US" sz="1000" spc="-1" strike="noStrike">
              <a:latin typeface="Arial"/>
            </a:endParaRPr>
          </a:p>
        </p:txBody>
      </p:sp>
    </p:spTree>
  </p:cSld>
  <p:transition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object 1"/>
          <p:cNvSpPr/>
          <p:nvPr/>
        </p:nvSpPr>
        <p:spPr>
          <a:xfrm>
            <a:off x="53640" y="-1440"/>
            <a:ext cx="449784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  <a:tabLst>
                <a:tab algn="l" pos="3156120"/>
              </a:tabLst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From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networked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systems to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95400" y="1493640"/>
            <a:ext cx="3789720" cy="5868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 u="sng">
                <a:solidFill>
                  <a:srgbClr val="3333b2"/>
                </a:solidFill>
                <a:uFillTx/>
                <a:latin typeface="Arial"/>
              </a:rPr>
              <a:t>III. Cloud Computing</a:t>
            </a:r>
            <a:br>
              <a:rPr sz="1200"/>
            </a:br>
            <a:br>
              <a:rPr sz="1200"/>
            </a:br>
            <a:br>
              <a:rPr sz="1200"/>
            </a:br>
            <a:br>
              <a:rPr sz="1200"/>
            </a:br>
            <a:endParaRPr b="0" lang="en-US" sz="1200" spc="-1" strike="noStrike">
              <a:latin typeface="Arial"/>
            </a:endParaRPr>
          </a:p>
        </p:txBody>
      </p:sp>
    </p:spTree>
  </p:cSld>
  <p:transition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object 4"/>
          <p:cNvSpPr/>
          <p:nvPr/>
        </p:nvSpPr>
        <p:spPr>
          <a:xfrm>
            <a:off x="53640" y="-1440"/>
            <a:ext cx="39384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92" name="object 30"/>
          <p:cNvSpPr/>
          <p:nvPr/>
        </p:nvSpPr>
        <p:spPr>
          <a:xfrm>
            <a:off x="2304000" y="0"/>
            <a:ext cx="2303280" cy="10692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object 31"/>
          <p:cNvSpPr/>
          <p:nvPr/>
        </p:nvSpPr>
        <p:spPr>
          <a:xfrm>
            <a:off x="3747960" y="-1440"/>
            <a:ext cx="80604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Hybrid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94" name="object 32"/>
          <p:cNvSpPr/>
          <p:nvPr/>
        </p:nvSpPr>
        <p:spPr>
          <a:xfrm>
            <a:off x="95400" y="197640"/>
            <a:ext cx="173304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III. Cloud</a:t>
            </a:r>
            <a:r>
              <a:rPr b="0" lang="en-US" sz="12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computing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295" name="object 34"/>
          <p:cNvGrpSpPr/>
          <p:nvPr/>
        </p:nvGrpSpPr>
        <p:grpSpPr>
          <a:xfrm>
            <a:off x="0" y="3348360"/>
            <a:ext cx="4607280" cy="106920"/>
            <a:chOff x="0" y="3348360"/>
            <a:chExt cx="4607280" cy="106920"/>
          </a:xfrm>
        </p:grpSpPr>
        <p:sp>
          <p:nvSpPr>
            <p:cNvPr id="296" name="object 35"/>
            <p:cNvSpPr/>
            <p:nvPr/>
          </p:nvSpPr>
          <p:spPr>
            <a:xfrm>
              <a:off x="0" y="3348360"/>
              <a:ext cx="2303280" cy="1069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7" name="object 36"/>
            <p:cNvSpPr/>
            <p:nvPr/>
          </p:nvSpPr>
          <p:spPr>
            <a:xfrm>
              <a:off x="2304000" y="3348360"/>
              <a:ext cx="2303280" cy="1069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98" name="object 37"/>
          <p:cNvSpPr/>
          <p:nvPr/>
        </p:nvSpPr>
        <p:spPr>
          <a:xfrm>
            <a:off x="53640" y="3349800"/>
            <a:ext cx="49932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Cloud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computing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99" name="object 33"/>
          <p:cNvSpPr/>
          <p:nvPr/>
        </p:nvSpPr>
        <p:spPr>
          <a:xfrm>
            <a:off x="334440" y="550800"/>
            <a:ext cx="392580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255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The model for cloud computing can be regarded as</a:t>
            </a:r>
            <a:r>
              <a:rPr b="0" lang="en-US" sz="1000" spc="-4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four</a:t>
            </a:r>
            <a:r>
              <a:rPr b="0" lang="en-US" sz="1000" spc="-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  <a:ea typeface="DejaVu Sans"/>
              </a:rPr>
              <a:t>layers</a:t>
            </a:r>
            <a:endParaRPr b="0" lang="en-US" sz="1000" spc="-1" strike="noStrike">
              <a:latin typeface="Arial"/>
            </a:endParaRPr>
          </a:p>
        </p:txBody>
      </p:sp>
    </p:spTree>
  </p:cSld>
  <p:transition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object 93"/>
          <p:cNvSpPr/>
          <p:nvPr/>
        </p:nvSpPr>
        <p:spPr>
          <a:xfrm>
            <a:off x="53640" y="-1440"/>
            <a:ext cx="39384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01" name="object 94"/>
          <p:cNvSpPr/>
          <p:nvPr/>
        </p:nvSpPr>
        <p:spPr>
          <a:xfrm>
            <a:off x="2304000" y="0"/>
            <a:ext cx="2303280" cy="10692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object 95"/>
          <p:cNvSpPr/>
          <p:nvPr/>
        </p:nvSpPr>
        <p:spPr>
          <a:xfrm>
            <a:off x="3747960" y="-1440"/>
            <a:ext cx="80604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Hybrid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03" name="object 96"/>
          <p:cNvSpPr/>
          <p:nvPr/>
        </p:nvSpPr>
        <p:spPr>
          <a:xfrm>
            <a:off x="95400" y="197640"/>
            <a:ext cx="173304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III. Cloud</a:t>
            </a:r>
            <a:r>
              <a:rPr b="0" lang="en-US" sz="12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computing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304" name="object 97"/>
          <p:cNvGrpSpPr/>
          <p:nvPr/>
        </p:nvGrpSpPr>
        <p:grpSpPr>
          <a:xfrm>
            <a:off x="0" y="3348360"/>
            <a:ext cx="4607280" cy="106920"/>
            <a:chOff x="0" y="3348360"/>
            <a:chExt cx="4607280" cy="106920"/>
          </a:xfrm>
        </p:grpSpPr>
        <p:sp>
          <p:nvSpPr>
            <p:cNvPr id="305" name="object 98"/>
            <p:cNvSpPr/>
            <p:nvPr/>
          </p:nvSpPr>
          <p:spPr>
            <a:xfrm>
              <a:off x="0" y="3348360"/>
              <a:ext cx="2303280" cy="1069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6" name="object 99"/>
            <p:cNvSpPr/>
            <p:nvPr/>
          </p:nvSpPr>
          <p:spPr>
            <a:xfrm>
              <a:off x="2304000" y="3348360"/>
              <a:ext cx="2303280" cy="1069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07" name="object 100"/>
          <p:cNvSpPr/>
          <p:nvPr/>
        </p:nvSpPr>
        <p:spPr>
          <a:xfrm>
            <a:off x="53640" y="3349800"/>
            <a:ext cx="49932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Cloud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computing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08" name="object 101"/>
          <p:cNvSpPr/>
          <p:nvPr/>
        </p:nvSpPr>
        <p:spPr>
          <a:xfrm>
            <a:off x="334440" y="550800"/>
            <a:ext cx="3925800" cy="270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255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The model for cloud computing can be regarded as</a:t>
            </a:r>
            <a:r>
              <a:rPr b="0" lang="en-US" sz="1000" spc="-4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four</a:t>
            </a:r>
            <a:r>
              <a:rPr b="0" lang="en-US" sz="1000" spc="-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  <a:ea typeface="DejaVu Sans"/>
              </a:rPr>
              <a:t>layers</a:t>
            </a:r>
            <a:endParaRPr b="0" lang="en-US" sz="1000" spc="-1" strike="noStrike">
              <a:latin typeface="Arial"/>
            </a:endParaRPr>
          </a:p>
          <a:p>
            <a:pPr marL="25560">
              <a:lnSpc>
                <a:spcPct val="100000"/>
              </a:lnSpc>
              <a:spcBef>
                <a:spcPts val="96"/>
              </a:spcBef>
              <a:buNone/>
            </a:pPr>
            <a:endParaRPr b="0" lang="en-US" sz="1000" spc="-1" strike="noStrike">
              <a:latin typeface="Arial"/>
            </a:endParaRPr>
          </a:p>
          <a:p>
            <a:pPr marL="25560">
              <a:lnSpc>
                <a:spcPct val="111000"/>
              </a:lnSpc>
              <a:spcBef>
                <a:spcPts val="400"/>
              </a:spcBef>
              <a:buNone/>
              <a:tabLst>
                <a:tab algn="l" pos="278640"/>
              </a:tabLst>
            </a:pPr>
            <a:endParaRPr b="0" lang="en-US" sz="900" spc="-1" strike="noStrike">
              <a:latin typeface="Arial"/>
            </a:endParaRPr>
          </a:p>
          <a:p>
            <a:pPr marL="25560">
              <a:lnSpc>
                <a:spcPct val="111000"/>
              </a:lnSpc>
              <a:spcBef>
                <a:spcPts val="400"/>
              </a:spcBef>
              <a:buNone/>
              <a:tabLst>
                <a:tab algn="l" pos="278640"/>
              </a:tabLst>
            </a:pPr>
            <a:endParaRPr b="0" lang="en-US" sz="900" spc="-1" strike="noStrike">
              <a:latin typeface="Arial"/>
            </a:endParaRPr>
          </a:p>
          <a:p>
            <a:pPr marL="25560">
              <a:lnSpc>
                <a:spcPct val="111000"/>
              </a:lnSpc>
              <a:spcBef>
                <a:spcPts val="400"/>
              </a:spcBef>
              <a:buNone/>
              <a:tabLst>
                <a:tab algn="l" pos="278640"/>
              </a:tabLst>
            </a:pPr>
            <a:endParaRPr b="0" lang="en-US" sz="900" spc="-1" strike="noStrike">
              <a:latin typeface="Arial"/>
            </a:endParaRPr>
          </a:p>
          <a:p>
            <a:pPr marL="25560">
              <a:lnSpc>
                <a:spcPct val="111000"/>
              </a:lnSpc>
              <a:spcBef>
                <a:spcPts val="400"/>
              </a:spcBef>
              <a:buNone/>
              <a:tabLst>
                <a:tab algn="l" pos="278640"/>
              </a:tabLst>
            </a:pPr>
            <a:endParaRPr b="0" lang="en-US" sz="900" spc="-1" strike="noStrike">
              <a:latin typeface="Arial"/>
            </a:endParaRPr>
          </a:p>
          <a:p>
            <a:pPr marL="25560">
              <a:lnSpc>
                <a:spcPct val="111000"/>
              </a:lnSpc>
              <a:spcBef>
                <a:spcPts val="400"/>
              </a:spcBef>
              <a:buNone/>
              <a:tabLst>
                <a:tab algn="l" pos="278640"/>
              </a:tabLst>
            </a:pPr>
            <a:endParaRPr b="0" lang="en-US" sz="900" spc="-1" strike="noStrike">
              <a:latin typeface="Arial"/>
            </a:endParaRPr>
          </a:p>
          <a:p>
            <a:pPr marL="25560">
              <a:lnSpc>
                <a:spcPct val="111000"/>
              </a:lnSpc>
              <a:spcBef>
                <a:spcPts val="400"/>
              </a:spcBef>
              <a:buNone/>
              <a:tabLst>
                <a:tab algn="l" pos="278640"/>
              </a:tabLst>
            </a:pPr>
            <a:endParaRPr b="0" lang="en-US" sz="900" spc="-1" strike="noStrike">
              <a:latin typeface="Arial"/>
            </a:endParaRPr>
          </a:p>
          <a:p>
            <a:pPr marL="25560">
              <a:lnSpc>
                <a:spcPct val="111000"/>
              </a:lnSpc>
              <a:spcBef>
                <a:spcPts val="400"/>
              </a:spcBef>
              <a:buNone/>
              <a:tabLst>
                <a:tab algn="l" pos="278640"/>
              </a:tabLst>
            </a:pPr>
            <a:endParaRPr b="0" lang="en-US" sz="900" spc="-1" strike="noStrike">
              <a:latin typeface="Arial"/>
            </a:endParaRPr>
          </a:p>
          <a:p>
            <a:pPr marL="25560">
              <a:lnSpc>
                <a:spcPct val="111000"/>
              </a:lnSpc>
              <a:spcBef>
                <a:spcPts val="400"/>
              </a:spcBef>
              <a:buNone/>
              <a:tabLst>
                <a:tab algn="l" pos="278640"/>
              </a:tabLst>
            </a:pPr>
            <a:endParaRPr b="0" lang="en-US" sz="900" spc="-1" strike="noStrike">
              <a:latin typeface="Arial"/>
            </a:endParaRPr>
          </a:p>
          <a:p>
            <a:pPr marL="25560">
              <a:lnSpc>
                <a:spcPct val="111000"/>
              </a:lnSpc>
              <a:spcBef>
                <a:spcPts val="575"/>
              </a:spcBef>
              <a:buNone/>
              <a:tabLst>
                <a:tab algn="l" pos="278640"/>
              </a:tabLst>
            </a:pPr>
            <a:endParaRPr b="0" lang="en-US" sz="900" spc="-1" strike="noStrike">
              <a:latin typeface="Arial"/>
            </a:endParaRPr>
          </a:p>
          <a:p>
            <a:pPr marL="25560">
              <a:lnSpc>
                <a:spcPct val="111000"/>
              </a:lnSpc>
              <a:spcBef>
                <a:spcPts val="575"/>
              </a:spcBef>
              <a:buNone/>
              <a:tabLst>
                <a:tab algn="l" pos="278640"/>
              </a:tabLst>
            </a:pPr>
            <a:br>
              <a:rPr sz="900"/>
            </a:br>
            <a:r>
              <a:rPr b="0" lang="en-US" sz="900" spc="-1" strike="noStrike">
                <a:solidFill>
                  <a:srgbClr val="c80000"/>
                </a:solidFill>
                <a:latin typeface="Arial"/>
                <a:ea typeface="DejaVu Sans"/>
              </a:rPr>
              <a:t>Hardware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r>
              <a:rPr b="0" lang="en-US" sz="900" spc="1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Processors,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routers,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power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cooling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systems.</a:t>
            </a:r>
            <a:r>
              <a:rPr b="0" lang="en-US" sz="900" spc="18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Customers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normally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never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get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to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see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these.</a:t>
            </a:r>
            <a:endParaRPr b="0" lang="en-US" sz="900" spc="-1" strike="noStrike">
              <a:latin typeface="Arial"/>
            </a:endParaRPr>
          </a:p>
        </p:txBody>
      </p:sp>
    </p:spTree>
  </p:cSld>
  <p:transition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object 39"/>
          <p:cNvSpPr/>
          <p:nvPr/>
        </p:nvSpPr>
        <p:spPr>
          <a:xfrm>
            <a:off x="53640" y="-1440"/>
            <a:ext cx="39384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10" name="object 40"/>
          <p:cNvSpPr/>
          <p:nvPr/>
        </p:nvSpPr>
        <p:spPr>
          <a:xfrm>
            <a:off x="2304000" y="0"/>
            <a:ext cx="2303280" cy="10692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object 41"/>
          <p:cNvSpPr/>
          <p:nvPr/>
        </p:nvSpPr>
        <p:spPr>
          <a:xfrm>
            <a:off x="3747960" y="-1440"/>
            <a:ext cx="80604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Hybrid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12" name="object 42"/>
          <p:cNvSpPr/>
          <p:nvPr/>
        </p:nvSpPr>
        <p:spPr>
          <a:xfrm>
            <a:off x="95400" y="197640"/>
            <a:ext cx="173304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III. Cloud</a:t>
            </a:r>
            <a:r>
              <a:rPr b="0" lang="en-US" sz="12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computing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313" name="object 43"/>
          <p:cNvGrpSpPr/>
          <p:nvPr/>
        </p:nvGrpSpPr>
        <p:grpSpPr>
          <a:xfrm>
            <a:off x="0" y="3348360"/>
            <a:ext cx="4607280" cy="106920"/>
            <a:chOff x="0" y="3348360"/>
            <a:chExt cx="4607280" cy="106920"/>
          </a:xfrm>
        </p:grpSpPr>
        <p:sp>
          <p:nvSpPr>
            <p:cNvPr id="314" name="object 102"/>
            <p:cNvSpPr/>
            <p:nvPr/>
          </p:nvSpPr>
          <p:spPr>
            <a:xfrm>
              <a:off x="0" y="3348360"/>
              <a:ext cx="2303280" cy="1069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5" name="object 103"/>
            <p:cNvSpPr/>
            <p:nvPr/>
          </p:nvSpPr>
          <p:spPr>
            <a:xfrm>
              <a:off x="2304000" y="3348360"/>
              <a:ext cx="2303280" cy="1069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16" name="object 104"/>
          <p:cNvSpPr/>
          <p:nvPr/>
        </p:nvSpPr>
        <p:spPr>
          <a:xfrm>
            <a:off x="53640" y="3349800"/>
            <a:ext cx="49932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Cloud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computing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17" name="object 105"/>
          <p:cNvSpPr/>
          <p:nvPr/>
        </p:nvSpPr>
        <p:spPr>
          <a:xfrm>
            <a:off x="334440" y="550800"/>
            <a:ext cx="3925800" cy="268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255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The model for cloud computing can be regarded as</a:t>
            </a:r>
            <a:r>
              <a:rPr b="0" lang="en-US" sz="1000" spc="-4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four</a:t>
            </a:r>
            <a:r>
              <a:rPr b="0" lang="en-US" sz="1000" spc="-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  <a:ea typeface="DejaVu Sans"/>
              </a:rPr>
              <a:t>layers</a:t>
            </a:r>
            <a:endParaRPr b="0" lang="en-US" sz="1000" spc="-1" strike="noStrike">
              <a:latin typeface="Arial"/>
            </a:endParaRPr>
          </a:p>
          <a:p>
            <a:pPr marL="25560">
              <a:lnSpc>
                <a:spcPct val="100000"/>
              </a:lnSpc>
              <a:spcBef>
                <a:spcPts val="96"/>
              </a:spcBef>
              <a:buNone/>
            </a:pPr>
            <a:endParaRPr b="0" lang="en-US" sz="1000" spc="-1" strike="noStrike">
              <a:latin typeface="Arial"/>
            </a:endParaRPr>
          </a:p>
          <a:p>
            <a:pPr marL="25560">
              <a:lnSpc>
                <a:spcPct val="111000"/>
              </a:lnSpc>
              <a:spcBef>
                <a:spcPts val="400"/>
              </a:spcBef>
              <a:buNone/>
              <a:tabLst>
                <a:tab algn="l" pos="278640"/>
              </a:tabLst>
            </a:pPr>
            <a:endParaRPr b="0" lang="en-US" sz="900" spc="-1" strike="noStrike">
              <a:latin typeface="Arial"/>
            </a:endParaRPr>
          </a:p>
          <a:p>
            <a:pPr marL="25560">
              <a:lnSpc>
                <a:spcPct val="111000"/>
              </a:lnSpc>
              <a:spcBef>
                <a:spcPts val="400"/>
              </a:spcBef>
              <a:buNone/>
              <a:tabLst>
                <a:tab algn="l" pos="278640"/>
              </a:tabLst>
            </a:pPr>
            <a:endParaRPr b="0" lang="en-US" sz="900" spc="-1" strike="noStrike">
              <a:latin typeface="Arial"/>
            </a:endParaRPr>
          </a:p>
          <a:p>
            <a:pPr marL="25560">
              <a:lnSpc>
                <a:spcPct val="111000"/>
              </a:lnSpc>
              <a:spcBef>
                <a:spcPts val="400"/>
              </a:spcBef>
              <a:buNone/>
              <a:tabLst>
                <a:tab algn="l" pos="278640"/>
              </a:tabLst>
            </a:pPr>
            <a:endParaRPr b="0" lang="en-US" sz="900" spc="-1" strike="noStrike">
              <a:latin typeface="Arial"/>
            </a:endParaRPr>
          </a:p>
          <a:p>
            <a:pPr marL="25560">
              <a:lnSpc>
                <a:spcPct val="111000"/>
              </a:lnSpc>
              <a:spcBef>
                <a:spcPts val="400"/>
              </a:spcBef>
              <a:buNone/>
              <a:tabLst>
                <a:tab algn="l" pos="278640"/>
              </a:tabLst>
            </a:pPr>
            <a:endParaRPr b="0" lang="en-US" sz="900" spc="-1" strike="noStrike">
              <a:latin typeface="Arial"/>
            </a:endParaRPr>
          </a:p>
          <a:p>
            <a:pPr marL="25560">
              <a:lnSpc>
                <a:spcPct val="111000"/>
              </a:lnSpc>
              <a:spcBef>
                <a:spcPts val="400"/>
              </a:spcBef>
              <a:buNone/>
              <a:tabLst>
                <a:tab algn="l" pos="278640"/>
              </a:tabLst>
            </a:pPr>
            <a:endParaRPr b="0" lang="en-US" sz="900" spc="-1" strike="noStrike">
              <a:latin typeface="Arial"/>
            </a:endParaRPr>
          </a:p>
          <a:p>
            <a:pPr marL="25560">
              <a:lnSpc>
                <a:spcPct val="111000"/>
              </a:lnSpc>
              <a:spcBef>
                <a:spcPts val="400"/>
              </a:spcBef>
              <a:buNone/>
              <a:tabLst>
                <a:tab algn="l" pos="278640"/>
              </a:tabLst>
            </a:pPr>
            <a:endParaRPr b="0" lang="en-US" sz="900" spc="-1" strike="noStrike">
              <a:latin typeface="Arial"/>
            </a:endParaRPr>
          </a:p>
          <a:p>
            <a:pPr marL="25560">
              <a:lnSpc>
                <a:spcPct val="111000"/>
              </a:lnSpc>
              <a:spcBef>
                <a:spcPts val="400"/>
              </a:spcBef>
              <a:buNone/>
              <a:tabLst>
                <a:tab algn="l" pos="278640"/>
              </a:tabLst>
            </a:pPr>
            <a:endParaRPr b="0" lang="en-US" sz="900" spc="-1" strike="noStrike">
              <a:latin typeface="Arial"/>
            </a:endParaRPr>
          </a:p>
          <a:p>
            <a:pPr marL="25560">
              <a:lnSpc>
                <a:spcPct val="111000"/>
              </a:lnSpc>
              <a:spcBef>
                <a:spcPts val="400"/>
              </a:spcBef>
              <a:buNone/>
              <a:tabLst>
                <a:tab algn="l" pos="278640"/>
              </a:tabLst>
            </a:pPr>
            <a:r>
              <a:rPr b="0" lang="en-US" sz="900" spc="-1" strike="noStrike">
                <a:solidFill>
                  <a:srgbClr val="c80000"/>
                </a:solidFill>
                <a:latin typeface="Arial"/>
                <a:ea typeface="DejaVu Sans"/>
              </a:rPr>
              <a:t>Infrastructure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r>
              <a:rPr b="0" lang="en-US" sz="900" spc="1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Deploys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virtualization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techniques.</a:t>
            </a:r>
            <a:r>
              <a:rPr b="0" lang="en-US" sz="900" spc="18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Evolves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around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allocating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managing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virtual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storage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devices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virtual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servers.</a:t>
            </a:r>
            <a:endParaRPr b="0" lang="en-US" sz="900" spc="-1" strike="noStrike">
              <a:latin typeface="Arial"/>
            </a:endParaRPr>
          </a:p>
          <a:p>
            <a:pPr marL="25560">
              <a:lnSpc>
                <a:spcPct val="111000"/>
              </a:lnSpc>
              <a:spcBef>
                <a:spcPts val="400"/>
              </a:spcBef>
              <a:buNone/>
              <a:tabLst>
                <a:tab algn="l" pos="278640"/>
              </a:tabLst>
            </a:pPr>
            <a:endParaRPr b="0" lang="en-US" sz="900" spc="-1" strike="noStrike">
              <a:latin typeface="Arial"/>
            </a:endParaRPr>
          </a:p>
          <a:p>
            <a:pPr marL="25560">
              <a:lnSpc>
                <a:spcPct val="111000"/>
              </a:lnSpc>
              <a:spcBef>
                <a:spcPts val="575"/>
              </a:spcBef>
              <a:buNone/>
              <a:tabLst>
                <a:tab algn="l" pos="278640"/>
              </a:tabLst>
            </a:pPr>
            <a:r>
              <a:rPr b="0" lang="en-US" sz="900" spc="-1" strike="noStrike">
                <a:solidFill>
                  <a:srgbClr val="c80000"/>
                </a:solidFill>
                <a:latin typeface="Arial"/>
                <a:ea typeface="DejaVu Sans"/>
              </a:rPr>
              <a:t>Hardware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r>
              <a:rPr b="0" lang="en-US" sz="900" spc="1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Processors,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routers,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power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cooling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systems.</a:t>
            </a:r>
            <a:r>
              <a:rPr b="0" lang="en-US" sz="900" spc="18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Customers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normally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never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get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to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see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these.</a:t>
            </a:r>
            <a:endParaRPr b="0" lang="en-US" sz="900" spc="-1" strike="noStrike">
              <a:latin typeface="Arial"/>
            </a:endParaRPr>
          </a:p>
        </p:txBody>
      </p:sp>
    </p:spTree>
  </p:cSld>
  <p:transition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object 106"/>
          <p:cNvSpPr/>
          <p:nvPr/>
        </p:nvSpPr>
        <p:spPr>
          <a:xfrm>
            <a:off x="53640" y="-1440"/>
            <a:ext cx="39384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19" name="object 107"/>
          <p:cNvSpPr/>
          <p:nvPr/>
        </p:nvSpPr>
        <p:spPr>
          <a:xfrm>
            <a:off x="2304000" y="0"/>
            <a:ext cx="2303280" cy="10692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object 108"/>
          <p:cNvSpPr/>
          <p:nvPr/>
        </p:nvSpPr>
        <p:spPr>
          <a:xfrm>
            <a:off x="3747960" y="-1440"/>
            <a:ext cx="80604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Hybrid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21" name="object 109"/>
          <p:cNvSpPr/>
          <p:nvPr/>
        </p:nvSpPr>
        <p:spPr>
          <a:xfrm>
            <a:off x="95400" y="197640"/>
            <a:ext cx="173304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III. Cloud</a:t>
            </a:r>
            <a:r>
              <a:rPr b="0" lang="en-US" sz="12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computing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322" name="object 110"/>
          <p:cNvGrpSpPr/>
          <p:nvPr/>
        </p:nvGrpSpPr>
        <p:grpSpPr>
          <a:xfrm>
            <a:off x="0" y="3348360"/>
            <a:ext cx="4607280" cy="106920"/>
            <a:chOff x="0" y="3348360"/>
            <a:chExt cx="4607280" cy="106920"/>
          </a:xfrm>
        </p:grpSpPr>
        <p:sp>
          <p:nvSpPr>
            <p:cNvPr id="323" name="object 111"/>
            <p:cNvSpPr/>
            <p:nvPr/>
          </p:nvSpPr>
          <p:spPr>
            <a:xfrm>
              <a:off x="0" y="3348360"/>
              <a:ext cx="2303280" cy="1069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4" name="object 112"/>
            <p:cNvSpPr/>
            <p:nvPr/>
          </p:nvSpPr>
          <p:spPr>
            <a:xfrm>
              <a:off x="2304000" y="3348360"/>
              <a:ext cx="2303280" cy="1069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25" name="object 113"/>
          <p:cNvSpPr/>
          <p:nvPr/>
        </p:nvSpPr>
        <p:spPr>
          <a:xfrm>
            <a:off x="53640" y="3349800"/>
            <a:ext cx="49932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Cloud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computing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26" name="object 114"/>
          <p:cNvSpPr/>
          <p:nvPr/>
        </p:nvSpPr>
        <p:spPr>
          <a:xfrm>
            <a:off x="334440" y="550800"/>
            <a:ext cx="3925800" cy="273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255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The model for cloud computing can be regarded as</a:t>
            </a:r>
            <a:r>
              <a:rPr b="0" lang="en-US" sz="1000" spc="-4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four</a:t>
            </a:r>
            <a:r>
              <a:rPr b="0" lang="en-US" sz="1000" spc="-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  <a:ea typeface="DejaVu Sans"/>
              </a:rPr>
              <a:t>layers</a:t>
            </a:r>
            <a:endParaRPr b="0" lang="en-US" sz="1000" spc="-1" strike="noStrike">
              <a:latin typeface="Arial"/>
            </a:endParaRPr>
          </a:p>
          <a:p>
            <a:pPr marL="25560">
              <a:lnSpc>
                <a:spcPct val="100000"/>
              </a:lnSpc>
              <a:spcBef>
                <a:spcPts val="96"/>
              </a:spcBef>
              <a:buNone/>
            </a:pPr>
            <a:endParaRPr b="0" lang="en-US" sz="1000" spc="-1" strike="noStrike">
              <a:latin typeface="Arial"/>
            </a:endParaRPr>
          </a:p>
          <a:p>
            <a:pPr marL="25560">
              <a:lnSpc>
                <a:spcPct val="111000"/>
              </a:lnSpc>
              <a:spcBef>
                <a:spcPts val="400"/>
              </a:spcBef>
              <a:buNone/>
              <a:tabLst>
                <a:tab algn="l" pos="278640"/>
              </a:tabLst>
            </a:pPr>
            <a:endParaRPr b="0" lang="en-US" sz="900" spc="-1" strike="noStrike">
              <a:latin typeface="Arial"/>
            </a:endParaRPr>
          </a:p>
          <a:p>
            <a:pPr marL="25560">
              <a:lnSpc>
                <a:spcPct val="111000"/>
              </a:lnSpc>
              <a:spcBef>
                <a:spcPts val="400"/>
              </a:spcBef>
              <a:buNone/>
              <a:tabLst>
                <a:tab algn="l" pos="278640"/>
              </a:tabLst>
            </a:pPr>
            <a:endParaRPr b="0" lang="en-US" sz="900" spc="-1" strike="noStrike">
              <a:latin typeface="Arial"/>
            </a:endParaRPr>
          </a:p>
          <a:p>
            <a:pPr marL="25560">
              <a:lnSpc>
                <a:spcPct val="111000"/>
              </a:lnSpc>
              <a:spcBef>
                <a:spcPts val="400"/>
              </a:spcBef>
              <a:buNone/>
              <a:tabLst>
                <a:tab algn="l" pos="278640"/>
              </a:tabLst>
            </a:pPr>
            <a:endParaRPr b="0" lang="en-US" sz="900" spc="-1" strike="noStrike">
              <a:latin typeface="Arial"/>
            </a:endParaRPr>
          </a:p>
          <a:p>
            <a:pPr marL="25560">
              <a:lnSpc>
                <a:spcPct val="111000"/>
              </a:lnSpc>
              <a:spcBef>
                <a:spcPts val="394"/>
              </a:spcBef>
              <a:buNone/>
              <a:tabLst>
                <a:tab algn="l" pos="278640"/>
              </a:tabLst>
            </a:pPr>
            <a:br>
              <a:rPr sz="900"/>
            </a:br>
            <a:r>
              <a:rPr b="0" lang="en-US" sz="900" spc="-1" strike="noStrike">
                <a:solidFill>
                  <a:srgbClr val="c80000"/>
                </a:solidFill>
                <a:latin typeface="Arial"/>
                <a:ea typeface="DejaVu Sans"/>
              </a:rPr>
              <a:t>Platform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r>
              <a:rPr b="0" lang="en-US" sz="900" spc="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Provides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higher-level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abstractions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for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storage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such.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Example:</a:t>
            </a:r>
            <a:r>
              <a:rPr b="0" lang="en-US" sz="900" spc="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Amazon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S3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storage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system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offers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an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API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for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(locally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created)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files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to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be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organized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stored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in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so-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called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3333b2"/>
                </a:solidFill>
                <a:latin typeface="Arial"/>
                <a:ea typeface="DejaVu Sans"/>
              </a:rPr>
              <a:t>buckets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en-US" sz="900" spc="-1" strike="noStrike">
              <a:latin typeface="Arial"/>
            </a:endParaRPr>
          </a:p>
          <a:p>
            <a:pPr marL="25560">
              <a:lnSpc>
                <a:spcPct val="111000"/>
              </a:lnSpc>
              <a:spcBef>
                <a:spcPts val="394"/>
              </a:spcBef>
              <a:buNone/>
              <a:tabLst>
                <a:tab algn="l" pos="278640"/>
              </a:tabLst>
            </a:pPr>
            <a:endParaRPr b="0" lang="en-US" sz="900" spc="-1" strike="noStrike">
              <a:latin typeface="Arial"/>
            </a:endParaRPr>
          </a:p>
          <a:p>
            <a:pPr marL="25560">
              <a:lnSpc>
                <a:spcPct val="111000"/>
              </a:lnSpc>
              <a:spcBef>
                <a:spcPts val="400"/>
              </a:spcBef>
              <a:buNone/>
              <a:tabLst>
                <a:tab algn="l" pos="278640"/>
              </a:tabLst>
            </a:pPr>
            <a:r>
              <a:rPr b="0" lang="en-US" sz="900" spc="-1" strike="noStrike">
                <a:solidFill>
                  <a:srgbClr val="c80000"/>
                </a:solidFill>
                <a:latin typeface="Arial"/>
                <a:ea typeface="DejaVu Sans"/>
              </a:rPr>
              <a:t>Infrastructure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r>
              <a:rPr b="0" lang="en-US" sz="900" spc="1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Deploys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virtualization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techniques.</a:t>
            </a:r>
            <a:r>
              <a:rPr b="0" lang="en-US" sz="900" spc="18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Evolves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around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allocating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managing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virtual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storage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devices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virtual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servers.</a:t>
            </a:r>
            <a:endParaRPr b="0" lang="en-US" sz="900" spc="-1" strike="noStrike">
              <a:latin typeface="Arial"/>
            </a:endParaRPr>
          </a:p>
          <a:p>
            <a:pPr marL="25560">
              <a:lnSpc>
                <a:spcPct val="111000"/>
              </a:lnSpc>
              <a:spcBef>
                <a:spcPts val="400"/>
              </a:spcBef>
              <a:buNone/>
              <a:tabLst>
                <a:tab algn="l" pos="278640"/>
              </a:tabLst>
            </a:pPr>
            <a:endParaRPr b="0" lang="en-US" sz="900" spc="-1" strike="noStrike">
              <a:latin typeface="Arial"/>
            </a:endParaRPr>
          </a:p>
          <a:p>
            <a:pPr marL="25560">
              <a:lnSpc>
                <a:spcPct val="111000"/>
              </a:lnSpc>
              <a:spcBef>
                <a:spcPts val="575"/>
              </a:spcBef>
              <a:buNone/>
              <a:tabLst>
                <a:tab algn="l" pos="278640"/>
              </a:tabLst>
            </a:pPr>
            <a:r>
              <a:rPr b="0" lang="en-US" sz="900" spc="-1" strike="noStrike">
                <a:solidFill>
                  <a:srgbClr val="c80000"/>
                </a:solidFill>
                <a:latin typeface="Arial"/>
                <a:ea typeface="DejaVu Sans"/>
              </a:rPr>
              <a:t>Hardware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r>
              <a:rPr b="0" lang="en-US" sz="900" spc="1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Processors,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routers,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power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cooling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systems.</a:t>
            </a:r>
            <a:r>
              <a:rPr b="0" lang="en-US" sz="900" spc="18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Customers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normally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never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get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to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see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these.</a:t>
            </a:r>
            <a:endParaRPr b="0" lang="en-US" sz="900" spc="-1" strike="noStrike">
              <a:latin typeface="Arial"/>
            </a:endParaRPr>
          </a:p>
        </p:txBody>
      </p:sp>
    </p:spTree>
  </p:cSld>
  <p:transition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object 115"/>
          <p:cNvSpPr/>
          <p:nvPr/>
        </p:nvSpPr>
        <p:spPr>
          <a:xfrm>
            <a:off x="53640" y="-1440"/>
            <a:ext cx="39384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28" name="object 116"/>
          <p:cNvSpPr/>
          <p:nvPr/>
        </p:nvSpPr>
        <p:spPr>
          <a:xfrm>
            <a:off x="2304000" y="0"/>
            <a:ext cx="2303280" cy="10692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9" name="object 117"/>
          <p:cNvSpPr/>
          <p:nvPr/>
        </p:nvSpPr>
        <p:spPr>
          <a:xfrm>
            <a:off x="3747960" y="-1440"/>
            <a:ext cx="80604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Hybrid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30" name="object 118"/>
          <p:cNvSpPr/>
          <p:nvPr/>
        </p:nvSpPr>
        <p:spPr>
          <a:xfrm>
            <a:off x="95400" y="197640"/>
            <a:ext cx="173304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III. Cloud</a:t>
            </a:r>
            <a:r>
              <a:rPr b="0" lang="en-US" sz="12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computing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331" name="object 119"/>
          <p:cNvGrpSpPr/>
          <p:nvPr/>
        </p:nvGrpSpPr>
        <p:grpSpPr>
          <a:xfrm>
            <a:off x="0" y="3348360"/>
            <a:ext cx="4607280" cy="106920"/>
            <a:chOff x="0" y="3348360"/>
            <a:chExt cx="4607280" cy="106920"/>
          </a:xfrm>
        </p:grpSpPr>
        <p:sp>
          <p:nvSpPr>
            <p:cNvPr id="332" name="object 120"/>
            <p:cNvSpPr/>
            <p:nvPr/>
          </p:nvSpPr>
          <p:spPr>
            <a:xfrm>
              <a:off x="0" y="3348360"/>
              <a:ext cx="2303280" cy="1069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3" name="object 121"/>
            <p:cNvSpPr/>
            <p:nvPr/>
          </p:nvSpPr>
          <p:spPr>
            <a:xfrm>
              <a:off x="2304000" y="3348360"/>
              <a:ext cx="2303280" cy="1069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34" name="object 122"/>
          <p:cNvSpPr/>
          <p:nvPr/>
        </p:nvSpPr>
        <p:spPr>
          <a:xfrm>
            <a:off x="53640" y="3349800"/>
            <a:ext cx="49932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Cloud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computing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35" name="object 123"/>
          <p:cNvSpPr/>
          <p:nvPr/>
        </p:nvSpPr>
        <p:spPr>
          <a:xfrm>
            <a:off x="334440" y="550800"/>
            <a:ext cx="3925800" cy="267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255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The model for cloud computing can be regarded as</a:t>
            </a:r>
            <a:r>
              <a:rPr b="0" lang="en-US" sz="1000" spc="-4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four</a:t>
            </a:r>
            <a:r>
              <a:rPr b="0" lang="en-US" sz="1000" spc="-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  <a:ea typeface="DejaVu Sans"/>
              </a:rPr>
              <a:t>layers</a:t>
            </a:r>
            <a:endParaRPr b="0" lang="en-US" sz="1000" spc="-1" strike="noStrike">
              <a:latin typeface="Arial"/>
            </a:endParaRPr>
          </a:p>
          <a:p>
            <a:pPr marL="25560">
              <a:lnSpc>
                <a:spcPct val="100000"/>
              </a:lnSpc>
              <a:spcBef>
                <a:spcPts val="96"/>
              </a:spcBef>
              <a:buNone/>
            </a:pPr>
            <a:endParaRPr b="0" lang="en-US" sz="1000" spc="-1" strike="noStrike">
              <a:latin typeface="Arial"/>
            </a:endParaRPr>
          </a:p>
          <a:p>
            <a:pPr marL="25560">
              <a:lnSpc>
                <a:spcPct val="111000"/>
              </a:lnSpc>
              <a:spcBef>
                <a:spcPts val="400"/>
              </a:spcBef>
              <a:buNone/>
              <a:tabLst>
                <a:tab algn="l" pos="278640"/>
              </a:tabLst>
            </a:pPr>
            <a:r>
              <a:rPr b="0" lang="en-US" sz="900" spc="-1" strike="noStrike">
                <a:solidFill>
                  <a:srgbClr val="c80000"/>
                </a:solidFill>
                <a:latin typeface="Arial"/>
                <a:ea typeface="DejaVu Sans"/>
              </a:rPr>
              <a:t>Application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r>
              <a:rPr b="0" lang="en-US" sz="900" spc="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Actual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applications,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such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as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office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suites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(text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processors,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spreadsheet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applications,</a:t>
            </a:r>
            <a:r>
              <a:rPr b="0" lang="en-US" sz="900" spc="-1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GenAI services).</a:t>
            </a:r>
            <a:r>
              <a:rPr b="0" lang="en-US" sz="900" spc="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Comparable</a:t>
            </a:r>
            <a:r>
              <a:rPr b="0" lang="en-US" sz="900" spc="-1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to</a:t>
            </a:r>
            <a:r>
              <a:rPr b="0" lang="en-US" sz="900" spc="-1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the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suite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of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apps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shipped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with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OSes.</a:t>
            </a:r>
            <a:endParaRPr b="0" lang="en-US" sz="900" spc="-1" strike="noStrike">
              <a:latin typeface="Arial"/>
            </a:endParaRPr>
          </a:p>
          <a:p>
            <a:pPr marL="25560">
              <a:lnSpc>
                <a:spcPct val="111000"/>
              </a:lnSpc>
              <a:spcBef>
                <a:spcPts val="400"/>
              </a:spcBef>
              <a:buNone/>
              <a:tabLst>
                <a:tab algn="l" pos="278640"/>
              </a:tabLst>
            </a:pPr>
            <a:endParaRPr b="0" lang="en-US" sz="900" spc="-1" strike="noStrike">
              <a:latin typeface="Arial"/>
            </a:endParaRPr>
          </a:p>
          <a:p>
            <a:pPr marL="25560">
              <a:lnSpc>
                <a:spcPct val="111000"/>
              </a:lnSpc>
              <a:spcBef>
                <a:spcPts val="394"/>
              </a:spcBef>
              <a:buNone/>
              <a:tabLst>
                <a:tab algn="l" pos="278640"/>
              </a:tabLst>
            </a:pPr>
            <a:r>
              <a:rPr b="0" lang="en-US" sz="900" spc="-1" strike="noStrike">
                <a:solidFill>
                  <a:srgbClr val="c80000"/>
                </a:solidFill>
                <a:latin typeface="Arial"/>
                <a:ea typeface="DejaVu Sans"/>
              </a:rPr>
              <a:t>Platform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r>
              <a:rPr b="0" lang="en-US" sz="900" spc="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Provides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higher-level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abstractions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for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storage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such.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Example:</a:t>
            </a:r>
            <a:r>
              <a:rPr b="0" lang="en-US" sz="900" spc="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Amazon</a:t>
            </a:r>
            <a:r>
              <a:rPr b="1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S3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storage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system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offers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an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API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for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(locally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created)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files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to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be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organized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stored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in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so-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called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3333b2"/>
                </a:solidFill>
                <a:latin typeface="Arial"/>
                <a:ea typeface="DejaVu Sans"/>
              </a:rPr>
              <a:t>buckets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en-US" sz="900" spc="-1" strike="noStrike">
              <a:latin typeface="Arial"/>
            </a:endParaRPr>
          </a:p>
          <a:p>
            <a:pPr marL="25560">
              <a:lnSpc>
                <a:spcPct val="111000"/>
              </a:lnSpc>
              <a:spcBef>
                <a:spcPts val="394"/>
              </a:spcBef>
              <a:buNone/>
              <a:tabLst>
                <a:tab algn="l" pos="278640"/>
              </a:tabLst>
            </a:pPr>
            <a:endParaRPr b="0" lang="en-US" sz="900" spc="-1" strike="noStrike">
              <a:latin typeface="Arial"/>
            </a:endParaRPr>
          </a:p>
          <a:p>
            <a:pPr marL="25560">
              <a:lnSpc>
                <a:spcPct val="111000"/>
              </a:lnSpc>
              <a:spcBef>
                <a:spcPts val="400"/>
              </a:spcBef>
              <a:buNone/>
              <a:tabLst>
                <a:tab algn="l" pos="278640"/>
              </a:tabLst>
            </a:pPr>
            <a:r>
              <a:rPr b="0" lang="en-US" sz="900" spc="-1" strike="noStrike">
                <a:solidFill>
                  <a:srgbClr val="c80000"/>
                </a:solidFill>
                <a:latin typeface="Arial"/>
                <a:ea typeface="DejaVu Sans"/>
              </a:rPr>
              <a:t>Infrastructure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r>
              <a:rPr b="0" lang="en-US" sz="900" spc="1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Deploys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virtualization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techniques.</a:t>
            </a:r>
            <a:r>
              <a:rPr b="0" lang="en-US" sz="900" spc="18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Evolves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around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allocating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managing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virtual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storage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devices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virtual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servers.</a:t>
            </a:r>
            <a:endParaRPr b="0" lang="en-US" sz="900" spc="-1" strike="noStrike">
              <a:latin typeface="Arial"/>
            </a:endParaRPr>
          </a:p>
          <a:p>
            <a:pPr marL="25560">
              <a:lnSpc>
                <a:spcPct val="111000"/>
              </a:lnSpc>
              <a:spcBef>
                <a:spcPts val="400"/>
              </a:spcBef>
              <a:buNone/>
              <a:tabLst>
                <a:tab algn="l" pos="278640"/>
              </a:tabLst>
            </a:pPr>
            <a:endParaRPr b="0" lang="en-US" sz="900" spc="-1" strike="noStrike">
              <a:latin typeface="Arial"/>
            </a:endParaRPr>
          </a:p>
          <a:p>
            <a:pPr marL="25560">
              <a:lnSpc>
                <a:spcPct val="111000"/>
              </a:lnSpc>
              <a:spcBef>
                <a:spcPts val="575"/>
              </a:spcBef>
              <a:buNone/>
              <a:tabLst>
                <a:tab algn="l" pos="278640"/>
              </a:tabLst>
            </a:pPr>
            <a:r>
              <a:rPr b="0" lang="en-US" sz="900" spc="-1" strike="noStrike">
                <a:solidFill>
                  <a:srgbClr val="c80000"/>
                </a:solidFill>
                <a:latin typeface="Arial"/>
                <a:ea typeface="DejaVu Sans"/>
              </a:rPr>
              <a:t>Hardware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r>
              <a:rPr b="0" lang="en-US" sz="900" spc="1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Processors,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routers,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power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cooling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systems.</a:t>
            </a:r>
            <a:r>
              <a:rPr b="0" lang="en-US" sz="900" spc="18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Customers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normally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never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get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to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see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these.</a:t>
            </a:r>
            <a:endParaRPr b="0" lang="en-US" sz="900" spc="-1" strike="noStrike">
              <a:latin typeface="Arial"/>
            </a:endParaRPr>
          </a:p>
        </p:txBody>
      </p:sp>
    </p:spTree>
  </p:cSld>
  <p:transition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object 84"/>
          <p:cNvSpPr/>
          <p:nvPr/>
        </p:nvSpPr>
        <p:spPr>
          <a:xfrm>
            <a:off x="53640" y="-1440"/>
            <a:ext cx="39384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37" name="object 85"/>
          <p:cNvSpPr/>
          <p:nvPr/>
        </p:nvSpPr>
        <p:spPr>
          <a:xfrm>
            <a:off x="2304000" y="0"/>
            <a:ext cx="2303280" cy="10692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8" name="object 86"/>
          <p:cNvSpPr/>
          <p:nvPr/>
        </p:nvSpPr>
        <p:spPr>
          <a:xfrm>
            <a:off x="3747960" y="-1440"/>
            <a:ext cx="80604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Hybrid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39" name="object 87"/>
          <p:cNvSpPr/>
          <p:nvPr/>
        </p:nvSpPr>
        <p:spPr>
          <a:xfrm>
            <a:off x="95400" y="197640"/>
            <a:ext cx="173304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III. Cloud</a:t>
            </a:r>
            <a:r>
              <a:rPr b="0" lang="en-US" sz="12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computing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340" name="object 88" descr=""/>
          <p:cNvPicPr/>
          <p:nvPr/>
        </p:nvPicPr>
        <p:blipFill>
          <a:blip r:embed="rId1"/>
          <a:stretch/>
        </p:blipFill>
        <p:spPr>
          <a:xfrm>
            <a:off x="510480" y="1026000"/>
            <a:ext cx="3583800" cy="1561680"/>
          </a:xfrm>
          <a:prstGeom prst="rect">
            <a:avLst/>
          </a:prstGeom>
          <a:ln w="0">
            <a:noFill/>
          </a:ln>
        </p:spPr>
      </p:pic>
      <p:grpSp>
        <p:nvGrpSpPr>
          <p:cNvPr id="341" name="object 89"/>
          <p:cNvGrpSpPr/>
          <p:nvPr/>
        </p:nvGrpSpPr>
        <p:grpSpPr>
          <a:xfrm>
            <a:off x="0" y="3348360"/>
            <a:ext cx="4607280" cy="106920"/>
            <a:chOff x="0" y="3348360"/>
            <a:chExt cx="4607280" cy="106920"/>
          </a:xfrm>
        </p:grpSpPr>
        <p:sp>
          <p:nvSpPr>
            <p:cNvPr id="342" name="object 90"/>
            <p:cNvSpPr/>
            <p:nvPr/>
          </p:nvSpPr>
          <p:spPr>
            <a:xfrm>
              <a:off x="0" y="3348360"/>
              <a:ext cx="2303280" cy="1069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3" name="object 91"/>
            <p:cNvSpPr/>
            <p:nvPr/>
          </p:nvSpPr>
          <p:spPr>
            <a:xfrm>
              <a:off x="2304000" y="3348360"/>
              <a:ext cx="2303280" cy="1069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44" name="object 92"/>
          <p:cNvSpPr/>
          <p:nvPr/>
        </p:nvSpPr>
        <p:spPr>
          <a:xfrm>
            <a:off x="53640" y="3349800"/>
            <a:ext cx="49932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Cloud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computing</a:t>
            </a:r>
            <a:endParaRPr b="0" lang="en-US" sz="500" spc="-1" strike="noStrike">
              <a:latin typeface="Arial"/>
            </a:endParaRPr>
          </a:p>
        </p:txBody>
      </p:sp>
    </p:spTree>
  </p:cSld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867</TotalTime>
  <Application>LibreOffice/7.3.4.2$Windows_X86_64 LibreOffice_project/728fec16bd5f605073805c3c9e7c4212a0120dc5</Application>
  <AppVersion>15.0000</AppVersion>
  <Words>5292</Words>
  <Paragraphs>819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2023-04-27T05:42:13Z</dcterms:created>
  <dc:creator/>
  <dc:description/>
  <dc:language>en-US</dc:language>
  <cp:lastModifiedBy/>
  <dcterms:modified xsi:type="dcterms:W3CDTF">2026-09-09T11:52:20Z</dcterms:modified>
  <cp:revision>78</cp:revision>
  <dc:subject/>
  <dc:title>Distributed Systems   (4th edition, version 01)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2023-04-27T00:00:00Z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2023-04-27T00:00:00Z</vt:filetime>
  </property>
  <property fmtid="{D5CDD505-2E9C-101B-9397-08002B2CF9AE}" pid="5" name="PTEX.Fullbanner">
    <vt:lpwstr>This is pdfTeX, Version 3.141592653-2.6-1.40.24 (TeX Live 2022) kpathsea version 6.3.4</vt:lpwstr>
  </property>
  <property fmtid="{D5CDD505-2E9C-101B-9397-08002B2CF9AE}" pid="6" name="PresentationFormat">
    <vt:lpwstr>Custom</vt:lpwstr>
  </property>
  <property fmtid="{D5CDD505-2E9C-101B-9397-08002B2CF9AE}" pid="7" name="Producer">
    <vt:lpwstr>pdfTeX-1.40.24</vt:lpwstr>
  </property>
  <property fmtid="{D5CDD505-2E9C-101B-9397-08002B2CF9AE}" pid="8" name="Slides">
    <vt:i4>87</vt:i4>
  </property>
</Properties>
</file>